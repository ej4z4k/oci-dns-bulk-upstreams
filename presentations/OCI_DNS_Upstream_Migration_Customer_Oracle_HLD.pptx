
<file path=[Content_Types].xml><?xml version="1.0" encoding="utf-8"?>
<Types xmlns="http://schemas.openxmlformats.org/package/2006/content-types">
  <Default Extension="xml" ContentType="application/vnd.openxmlformats-package.core-properties+xml"/>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be9e121a0f4f5f" /><Relationship Type="http://schemas.openxmlformats.org/officeDocument/2006/relationships/extended-properties" Target="/docProps/app.xml" Id="R81cacb08198e466e" /><Relationship Type="http://schemas.openxmlformats.org/officeDocument/2006/relationships/officeDocument" Target="/ppt/presentation.xml" Id="R731eefd60b114f68" /></Relationships>
</file>

<file path=ppt/presentation.xml><?xml version="1.0" encoding="utf-8"?>
<p:presentation xmlns:p="http://schemas.openxmlformats.org/presentationml/2006/main">
  <p:sldMasterIdLst>
    <p:sldMasterId xmlns:r="http://schemas.openxmlformats.org/officeDocument/2006/relationships" id="2147483648" r:id="Re070b3e8b02a4b07"/>
  </p:sldMasterIdLst>
  <p:notesMasterIdLst>
    <p:notesMasterId xmlns:r="http://schemas.openxmlformats.org/officeDocument/2006/relationships" r:id="Rc7514a48e4df4ec2"/>
  </p:notesMasterIdLst>
  <p:sldIdLst>
    <p:sldId xmlns:r="http://schemas.openxmlformats.org/officeDocument/2006/relationships" id="256" r:id="R162b604a6a1d420f"/>
    <p:sldId xmlns:r="http://schemas.openxmlformats.org/officeDocument/2006/relationships" id="257" r:id="Red325e3c780c49b1"/>
    <p:sldId xmlns:r="http://schemas.openxmlformats.org/officeDocument/2006/relationships" id="258" r:id="Rbcf10a1edda94e14"/>
    <p:sldId xmlns:r="http://schemas.openxmlformats.org/officeDocument/2006/relationships" id="259" r:id="R7ce8db2566bf48b2"/>
    <p:sldId xmlns:r="http://schemas.openxmlformats.org/officeDocument/2006/relationships" id="260" r:id="R084aeb74d9074a30"/>
    <p:sldId xmlns:r="http://schemas.openxmlformats.org/officeDocument/2006/relationships" id="261" r:id="R78834ea071674a6c"/>
    <p:sldId xmlns:r="http://schemas.openxmlformats.org/officeDocument/2006/relationships" id="262" r:id="Rfd609daec02a4444"/>
    <p:sldId xmlns:r="http://schemas.openxmlformats.org/officeDocument/2006/relationships" id="263" r:id="Raef33b36ff7b4f58"/>
    <p:sldId xmlns:r="http://schemas.openxmlformats.org/officeDocument/2006/relationships" id="264" r:id="R8b94a50d187b449f"/>
    <p:sldId xmlns:r="http://schemas.openxmlformats.org/officeDocument/2006/relationships" id="265" r:id="R215f078d4e4c4493"/>
    <p:sldId xmlns:r="http://schemas.openxmlformats.org/officeDocument/2006/relationships" id="266" r:id="Ra389c2d33c754e66"/>
    <p:sldId xmlns:r="http://schemas.openxmlformats.org/officeDocument/2006/relationships" id="267" r:id="R26016b4583e24a0d"/>
    <p:sldId xmlns:r="http://schemas.openxmlformats.org/officeDocument/2006/relationships" id="268" r:id="R2dd551bb28c44555"/>
    <p:sldId xmlns:r="http://schemas.openxmlformats.org/officeDocument/2006/relationships" id="269" r:id="R7c2d32546fbe4626"/>
    <p:sldId xmlns:r="http://schemas.openxmlformats.org/officeDocument/2006/relationships" id="270" r:id="Refaba034d9864fa1"/>
    <p:sldId xmlns:r="http://schemas.openxmlformats.org/officeDocument/2006/relationships" id="271" r:id="R6e753afed5ec4594"/>
    <p:sldId xmlns:r="http://schemas.openxmlformats.org/officeDocument/2006/relationships" id="272" r:id="R5f1c6bca375a4955"/>
    <p:sldId xmlns:r="http://schemas.openxmlformats.org/officeDocument/2006/relationships" id="273" r:id="R0ecf6a37f2bd450a"/>
    <p:sldId xmlns:r="http://schemas.openxmlformats.org/officeDocument/2006/relationships" id="274" r:id="Rf54a7a838fc34dc7"/>
    <p:sldId xmlns:r="http://schemas.openxmlformats.org/officeDocument/2006/relationships" id="275" r:id="R603b48fcf7254d83"/>
    <p:sldId xmlns:r="http://schemas.openxmlformats.org/officeDocument/2006/relationships" id="276" r:id="R7bb9b01971a74590"/>
    <p:sldId xmlns:r="http://schemas.openxmlformats.org/officeDocument/2006/relationships" id="277" r:id="R310aaf06433649ab"/>
    <p:sldId xmlns:r="http://schemas.openxmlformats.org/officeDocument/2006/relationships" id="278" r:id="R9905f2f4bf524ed1"/>
    <p:sldId xmlns:r="http://schemas.openxmlformats.org/officeDocument/2006/relationships" id="279" r:id="R423ecd7ebaa24387"/>
    <p:sldId xmlns:r="http://schemas.openxmlformats.org/officeDocument/2006/relationships" id="280" r:id="R199fa2e2acf04ded"/>
    <p:sldId xmlns:r="http://schemas.openxmlformats.org/officeDocument/2006/relationships" id="281" r:id="R9e51736d5e9e4a11"/>
    <p:sldId xmlns:r="http://schemas.openxmlformats.org/officeDocument/2006/relationships" id="282" r:id="R679c34806e6c4090"/>
    <p:sldId xmlns:r="http://schemas.openxmlformats.org/officeDocument/2006/relationships" id="283" r:id="R08a36126deae4211"/>
    <p:sldId xmlns:r="http://schemas.openxmlformats.org/officeDocument/2006/relationships" id="284" r:id="R14126a69336c44b8"/>
    <p:sldId xmlns:r="http://schemas.openxmlformats.org/officeDocument/2006/relationships" id="285" r:id="R0cf1154136c74ac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authors.xml><?xml version="1.0" encoding="utf-8"?>
<p188:authorLst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28699e5c2904d93" /><Relationship Type="http://schemas.openxmlformats.org/officeDocument/2006/relationships/slideMaster" Target="/ppt/slideMasters/slideMaster1.xml" Id="Re070b3e8b02a4b07" /><Relationship Type="http://schemas.openxmlformats.org/officeDocument/2006/relationships/notesMaster" Target="/ppt/notesMasters/notesMaster1.xml" Id="Rc7514a48e4df4ec2" /><Relationship Type="http://schemas.openxmlformats.org/officeDocument/2006/relationships/presProps" Target="/ppt/presProps.xml" Id="Rcc99e246a0ad44e9" /><Relationship Type="http://schemas.openxmlformats.org/officeDocument/2006/relationships/viewProps" Target="/ppt/viewProps.xml" Id="R93f45003beeb4e1c" /><Relationship Type="http://schemas.openxmlformats.org/officeDocument/2006/relationships/tableStyles" Target="/ppt/tableStyles.xml" Id="R4bff8bdcb6164f59" /><Relationship Type="http://schemas.microsoft.com/office/2018/10/relationships/authors" Target="/ppt/authors.xml" Id="Rce672dfdd65b4968" /><Relationship Type="http://schemas.openxmlformats.org/officeDocument/2006/relationships/slide" Target="/ppt/slides/slide1.xml" Id="R162b604a6a1d420f" /><Relationship Type="http://schemas.openxmlformats.org/officeDocument/2006/relationships/slide" Target="/ppt/slides/slide2.xml" Id="Red325e3c780c49b1" /><Relationship Type="http://schemas.openxmlformats.org/officeDocument/2006/relationships/slide" Target="/ppt/slides/slide3.xml" Id="Rbcf10a1edda94e14" /><Relationship Type="http://schemas.openxmlformats.org/officeDocument/2006/relationships/slide" Target="/ppt/slides/slide4.xml" Id="R7ce8db2566bf48b2" /><Relationship Type="http://schemas.openxmlformats.org/officeDocument/2006/relationships/slide" Target="/ppt/slides/slide5.xml" Id="R084aeb74d9074a30" /><Relationship Type="http://schemas.openxmlformats.org/officeDocument/2006/relationships/slide" Target="/ppt/slides/slide6.xml" Id="R78834ea071674a6c" /><Relationship Type="http://schemas.openxmlformats.org/officeDocument/2006/relationships/slide" Target="/ppt/slides/slide7.xml" Id="Rfd609daec02a4444" /><Relationship Type="http://schemas.openxmlformats.org/officeDocument/2006/relationships/slide" Target="/ppt/slides/slide8.xml" Id="Raef33b36ff7b4f58" /><Relationship Type="http://schemas.openxmlformats.org/officeDocument/2006/relationships/slide" Target="/ppt/slides/slide9.xml" Id="R8b94a50d187b449f" /><Relationship Type="http://schemas.openxmlformats.org/officeDocument/2006/relationships/slide" Target="/ppt/slides/slide10.xml" Id="R215f078d4e4c4493" /><Relationship Type="http://schemas.openxmlformats.org/officeDocument/2006/relationships/slide" Target="/ppt/slides/slide11.xml" Id="Ra389c2d33c754e66" /><Relationship Type="http://schemas.openxmlformats.org/officeDocument/2006/relationships/slide" Target="/ppt/slides/slide12.xml" Id="R26016b4583e24a0d" /><Relationship Type="http://schemas.openxmlformats.org/officeDocument/2006/relationships/slide" Target="/ppt/slides/slide13.xml" Id="R2dd551bb28c44555" /><Relationship Type="http://schemas.openxmlformats.org/officeDocument/2006/relationships/slide" Target="/ppt/slides/slide14.xml" Id="R7c2d32546fbe4626" /><Relationship Type="http://schemas.openxmlformats.org/officeDocument/2006/relationships/slide" Target="/ppt/slides/slide15.xml" Id="Refaba034d9864fa1" /><Relationship Type="http://schemas.openxmlformats.org/officeDocument/2006/relationships/slide" Target="/ppt/slides/slide16.xml" Id="R6e753afed5ec4594" /><Relationship Type="http://schemas.openxmlformats.org/officeDocument/2006/relationships/slide" Target="/ppt/slides/slide17.xml" Id="R5f1c6bca375a4955" /><Relationship Type="http://schemas.openxmlformats.org/officeDocument/2006/relationships/slide" Target="/ppt/slides/slide18.xml" Id="R0ecf6a37f2bd450a" /><Relationship Type="http://schemas.openxmlformats.org/officeDocument/2006/relationships/slide" Target="/ppt/slides/slide19.xml" Id="Rf54a7a838fc34dc7" /><Relationship Type="http://schemas.openxmlformats.org/officeDocument/2006/relationships/slide" Target="/ppt/slides/slide20.xml" Id="R603b48fcf7254d83" /><Relationship Type="http://schemas.openxmlformats.org/officeDocument/2006/relationships/slide" Target="/ppt/slides/slide21.xml" Id="R7bb9b01971a74590" /><Relationship Type="http://schemas.openxmlformats.org/officeDocument/2006/relationships/slide" Target="/ppt/slides/slide22.xml" Id="R310aaf06433649ab" /><Relationship Type="http://schemas.openxmlformats.org/officeDocument/2006/relationships/slide" Target="/ppt/slides/slide23.xml" Id="R9905f2f4bf524ed1" /><Relationship Type="http://schemas.openxmlformats.org/officeDocument/2006/relationships/slide" Target="/ppt/slides/slide24.xml" Id="R423ecd7ebaa24387" /><Relationship Type="http://schemas.openxmlformats.org/officeDocument/2006/relationships/slide" Target="/ppt/slides/slide25.xml" Id="R199fa2e2acf04ded" /><Relationship Type="http://schemas.openxmlformats.org/officeDocument/2006/relationships/slide" Target="/ppt/slides/slide26.xml" Id="R9e51736d5e9e4a11" /><Relationship Type="http://schemas.openxmlformats.org/officeDocument/2006/relationships/slide" Target="/ppt/slides/slide27.xml" Id="R679c34806e6c4090" /><Relationship Type="http://schemas.openxmlformats.org/officeDocument/2006/relationships/slide" Target="/ppt/slides/slide28.xml" Id="R08a36126deae4211" /><Relationship Type="http://schemas.openxmlformats.org/officeDocument/2006/relationships/slide" Target="/ppt/slides/slide29.xml" Id="R14126a69336c44b8" /><Relationship Type="http://schemas.openxmlformats.org/officeDocument/2006/relationships/slide" Target="/ppt/slides/slide30.xml" Id="R0cf1154136c74a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cad2553b9448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arent Master Pillars">
  <a:themeElements>
    <a:clrScheme name="Oracle Pine 10.21.1">
      <a:dk1>
        <a:srgbClr val="312D2A"/>
      </a:dk1>
      <a:lt1>
        <a:srgbClr val="FCFBFA"/>
      </a:lt1>
      <a:dk2>
        <a:srgbClr val="312D2A"/>
      </a:dk2>
      <a:lt2>
        <a:srgbClr val="FCFBFA"/>
      </a:lt2>
      <a:accent1>
        <a:srgbClr val="E9F9EE"/>
      </a:accent1>
      <a:accent2>
        <a:srgbClr val="CBE9D6"/>
      </a:accent2>
      <a:accent3>
        <a:srgbClr val="99C2A6"/>
      </a:accent3>
      <a:accent4>
        <a:srgbClr val="74A683"/>
      </a:accent4>
      <a:accent5>
        <a:srgbClr val="467553"/>
      </a:accent5>
      <a:accent6>
        <a:srgbClr val="33553C"/>
      </a:accent6>
      <a:hlink>
        <a:srgbClr val="2C5967"/>
      </a:hlink>
      <a:folHlink>
        <a:srgbClr val="2C5967"/>
      </a:folHlink>
    </a:clrScheme>
    <a:fontScheme name="Oracle Pillars">
      <a:majorFont>
        <a:latin typeface="Georgia"/>
        <a:ea typeface=""/>
        <a:cs typeface=""/>
      </a:majorFont>
      <a:minorFont>
        <a:latin typeface="Oracle Sans Tab"/>
        <a:ea typeface=""/>
        <a:cs typeface=""/>
      </a:minorFont>
    </a:fontScheme>
    <a:fmtScheme name="Oracle Pine 10.21.1">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5c0025627f40e5" /><Relationship Type="http://schemas.openxmlformats.org/officeDocument/2006/relationships/notesMaster" Target="/ppt/notesMasters/notesMaster1.xml" Id="Rdf1252b76eec43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465555cad1459a" /><Relationship Type="http://schemas.openxmlformats.org/officeDocument/2006/relationships/notesMaster" Target="/ppt/notesMasters/notesMaster1.xml" Id="Rd64e7609603441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43af97a2b4407f" /><Relationship Type="http://schemas.openxmlformats.org/officeDocument/2006/relationships/notesMaster" Target="/ppt/notesMasters/notesMaster1.xml" Id="Rfc003abf9dfb4c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e53865c0254183" /><Relationship Type="http://schemas.openxmlformats.org/officeDocument/2006/relationships/notesMaster" Target="/ppt/notesMasters/notesMaster1.xml" Id="Ra1389b95f91049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1a19cced82471c" /><Relationship Type="http://schemas.openxmlformats.org/officeDocument/2006/relationships/notesMaster" Target="/ppt/notesMasters/notesMaster1.xml" Id="R07d635d771b247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c3b43653194996" /><Relationship Type="http://schemas.openxmlformats.org/officeDocument/2006/relationships/notesMaster" Target="/ppt/notesMasters/notesMaster1.xml" Id="Rfa4a46ad929e4a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fdf80f15314092" /><Relationship Type="http://schemas.openxmlformats.org/officeDocument/2006/relationships/notesMaster" Target="/ppt/notesMasters/notesMaster1.xml" Id="R45fca1637c504b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97e7f3371b44cc" /><Relationship Type="http://schemas.openxmlformats.org/officeDocument/2006/relationships/notesMaster" Target="/ppt/notesMasters/notesMaster1.xml" Id="R3b19800bf20548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3516bc89764f2c" /><Relationship Type="http://schemas.openxmlformats.org/officeDocument/2006/relationships/notesMaster" Target="/ppt/notesMasters/notesMaster1.xml" Id="R21c030b082534a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60b13a1ab94503" /><Relationship Type="http://schemas.openxmlformats.org/officeDocument/2006/relationships/notesMaster" Target="/ppt/notesMasters/notesMaster1.xml" Id="R1b5a78636ef84d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e4863f6b344c6d" /><Relationship Type="http://schemas.openxmlformats.org/officeDocument/2006/relationships/notesMaster" Target="/ppt/notesMasters/notesMaster1.xml" Id="R3d31807faaa742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d7920c292844f1" /><Relationship Type="http://schemas.openxmlformats.org/officeDocument/2006/relationships/notesMaster" Target="/ppt/notesMasters/notesMaster1.xml" Id="Rd48e97c5f8ec49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4278977b5f4f2c" /><Relationship Type="http://schemas.openxmlformats.org/officeDocument/2006/relationships/notesMaster" Target="/ppt/notesMasters/notesMaster1.xml" Id="Rede1711f69554d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3a951e11ee41cf" /><Relationship Type="http://schemas.openxmlformats.org/officeDocument/2006/relationships/notesMaster" Target="/ppt/notesMasters/notesMaster1.xml" Id="R39ad741f6ddb49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05558e9bb1c46e3" /><Relationship Type="http://schemas.openxmlformats.org/officeDocument/2006/relationships/notesMaster" Target="/ppt/notesMasters/notesMaster1.xml" Id="R5ae04b7e9faa4a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44f9e437b94ac8" /><Relationship Type="http://schemas.openxmlformats.org/officeDocument/2006/relationships/notesMaster" Target="/ppt/notesMasters/notesMaster1.xml" Id="R5714ffcbb1a142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3d1bf0106674840" /><Relationship Type="http://schemas.openxmlformats.org/officeDocument/2006/relationships/notesMaster" Target="/ppt/notesMasters/notesMaster1.xml" Id="Rb7cd03aa8fa24b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14bd83766c4a87" /><Relationship Type="http://schemas.openxmlformats.org/officeDocument/2006/relationships/notesMaster" Target="/ppt/notesMasters/notesMaster1.xml" Id="R93d85870917443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ccf97cd6e443fa" /><Relationship Type="http://schemas.openxmlformats.org/officeDocument/2006/relationships/notesMaster" Target="/ppt/notesMasters/notesMaster1.xml" Id="Rbc01cb989e0243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5172a1c7524974" /><Relationship Type="http://schemas.openxmlformats.org/officeDocument/2006/relationships/notesMaster" Target="/ppt/notesMasters/notesMaster1.xml" Id="Ra4b72a7aff074d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71f479a93024762" /><Relationship Type="http://schemas.openxmlformats.org/officeDocument/2006/relationships/notesMaster" Target="/ppt/notesMasters/notesMaster1.xml" Id="R70335935b8ca4b0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be476d3cd4f4b65" /><Relationship Type="http://schemas.openxmlformats.org/officeDocument/2006/relationships/notesMaster" Target="/ppt/notesMasters/notesMaster1.xml" Id="R07305223dcdc4a6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8cc46d3ab4c43e4" /><Relationship Type="http://schemas.openxmlformats.org/officeDocument/2006/relationships/notesMaster" Target="/ppt/notesMasters/notesMaster1.xml" Id="Ra86b47db8e6b416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e0e3798ad74c04" /><Relationship Type="http://schemas.openxmlformats.org/officeDocument/2006/relationships/notesMaster" Target="/ppt/notesMasters/notesMaster1.xml" Id="R7916c39cb051487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ad488adf3ae4224" /><Relationship Type="http://schemas.openxmlformats.org/officeDocument/2006/relationships/notesMaster" Target="/ppt/notesMasters/notesMaster1.xml" Id="R0f51201ed1094e6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3c7da5d63ce42e0" /><Relationship Type="http://schemas.openxmlformats.org/officeDocument/2006/relationships/notesMaster" Target="/ppt/notesMasters/notesMaster1.xml" Id="Rd14ff07c07284f4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245b35447344b93" /><Relationship Type="http://schemas.openxmlformats.org/officeDocument/2006/relationships/notesMaster" Target="/ppt/notesMasters/notesMaster1.xml" Id="R5f48879e141f4d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f1e57543408475a" /><Relationship Type="http://schemas.openxmlformats.org/officeDocument/2006/relationships/notesMaster" Target="/ppt/notesMasters/notesMaster1.xml" Id="Rc126a0b32068472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0d008b3ea164013" /><Relationship Type="http://schemas.openxmlformats.org/officeDocument/2006/relationships/notesMaster" Target="/ppt/notesMasters/notesMaster1.xml" Id="R37c806e5d8c5489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e8dccd2cb8f408c" /><Relationship Type="http://schemas.openxmlformats.org/officeDocument/2006/relationships/notesMaster" Target="/ppt/notesMasters/notesMaster1.xml" Id="R607fce65bc3f46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workflow for selected public GLOBAL SECONDARY zones. The source is the existing upstream and the target is its replacement. The package uses supported per-zone API operations. Source/target addresses, region and compartment are customer inputs. Example automation is community code. Read README.md before use.</a:t>
            </a:r>
          </a:p>
          <a:p xmlns:a="http://schemas.openxmlformats.org/drawingml/2006/main">
            <a:r>
              <a:t/>
            </a:r>
          </a:p>
          <a:p xmlns:a="http://schemas.openxmlformats.org/drawingml/2006/main">
            <a:r>
              <a:t>https://docs.oracle.com/en-us/iaas/Content/DNS/Tasks/secondary-dns.htm</a:t>
            </a:r>
          </a:p>
          <a:p xmlns:a="http://schemas.openxmlformats.org/drawingml/2006/main">
            <a:r>
              <a:t/>
            </a:r>
          </a:p>
          <a:p xmlns:a="http://schemas.openxmlformats.org/drawingml/2006/main">
            <a:r>
              <a:t>https://docs.oracle.com/en-us/iaas/Content/DNS/Tasks/zone-update.htm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batch performs one supported UpdateZone per changed zone. There is no atomic multi-zone transaction. Earlier successful updates can remain if a later zone fails. No measured 1000-zone runtime is claimed. Source: README.md, docs/RUNBOOK.md and scripts/oci_dns_batch_common.py.</a:t>
            </a:r>
          </a:p>
          <a:p xmlns:a="http://schemas.openxmlformats.org/drawingml/2006/main">
            <a:r>
              <a:t/>
            </a:r>
          </a:p>
          <a:p xmlns:a="http://schemas.openxmlformats.org/drawingml/2006/main">
            <a:r>
              <a:t>https://docs.oracle.com/en-us/iaas/Content/DNS/Tasks/zone-update.htm</a:t>
            </a:r>
          </a:p>
          <a:p xmlns:a="http://schemas.openxmlformats.org/drawingml/2006/main">
            <a:r>
              <a:t/>
            </a:r>
          </a:p>
          <a:p xmlns:a="http://schemas.openxmlformats.org/drawingml/2006/main">
            <a:r>
              <a:t>https://docs.oracle.com/en-us/iaas/tools/python/latest/api/dns/client/oci.dns.DnsClient.html#oci.dns.DnsClient.update_zone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upstreams may be in OCI, another cloud, a DNS provider or a data centre. Their DNS software and replication arrangement are external to these scripts. The management region selects the OCI API endpoint. The public authoritative service is global. Source: docs/ARCHITECTURE.md.</a:t>
            </a:r>
          </a:p>
          <a:p xmlns:a="http://schemas.openxmlformats.org/drawingml/2006/main">
            <a:r>
              <a:t/>
            </a:r>
          </a:p>
          <a:p xmlns:a="http://schemas.openxmlformats.org/drawingml/2006/main">
            <a:r>
              <a:t>https://docs.oracle.com/en-us/iaas/Content/DNS/Tasks/secondary-dns.htm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shows a simple source/target migration. Update scripts preserve unrelated upstreams. Generic verification defaults to exactly source+target during overlap and target-only after removal. Use --allow-other-upstreams only for intentional additional entries. Keep the source running if the target still depends on its replication. Source: docs/RUNBOOK.md and scripts/oci_dns_verify_upstream.py.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Interactive HLD: use Slide Show. Click a phase tab or Next phase; ordinary slide advance also steps through the consecutive phase views. The buttons are native internal slide links. Diagrams use editable PowerPoint shapes and connectors. Blue arrows show OCI-initiated transfer requests; green arrows show returned zone data. Both travel over the same TCP 53 transfer session. TSIG is per zone. NOTIFY, upstream-to-upstream replication and the operator direct AXFR test are omitted from the diagram for clarity; their requirements and verification commands are in the later slides. Upstream hosting location is customer-selected; OCI public DNS is global. In overlap, either configured upstream can be selected. Completed target transfer logs are required to prove actual OCI target use. Keep the old upstream running if the target still depends on it. Phase 1 export is read-only. Phase 2 and 3 are separate preview/apply operations over the manually reviewed OCID list. No additional configured upstreams are depicted in this simple two-server migration.</a:t>
            </a:r>
          </a:p>
          <a:p xmlns:a="http://schemas.openxmlformats.org/drawingml/2006/main">
            <a:r>
              <a:t/>
            </a:r>
          </a:p>
          <a:p xmlns:a="http://schemas.openxmlformats.org/drawingml/2006/main">
            <a:r>
              <a:t>https://docs.oracle.com/en-us/iaas/Content/DNS/Tasks/secondary-dns.htm</a:t>
            </a:r>
          </a:p>
          <a:p xmlns:a="http://schemas.openxmlformats.org/drawingml/2006/main">
            <a:r>
              <a:t/>
            </a:r>
          </a:p>
          <a:p xmlns:a="http://schemas.openxmlformats.org/drawingml/2006/main">
            <a:r>
              <a:t>https://docs.oracle.com/en-us/iaas/tools/python/latest/api/dns/client/oci.dns.DnsClient.html#oci.dns.DnsClient.update_zone</a:t>
            </a:r>
          </a:p>
          <a:p xmlns:a="http://schemas.openxmlformats.org/drawingml/2006/main">
            <a:r>
              <a:t/>
            </a:r>
          </a:p>
          <a:p xmlns:a="http://schemas.openxmlformats.org/drawingml/2006/main">
            <a:r>
              <a:t>https://docs.oracle.com/en-us/iaas/tools/python/latest/api/dns/models/oci.dns.models.ExternalMaster.html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Interactive HLD: use Slide Show. Click a phase tab or Next phase; ordinary slide advance also steps through the consecutive phase views. The buttons are native internal slide links. Diagrams use editable PowerPoint shapes and connectors. Blue arrows show OCI-initiated transfer requests; green arrows show returned zone data. Both travel over the same TCP 53 transfer session. TSIG is per zone. NOTIFY, upstream-to-upstream replication and the operator direct AXFR test are omitted from the diagram for clarity; their requirements and verification commands are in the later slides. Upstream hosting location is customer-selected; OCI public DNS is global. In overlap, either configured upstream can be selected. Completed target transfer logs are required to prove actual OCI target use. Keep the old upstream running if the target still depends on it. Phase 1 export is read-only. Phase 2 and 3 are separate preview/apply operations over the manually reviewed OCID list. No additional configured upstreams are depicted in this simple two-server migration.</a:t>
            </a:r>
          </a:p>
          <a:p xmlns:a="http://schemas.openxmlformats.org/drawingml/2006/main">
            <a:r>
              <a:t/>
            </a:r>
          </a:p>
          <a:p xmlns:a="http://schemas.openxmlformats.org/drawingml/2006/main">
            <a:r>
              <a:t>https://docs.oracle.com/en-us/iaas/Content/DNS/Tasks/secondary-dns.htm</a:t>
            </a:r>
          </a:p>
          <a:p xmlns:a="http://schemas.openxmlformats.org/drawingml/2006/main">
            <a:r>
              <a:t/>
            </a:r>
          </a:p>
          <a:p xmlns:a="http://schemas.openxmlformats.org/drawingml/2006/main">
            <a:r>
              <a:t>https://docs.oracle.com/en-us/iaas/tools/python/latest/api/dns/client/oci.dns.DnsClient.html#oci.dns.DnsClient.update_zone</a:t>
            </a:r>
          </a:p>
          <a:p xmlns:a="http://schemas.openxmlformats.org/drawingml/2006/main">
            <a:r>
              <a:t/>
            </a:r>
          </a:p>
          <a:p xmlns:a="http://schemas.openxmlformats.org/drawingml/2006/main">
            <a:r>
              <a:t>https://docs.oracle.com/en-us/iaas/tools/python/latest/api/dns/models/oci.dns.models.ExternalMaster.html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Interactive HLD: use Slide Show. Click a phase tab or Next phase; ordinary slide advance also steps through the consecutive phase views. The buttons are native internal slide links. Diagrams use editable PowerPoint shapes and connectors. Blue arrows show OCI-initiated transfer requests; green arrows show returned zone data. Both travel over the same TCP 53 transfer session. TSIG is per zone. NOTIFY, upstream-to-upstream replication and the operator direct AXFR test are omitted from the diagram for clarity; their requirements and verification commands are in the later slides. Upstream hosting location is customer-selected; OCI public DNS is global. In overlap, either configured upstream can be selected. Completed target transfer logs are required to prove actual OCI target use. Keep the old upstream running if the target still depends on it. Phase 1 export is read-only. Phase 2 and 3 are separate preview/apply operations over the manually reviewed OCID list. No additional configured upstreams are depicted in this simple two-server migration.</a:t>
            </a:r>
          </a:p>
          <a:p xmlns:a="http://schemas.openxmlformats.org/drawingml/2006/main">
            <a:r>
              <a:t/>
            </a:r>
          </a:p>
          <a:p xmlns:a="http://schemas.openxmlformats.org/drawingml/2006/main">
            <a:r>
              <a:t>https://docs.oracle.com/en-us/iaas/Content/DNS/Tasks/secondary-dns.htm</a:t>
            </a:r>
          </a:p>
          <a:p xmlns:a="http://schemas.openxmlformats.org/drawingml/2006/main">
            <a:r>
              <a:t/>
            </a:r>
          </a:p>
          <a:p xmlns:a="http://schemas.openxmlformats.org/drawingml/2006/main">
            <a:r>
              <a:t>https://docs.oracle.com/en-us/iaas/tools/python/latest/api/dns/client/oci.dns.DnsClient.html#oci.dns.DnsClient.update_zone</a:t>
            </a:r>
          </a:p>
          <a:p xmlns:a="http://schemas.openxmlformats.org/drawingml/2006/main">
            <a:r>
              <a:t/>
            </a:r>
          </a:p>
          <a:p xmlns:a="http://schemas.openxmlformats.org/drawingml/2006/main">
            <a:r>
              <a:t>https://docs.oracle.com/en-us/iaas/tools/python/latest/api/dns/models/oci.dns.models.ExternalMaster.html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Interactive HLD: use Slide Show. Click a phase tab or Next phase; ordinary slide advance also steps through the consecutive phase views. The buttons are native internal slide links. Diagrams use editable PowerPoint shapes and connectors. Blue arrows show OCI-initiated transfer requests; green arrows show returned zone data. Both travel over the same TCP 53 transfer session. TSIG is per zone. NOTIFY, upstream-to-upstream replication and the operator direct AXFR test are omitted from the diagram for clarity; their requirements and verification commands are in the later slides. Upstream hosting location is customer-selected; OCI public DNS is global. In overlap, either configured upstream can be selected. Completed target transfer logs are required to prove actual OCI target use. Keep the old upstream running if the target still depends on it. Phase 1 export is read-only. Phase 2 and 3 are separate preview/apply operations over the manually reviewed OCID list. No additional configured upstreams are depicted in this simple two-server migration.</a:t>
            </a:r>
          </a:p>
          <a:p xmlns:a="http://schemas.openxmlformats.org/drawingml/2006/main">
            <a:r>
              <a:t/>
            </a:r>
          </a:p>
          <a:p xmlns:a="http://schemas.openxmlformats.org/drawingml/2006/main">
            <a:r>
              <a:t>https://docs.oracle.com/en-us/iaas/Content/DNS/Tasks/secondary-dns.htm</a:t>
            </a:r>
          </a:p>
          <a:p xmlns:a="http://schemas.openxmlformats.org/drawingml/2006/main">
            <a:r>
              <a:t/>
            </a:r>
          </a:p>
          <a:p xmlns:a="http://schemas.openxmlformats.org/drawingml/2006/main">
            <a:r>
              <a:t>https://docs.oracle.com/en-us/iaas/tools/python/latest/api/dns/client/oci.dns.DnsClient.html#oci.dns.DnsClient.update_zone</a:t>
            </a:r>
          </a:p>
          <a:p xmlns:a="http://schemas.openxmlformats.org/drawingml/2006/main">
            <a:r>
              <a:t/>
            </a:r>
          </a:p>
          <a:p xmlns:a="http://schemas.openxmlformats.org/drawingml/2006/main">
            <a:r>
              <a:t>https://docs.oracle.com/en-us/iaas/tools/python/latest/api/dns/models/oci.dns.models.ExternalMaster.html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 the pinned requirements into a virtual environment. API-key profiles are the supported authentication mode. The updater lists/gets/updates zones. The generic signed verifier reads referenced TSIG keys, including secrets into process memory for signing. Key access must cover the key compartment. Source: README.md, docs/CLI_AUTH.md and requirements.txt.</a:t>
            </a:r>
          </a:p>
          <a:p xmlns:a="http://schemas.openxmlformats.org/drawingml/2006/main">
            <a:r>
              <a:t/>
            </a:r>
          </a:p>
          <a:p xmlns:a="http://schemas.openxmlformats.org/drawingml/2006/main">
            <a:r>
              <a:t>https://docs.oracle.com/en-us/iaas/Content/Identity/Reference/dnspolicyreference.htm</a:t>
            </a:r>
          </a:p>
          <a:p xmlns:a="http://schemas.openxmlformats.org/drawingml/2006/main">
            <a:r>
              <a:t/>
            </a:r>
          </a:p>
          <a:p xmlns:a="http://schemas.openxmlformats.org/drawingml/2006/main">
            <a:r>
              <a:t>https://docs.oracle.com/en-us/iaas/Content/API/Concepts/apisigningkey.htm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Mac generic verifier contacts the target directly. Allow the operator’s actual outbound IPv4/32 or IPv6/128 in relevant network and host-firewall rules while retaining TSIG authentication. Discover OCI transfer destination addresses in the selected management region using the root tenancy compartment and is-transfer-destination=true. Do not substitute the opposite egress/source direction. TCP 53 reachability alone does not establish authenticated transfer success. Source: docs/ARCHITECTURE.md and docs/MAC_TERMINAL.md.</a:t>
            </a:r>
          </a:p>
          <a:p xmlns:a="http://schemas.openxmlformats.org/drawingml/2006/main">
            <a:r>
              <a:t/>
            </a:r>
          </a:p>
          <a:p xmlns:a="http://schemas.openxmlformats.org/drawingml/2006/main">
            <a:r>
              <a:t>https://docs.oracle.com/en-us/iaas/Content/DNS/Tasks/zone-transfer-server-list.htm</a:t>
            </a:r>
          </a:p>
          <a:p xmlns:a="http://schemas.openxmlformats.org/drawingml/2006/main">
            <a:r>
              <a:t/>
            </a:r>
          </a:p>
          <a:p xmlns:a="http://schemas.openxmlformats.org/drawingml/2006/main">
            <a:r>
              <a:t>https://docs.oracle.com/en-us/iaas/Content/DNS/Tasks/secondary-dns.htm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and target use the same TSIG resource for a given zone during this workflow. Different zones may use different keys. Updater requests carry key OCIDs, not key secrets. The generic verifier fetches the referenced secret into memory, signs AXFR and excludes it from reports and shell arguments. SSH is optional for collecting server logs. Source: docs/CLI_AUTH.md and scripts/oci_dns_verify_upstream.py.</a:t>
            </a:r>
          </a:p>
          <a:p xmlns:a="http://schemas.openxmlformats.org/drawingml/2006/main">
            <a:r>
              <a:t/>
            </a:r>
          </a:p>
          <a:p xmlns:a="http://schemas.openxmlformats.org/drawingml/2006/main">
            <a:r>
              <a:t>https://docs.oracle.com/en-us/iaas/Content/API/Concepts/apisigningkey.htm</a:t>
            </a:r>
          </a:p>
          <a:p xmlns:a="http://schemas.openxmlformats.org/drawingml/2006/main">
            <a:r>
              <a:t/>
            </a:r>
          </a:p>
          <a:p xmlns:a="http://schemas.openxmlformats.org/drawingml/2006/main">
            <a:r>
              <a:t>https://docs.oracle.com/en-us/iaas/tools/python/latest/api/dns/models/oci.dns.models.ExternalMaster.html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Mac/Linux: python3.11 -m venv .venv; source .venv/bin/activate; python -m pip install -r requirements.txt. Windows PowerShell: py -3.11 -m venv .venv; $Py = ".\.venv\Scripts\python.exe"; &amp; $Py -m pip install -r requirements.txt. Commands are examples, not a request to change system Python. Run operator scripts without sudo. OCI CLI is optional for Python execution. Source: README.md and OS setup guides.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oci setup config is an OCI CLI command. The shown INI fields belong in ~/.oci/config, or the user profile’s .oci/config on Windows. Replace all example values. Upload the public PEM to the correct IAM user and domain. Keep the private key local. Migration region can override profile region; when omitted, the script uses the selected profile’s region. Source: docs/CLI_AUTH.md.</a:t>
            </a:r>
          </a:p>
          <a:p xmlns:a="http://schemas.openxmlformats.org/drawingml/2006/main">
            <a:r>
              <a:t/>
            </a:r>
          </a:p>
          <a:p xmlns:a="http://schemas.openxmlformats.org/drawingml/2006/main">
            <a:r>
              <a:t>https://docs.oracle.com/en-us/iaas/Content/API/Concepts/apisigningkey.htm</a:t>
            </a:r>
          </a:p>
          <a:p xmlns:a="http://schemas.openxmlformats.org/drawingml/2006/main">
            <a:r>
              <a:t/>
            </a:r>
          </a:p>
          <a:p xmlns:a="http://schemas.openxmlformats.org/drawingml/2006/main">
            <a:r>
              <a:t>https://docs.oracle.com/en-us/iaas/Content/Identity/Reference/dnspolicyreference.htm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excerpt shows core fields. The full template also includes api_delay and verification.record_name/marker. 192.0.2.10 and 192.0.2.20 are documentation-only addresses. Replace them with reachable source/target IPv4 or IPv6 addresses. Use distinct IPs and port 53. JSON paths are relative to the configuration file. CLI flags override JSON. The file cannot enable writes; --apply is explicit. For unrelated names, use zone_names_file instead of name_prefix. Source: examples/migration.example.json and scripts/oci_dns_config.py.</a:t>
            </a:r>
          </a:p>
          <a:p xmlns:a="http://schemas.openxmlformats.org/drawingml/2006/main">
            <a:r>
              <a:t/>
            </a:r>
          </a:p>
          <a:p xmlns:a="http://schemas.openxmlformats.org/drawingml/2006/main">
            <a:r>
              <a:t>https://docs.oracle.com/en-us/iaas/tools/python/latest/api/dns/models/oci.dns.models.ExternalMaster.html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exporter paginates public secondary zones, then reads each selected zone. It writes one OCID per line plus .inventory.json with names, state, upstreams and key references. Existing output files are refused. You may prepare the OCID file manually. Export does not call UpdateZone. Source: scripts/oci_dns_export_zone_ids.py and docs/CODE_EXPLANATION.md.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IDs accept UTF-8 with or without BOM and Windows CRLF. Blank lines and comments beginning # are accepted. Add/remove operations use only this reviewed file. They do not rediscover every zone in the compartment during apply. Keep the selection fixed. Source: scripts/oci_dns_batch_common.py and docs/RUNBOOK.md.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is the default. An added target inherits the source’s per-zone TSIG key reference and port. Unrelated upstream entries remain. A correct existing target reports unchanged. An unsigned source or conflicting target key fails preflight. Source: scripts/phase2_add_upstream.py and desired_masters() in scripts/oci_dns_batch_common.py.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updater submits the complete external_masters list because UpdateZone replaces that field. Fresh upstream fingerprints detect intervening changes, and If-Match protects against races after the fresh read. Missing fresh ETags fail closed. Per-zone sequential calls have pacing and SDK transient retries. There is no atomic all-zone transaction or automatic rollback. Source: scripts/oci_dns_batch_common.py.</a:t>
            </a:r>
          </a:p>
          <a:p xmlns:a="http://schemas.openxmlformats.org/drawingml/2006/main">
            <a:r>
              <a:t/>
            </a:r>
          </a:p>
          <a:p xmlns:a="http://schemas.openxmlformats.org/drawingml/2006/main">
            <a:r>
              <a:t>https://docs.oracle.com/en-us/iaas/tools/python/latest/api/dns/client/oci.dns.DnsClient.html#oci.dns.DnsClient.update_zone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generic verifier does not modify source records, zone files or SOA serials. Publish through the customer’s DNS administration process. For BIND, rndc notify ZONE resends notifications, but an unchanged SOA serial can result in no new transfer. Record a timezone-aware start timestamp before the update when collecting actual transfer log evidence. Source: docs/GENERIC_VERIFICATION.md.</a:t>
            </a:r>
          </a:p>
          <a:p xmlns:a="http://schemas.openxmlformats.org/drawingml/2006/main">
            <a:r>
              <a:t/>
            </a:r>
          </a:p>
          <a:p xmlns:a="http://schemas.openxmlformats.org/drawingml/2006/main">
            <a:r>
              <a:t>https://docs.oracle.com/en-us/iaas/Content/DNS/Tasks/secondary-dns.htm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must have direct TCP 53 connectivity and signed AXFR permission to the target. The verifier reads each key into memory, requests AXFR from target, reads the configured TXT owner and target SOA, then compares all OCI assigned nameservers. It rechecks upstream/key settings for concurrent changes. The record owner is configurable and must remain inside each selected zone. Source: scripts/oci_dns_verify_upstream.py.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logs, the generic verifier returns capability-and-data-pass and does not claim actual OCI target use. To require observed target use, provide --logs-file and --transfer-since. The BIND adapter accepts structured journal JSONL with MESSAGE and __REALTIME_TIMESTAMP. It matches completed outgoing signed AXFR/IXFR, zone/key/fresh serial and current OCI transfer destination client IPs. Missing matching evidence returns exit 2. Source: docs/GENERIC_VERIFICATION.md and scripts/oci_dns_transfer_evidence.py.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preferred/standby selection algorithm is asserted by this deck. ExternalMaster exposes address, port and TSIG key reference, with no priority or weight field in the documented model. Correct data during overlap can come from either configured server. Use actual target transfer telemetry for proof. Source: docs/GENERIC_VERIFICATION.md.</a:t>
            </a:r>
          </a:p>
          <a:p xmlns:a="http://schemas.openxmlformats.org/drawingml/2006/main">
            <a:r>
              <a:t/>
            </a:r>
          </a:p>
          <a:p xmlns:a="http://schemas.openxmlformats.org/drawingml/2006/main">
            <a:r>
              <a:t>https://docs.oracle.com/en-us/iaas/tools/python/latest/api/dns/models/oci.dns.models.ExternalMaster.html</a:t>
            </a:r>
          </a:p>
          <a:p xmlns:a="http://schemas.openxmlformats.org/drawingml/2006/main">
            <a:r>
              <a:t/>
            </a:r>
          </a:p>
          <a:p xmlns:a="http://schemas.openxmlformats.org/drawingml/2006/main">
            <a:r>
              <a:t>https://docs.oracle.com/en-us/iaas/Content/DNS/Tasks/secondary-dns.htm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remove entry point requires a signed target already configured. Source and target keys must match while both exist. It removes only the source address, and an already absent source is unchanged. This is a configuration gate, not a substitute for the prior transfer health review. Source: scripts/phase3_remove_upstream.py and scripts/oci_dns_batch_common.py.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 default after-removal verification requires exactly target in the upstream set. Use --allow-other-upstreams for intentional additional entries, while still requiring source absence and target presence. Such additional entries mean the configured set does not establish a sole-source inference. Keep the original source running while target replication still depends on it. Source: scripts/oci_dns_verify_upstream.py and docs/VERIFY_AND_ROLLBACK.md.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the virtual environment if absent: python3.11 -m venv .venv; source .venv/bin/activate; python -m pip install -r requirements.txt. Copy examples/migration.example.json into ignored local storage and replace placeholders. The Mac guide gives export, preview/apply, record-publication and proof commands. Do not run the operator scripts with sudo. A successful nc check confirms only TCP transport. Source: docs/MAC_TERMINAL.md.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0 for update means preview passed or all applied read-back checks passed; it does not establish actual DNS transfers. Verification exit 0 has an explicit proofLevel and status. Output filenames include timestamps and refuse collisions where appropriate. Store reports under ignored local/. Unix mode 0600 is not a Windows ACL. Source: README.md and docs/RUNBOOK.md.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apply can partially complete. A request timeout may occur after OCI accepted an update. The original backup ETag is normally stale. Restore exact before-settings only after reconciling changes and obtaining a fresh ETag. A reverse source/target migration is also possible, but it does not necessarily reconstruct every original setting. A TXT rollback must use a newer SOA serial. Source: docs/VERIFY_AND_ROLLBACK.md.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package has 42 passing offline tests, covering configuration, selection, TSIG key preservation, concurrency and evidence boundaries. This does not establish a new live end-to-end customer deployment or IPv6/platform acceptance. No 1000-zone duration or throughput has been measured. Monitor ZoneTransferSuccessCount, ZoneTransferFailureCount and ZoneExpirationInHours where available. Example automation is community code and must go through the customer change process. Source: docs/TEST_RESULTS.md and README.md.</a:t>
            </a:r>
          </a:p>
          <a:p xmlns:a="http://schemas.openxmlformats.org/drawingml/2006/main">
            <a:r>
              <a:t/>
            </a:r>
          </a:p>
          <a:p xmlns:a="http://schemas.openxmlformats.org/drawingml/2006/main">
            <a:r>
              <a:t>https://docs.oracle.com/en-us/iaas/Content/DNS/Reference/metrics.htm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Documentation files except README.md live under docs/. Customer inputs, credentials and real server reports belong in ignored protected local storage. The package includes scripts, dependency pins, tests, examples and a future GitHub publication guide. It has not been published to a remote GitHub repository by this task. Support follows the customer’s adoption process; the example is not an Oracle-supported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https://docs.oracle.com/en-us/iaas/Content/DNS/Tasks/secondary-dns.htm</a:t>
            </a:r>
          </a:p>
          <a:p xmlns:a="http://schemas.openxmlformats.org/drawingml/2006/main">
            <a:r>
              <a:t>https://docs.oracle.com/en-us/iaas/Content/DNS/Tasks/zone-update.htm</a:t>
            </a:r>
          </a:p>
          <a:p xmlns:a="http://schemas.openxmlformats.org/drawingml/2006/main">
            <a:r>
              <a:t>https://docs.oracle.com/en-us/iaas/tools/python/latest/api/dns/models/oci.dns.models.ExternalMaster.html</a:t>
            </a:r>
          </a:p>
          <a:p xmlns:a="http://schemas.openxmlformats.org/drawingml/2006/main">
            <a:r>
              <a:t>https://docs.oracle.com/en-us/iaas/tools/python/latest/api/dns/client/oci.dns.DnsClient.html#oci.dns.DnsClient.update_zone</a:t>
            </a:r>
          </a:p>
          <a:p xmlns:a="http://schemas.openxmlformats.org/drawingml/2006/main">
            <a:r>
              <a:t>https://docs.oracle.com/en-us/iaas/Content/API/Concepts/apisigningkey.htm</a:t>
            </a:r>
          </a:p>
          <a:p xmlns:a="http://schemas.openxmlformats.org/drawingml/2006/main">
            <a:r>
              <a:t>https://docs.oracle.com/en-us/iaas/Content/Identity/Reference/dnspolicyreference.htm</a:t>
            </a:r>
          </a:p>
          <a:p xmlns:a="http://schemas.openxmlformats.org/drawingml/2006/main">
            <a:r>
              <a:t>https://docs.oracle.com/en-us/iaas/Content/DNS/Tasks/zone-transfer-server-list.htm</a:t>
            </a:r>
          </a:p>
          <a:p xmlns:a="http://schemas.openxmlformats.org/drawingml/2006/main">
            <a:r>
              <a:t>https://docs.oracle.com/en-us/iaas/Content/DNS/Reference/metrics.htm</a:t>
            </a:r>
          </a:p>
          <a:p xmlns:a="http://schemas.openxmlformats.org/drawingml/2006/main">
            <a:r>
              <a:t>References reviewed 15 October 2026. Relevant source URLs also appear in the associated slide notes. Local implementation sources: README.md, docs/CODE_EXPLANATION.md, docs/MAC_TERMINAL.md, docs/GENERIC_VERIFICATION.md and scripts/.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22a0de0d82450b" /></Relationships>
</file>

<file path=ppt/slideLayouts/slideLayout1.xml><?xml version="1.0" encoding="utf-8"?>
<p:sldLayout xmlns:p="http://schemas.openxmlformats.org/presentationml/2006/main" preserve="1" userDrawn="1">
  <p:cSld name="1_Light - Title/Subtitle">
    <p:bg>
      <p:bgPr>
        <a:solidFill xmlns:a="http://schemas.openxmlformats.org/drawingml/2006/main">
          <a:schemeClr val="bg1"/>
        </a:solidFill>
      </p:bgPr>
    </p:bg>
    <p:spTree>
      <p:nvGrpSpPr>
        <p:cNvPr id="1" name=""/>
        <p:cNvGrpSpPr/>
        <p:nvPr/>
      </p:nvGrpSpPr>
      <p:grpSpPr>
        <a:xfrm xmlns:a="http://schemas.openxmlformats.org/drawingml/2006/main"/>
      </p:grpSpPr>
      <p:sp>
        <p:nvSpPr>
          <p:cNvPr id="15" name="Subtitle">
            <a:extLst xmlns:a="http://schemas.openxmlformats.org/drawingml/2006/main">
              <a:ext uri="{FF2B5EF4-FFF2-40B4-BE49-F238E27FC236}">
                <a16:creationId xmlns:a16="http://schemas.microsoft.com/office/drawing/2014/main" id="{FC0004EB-159B-A345-859C-0E83416ED930}"/>
              </a:ext>
            </a:extLst>
          </p:cNvPr>
          <p:cNvSpPr>
            <a:spLocks xmlns:a="http://schemas.openxmlformats.org/drawingml/2006/main" noGrp="1"/>
          </p:cNvSpPr>
          <p:nvPr>
            <p:ph type="body" idx="11" hasCustomPrompt="1"/>
          </p:nvPr>
        </p:nvSpPr>
        <p:spPr>
          <a:xfrm xmlns:a="http://schemas.openxmlformats.org/drawingml/2006/main">
            <a:off x="762000" y="1024235"/>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Title 3">
            <a:extLst xmlns:a="http://schemas.openxmlformats.org/drawingml/2006/main">
              <a:ext uri="{FF2B5EF4-FFF2-40B4-BE49-F238E27FC236}">
                <a16:creationId xmlns:a16="http://schemas.microsoft.com/office/drawing/2014/main" id="{AC6A8D35-C90D-428D-8E15-6F958679D947}"/>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Title</a:t>
            </a:r>
          </a:p>
        </p:txBody>
      </p:sp>
      <p:sp>
        <p:nvSpPr>
          <p:cNvPr id="3" name="Date Placeholder 2">
            <a:extLst xmlns:a="http://schemas.openxmlformats.org/drawingml/2006/main">
              <a:ext uri="{FF2B5EF4-FFF2-40B4-BE49-F238E27FC236}">
                <a16:creationId xmlns:a16="http://schemas.microsoft.com/office/drawing/2014/main" id="{AC508AF7-E761-84B0-C992-87EA1E47F477}"/>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p xmlns:a="http://schemas.openxmlformats.org/drawingml/2006/main">
            <a:r>
              <a:t>[Date]</a:t>
            </a:r>
            <a:endParaRPr/>
          </a:p>
        </p:txBody>
      </p:sp>
      <p:sp>
        <p:nvSpPr>
          <p:cNvPr id="7" name="Footer Placeholder 6">
            <a:extLst xmlns:a="http://schemas.openxmlformats.org/drawingml/2006/main">
              <a:ext uri="{FF2B5EF4-FFF2-40B4-BE49-F238E27FC236}">
                <a16:creationId xmlns:a16="http://schemas.microsoft.com/office/drawing/2014/main" id="{B9E95A0A-CB38-80F6-912F-AF845EB50F39}"/>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p xmlns:a="http://schemas.openxmlformats.org/drawingml/2006/main">
            <a:r>
              <a:t>Copyright © 2025, Oracle and/or its affiliates</a:t>
            </a:r>
            <a:endParaRPr/>
          </a:p>
        </p:txBody>
      </p:sp>
      <p:sp>
        <p:nvSpPr>
          <p:cNvPr id="8" name="Slide Number Placeholder 7">
            <a:extLst xmlns:a="http://schemas.openxmlformats.org/drawingml/2006/main">
              <a:ext uri="{FF2B5EF4-FFF2-40B4-BE49-F238E27FC236}">
                <a16:creationId xmlns:a16="http://schemas.microsoft.com/office/drawing/2014/main" id="{748877B3-2C76-5A6A-BBED-9579DA3C9AF4}"/>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p xmlns:a="http://schemas.openxmlformats.org/drawingml/2006/main">
            <a:fld id="{345D60D9-5372-5F40-9443-0F9AE5BDC3C8}"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03315d6d872b4a71" /><Relationship Type="http://schemas.openxmlformats.org/officeDocument/2006/relationships/theme" Target="/ppt/slideMasters/theme/theme2.xml" Id="Rb1f91a9505d64460" /><Relationship Type="http://schemas.openxmlformats.org/officeDocument/2006/relationships/slideLayout" Target="/ppt/slideLayouts/slideLayout1.xml" Id="Rb4508b23ea874dba"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a:spLocks xmlns:a="http://schemas.openxmlformats.org/drawingml/2006/main" noGrp="1"/>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a:pPr marL="0" lvl="0" indent="0">
              <a:spcBef>
                <a:spcPts val="1000"/>
              </a:spcBef>
              <a:buFont typeface="Arial"/>
              <a:buNone/>
            </a:pPr>
            <a:r>
              <a:t>Title</a:t>
            </a:r>
          </a:p>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a:spLocks xmlns:a="http://schemas.openxmlformats.org/drawingml/2006/main" noGrp="1"/>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900">
                <a:solidFill>
                  <a:srgbClr val="8B8580"/>
                </a:solidFill>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900">
                <a:solidFill>
                  <a:srgbClr val="8B8580"/>
                </a:solidFill>
              </a:defRPr>
            </a:lvl1pPr>
          </a:lstStyle>
          <a:p xmlns:a="http://schemas.openxmlformats.org/drawingml/2006/main">
            <a:r>
              <a:t>Copyright © 2025, Oracle and/or its affiliates</a:t>
            </a:r>
            <a:endParaRPr/>
          </a:p>
        </p:txBody>
      </p:sp>
      <p:sp>
        <p:nvSpPr>
          <p:cNvPr id="20" name="Date">
            <a:extLst xmlns:a="http://schemas.openxmlformats.org/drawingml/2006/main">
              <a:ext uri="{FF2B5EF4-FFF2-40B4-BE49-F238E27FC236}">
                <a16:creationId xmlns:a16="http://schemas.microsoft.com/office/drawing/2014/main" id="{65BA88F5-EF53-415B-8446-19188BE675D3}"/>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900">
                <a:solidFill>
                  <a:srgbClr val="8B8580"/>
                </a:solidFill>
              </a:defRPr>
            </a:lvl1pPr>
          </a:lstStyle>
          <a:p xmlns:a="http://schemas.openxmlformats.org/drawingml/2006/main">
            <a:r>
              <a:t>[Date]</a:t>
            </a:r>
            <a:endParaRPr/>
          </a:p>
        </p:txBody>
      </p:sp>
      <p:pic>
        <p:nvPicPr>
          <p:cNvPr id="21" name="OTag">
            <a:extLst xmlns:a="http://schemas.openxmlformats.org/drawingml/2006/main">
              <a:ext uri="{FF2B5EF4-FFF2-40B4-BE49-F238E27FC236}">
                <a16:creationId xmlns:a16="http://schemas.microsoft.com/office/drawing/2014/main" id="{AEFE49C5-F322-4F6A-BFCF-D261B4712B03}"/>
              </a:ext>
            </a:extLst>
          </p:cNvPr>
          <p:cNvPicPr>
            <a:picLocks xmlns:a="http://schemas.openxmlformats.org/drawingml/2006/main" noChangeAspect="1"/>
          </p:cNvPicPr>
          <p:nvPr/>
        </p:nvPicPr>
        <p:blipFill>
          <a:blip xmlns:r="http://schemas.openxmlformats.org/officeDocument/2006/relationships" xmlns:a="http://schemas.openxmlformats.org/drawingml/2006/main" r:embed="R03315d6d872b4a71"/>
          <a:stretch xmlns:a="http://schemas.openxmlformats.org/drawingml/2006/main">
            <a:fillRect l="0" t="0" r="0" b="0"/>
          </a:stretch>
        </p:blipFill>
        <p:spPr>
          <a:xfrm xmlns:a="http://schemas.openxmlformats.org/drawingml/2006/main">
            <a:off x="11183112" y="6355080"/>
            <a:ext cx="502920" cy="50292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508b23ea874dba"/>
  </p:sldLayoutIdLst>
  <p:hf hdr="0" dt="0"/>
  <p:txStyles>
    <p:titleStyle>
      <a:lvl1pPr xmlns:a="http://schemas.openxmlformats.org/drawingml/2006/main" algn="l" defTabSz="914400">
        <a:lnSpc>
          <a:spcPct val="95000"/>
        </a:lnSpc>
        <a:spcBef>
          <a:spcPct val="0"/>
        </a:spcBef>
        <a:buNone/>
        <a:defRPr sz="2400" b="1" i="0" kern="1200" baseline="0">
          <a:solidFill>
            <a:schemeClr val="tx1"/>
          </a:solidFill>
          <a:latin typeface="+mn-lt"/>
          <a:ea typeface="+mn-lt"/>
          <a:cs typeface="+mn-lt"/>
        </a:defRPr>
      </a:lvl1pPr>
    </p:titleStyle>
    <p:bodyStyle>
      <a:lvl1pPr xmlns:a="http://schemas.openxmlformats.org/drawingml/2006/main"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xmlns:a="http://schemas.openxmlformats.org/drawingml/2006/main"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xmlns:a="http://schemas.openxmlformats.org/drawingml/2006/main"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xmlns:a="http://schemas.openxmlformats.org/drawingml/2006/main"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xmlns:a="http://schemas.openxmlformats.org/drawingml/2006/main"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xmlns:a="http://schemas.openxmlformats.org/drawingml/2006/main"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xmlns:a="http://schemas.openxmlformats.org/drawingml/2006/main"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guide id="3" orient="horz" pos="1008" userDrawn="1">
          <p15:clr>
            <a:srgbClr xmlns:a="http://schemas.openxmlformats.org/drawingml/2006/main" val="5ACBF0"/>
          </p15:clr>
        </p15:guide>
        <p15:guide id="4" orient="horz" pos="3852" userDrawn="1">
          <p15:clr>
            <a:srgbClr xmlns:a="http://schemas.openxmlformats.org/drawingml/2006/main" val="F26B43"/>
          </p15:clr>
        </p15:guide>
        <p15:guide id="5" pos="480" userDrawn="1">
          <p15:clr>
            <a:srgbClr xmlns:a="http://schemas.openxmlformats.org/drawingml/2006/main" val="F26B43"/>
          </p15:clr>
        </p15:guide>
        <p15:guide id="6" orient="horz" pos="795" userDrawn="1">
          <p15:clr>
            <a:srgbClr xmlns:a="http://schemas.openxmlformats.org/drawingml/2006/main" val="F26B43"/>
          </p15:clr>
        </p15:guide>
        <p15:guide id="7" orient="horz" pos="590" userDrawn="1">
          <p15:clr>
            <a:srgbClr xmlns:a="http://schemas.openxmlformats.org/drawingml/2006/main" val="F26B43"/>
          </p15:clr>
        </p15:guide>
        <p15:guide id="8" pos="7212" userDrawn="1">
          <p15:clr>
            <a:srgbClr xmlns:a="http://schemas.openxmlformats.org/drawingml/2006/main" val="F26B43"/>
          </p15:clr>
        </p15:guide>
      </p15:sldGuideLst>
    </p:ext>
  </p:extLst>
</p:sldMaster>
</file>

<file path=ppt/slideMasters/theme/theme2.xml><?xml version="1.0" encoding="utf-8"?>
<a:theme xmlns:a="http://schemas.openxmlformats.org/drawingml/2006/main" name="Parent Master Pillars">
  <a:themeElements>
    <a:clrScheme name="Oracle Pine 10.21.1">
      <a:dk1>
        <a:srgbClr val="312D2A"/>
      </a:dk1>
      <a:lt1>
        <a:srgbClr val="FCFBFA"/>
      </a:lt1>
      <a:dk2>
        <a:srgbClr val="312D2A"/>
      </a:dk2>
      <a:lt2>
        <a:srgbClr val="FCFBFA"/>
      </a:lt2>
      <a:accent1>
        <a:srgbClr val="E9F9EE"/>
      </a:accent1>
      <a:accent2>
        <a:srgbClr val="CBE9D6"/>
      </a:accent2>
      <a:accent3>
        <a:srgbClr val="99C2A6"/>
      </a:accent3>
      <a:accent4>
        <a:srgbClr val="74A683"/>
      </a:accent4>
      <a:accent5>
        <a:srgbClr val="467553"/>
      </a:accent5>
      <a:accent6>
        <a:srgbClr val="33553C"/>
      </a:accent6>
      <a:hlink>
        <a:srgbClr val="2C5967"/>
      </a:hlink>
      <a:folHlink>
        <a:srgbClr val="2C5967"/>
      </a:folHlink>
    </a:clrScheme>
    <a:fontScheme name="Oracle Pillars">
      <a:majorFont>
        <a:latin typeface="Georgia"/>
        <a:ea typeface=""/>
        <a:cs typeface=""/>
      </a:majorFont>
      <a:minorFont>
        <a:latin typeface="Oracle Sans Tab"/>
        <a:ea typeface=""/>
        <a:cs typeface=""/>
      </a:minorFont>
    </a:fontScheme>
    <a:fmtScheme name="Oracle Pine 10.21.1">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bca9e1b72f4543" /><Relationship Type="http://schemas.openxmlformats.org/officeDocument/2006/relationships/notesSlide" Target="/ppt/notesSlides/notesSlide1.xml" Id="Rdc678a822b174f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09e271dd244ffe" /><Relationship Type="http://schemas.openxmlformats.org/officeDocument/2006/relationships/notesSlide" Target="/ppt/notesSlides/notesSlide2.xml" Id="R07e6928fcfb243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ee6c8dda9a4814" /><Relationship Type="http://schemas.openxmlformats.org/officeDocument/2006/relationships/notesSlide" Target="/ppt/notesSlides/notesSlide3.xml" Id="R50f755b1b2de41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398d059acb401c" /><Relationship Type="http://schemas.openxmlformats.org/officeDocument/2006/relationships/notesSlide" Target="/ppt/notesSlides/notesSlide4.xml" Id="Re4482c3581844ecb"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c0bbffbe0a934904" /><ns0:Relationship Type="http://schemas.openxmlformats.org/officeDocument/2006/relationships/notesSlide" Target="/ppt/notesSlides/notesSlide5.xml" Id="Ra795731d3eaa4aa8" /><ns0:Relationship Id="rIdHld1" Type="http://schemas.openxmlformats.org/officeDocument/2006/relationships/slide" Target="slide5.xml" /><ns0:Relationship Id="rIdHld2" Type="http://schemas.openxmlformats.org/officeDocument/2006/relationships/slide" Target="slide6.xml" /><ns0:Relationship Id="rIdHld3" Type="http://schemas.openxmlformats.org/officeDocument/2006/relationships/slide" Target="slide7.xml" /><ns0:Relationship Id="rIdHld4" Type="http://schemas.openxmlformats.org/officeDocument/2006/relationships/slide" Target="slide8.xml" /><ns0:Relationship Id="rIdHld5" Type="http://schemas.openxmlformats.org/officeDocument/2006/relationships/slide" Target="slide6.xm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f44ec42a31404c0e" /><ns0:Relationship Type="http://schemas.openxmlformats.org/officeDocument/2006/relationships/notesSlide" Target="/ppt/notesSlides/notesSlide6.xml" Id="R1517ae026f5144b4" /><ns0:Relationship Id="rIdHld6" Type="http://schemas.openxmlformats.org/officeDocument/2006/relationships/slide" Target="slide5.xml" /><ns0:Relationship Id="rIdHld7" Type="http://schemas.openxmlformats.org/officeDocument/2006/relationships/slide" Target="slide6.xml" /><ns0:Relationship Id="rIdHld8" Type="http://schemas.openxmlformats.org/officeDocument/2006/relationships/slide" Target="slide7.xml" /><ns0:Relationship Id="rIdHld9" Type="http://schemas.openxmlformats.org/officeDocument/2006/relationships/slide" Target="slide8.xml" /><ns0:Relationship Id="rIdHld10" Type="http://schemas.openxmlformats.org/officeDocument/2006/relationships/slide" Target="slide7.xm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65f05d987a8c4142" /><ns0:Relationship Type="http://schemas.openxmlformats.org/officeDocument/2006/relationships/notesSlide" Target="/ppt/notesSlides/notesSlide7.xml" Id="Rceb59eea7212418a" /><ns0:Relationship Id="rIdHld11" Type="http://schemas.openxmlformats.org/officeDocument/2006/relationships/slide" Target="slide5.xml" /><ns0:Relationship Id="rIdHld12" Type="http://schemas.openxmlformats.org/officeDocument/2006/relationships/slide" Target="slide6.xml" /><ns0:Relationship Id="rIdHld13" Type="http://schemas.openxmlformats.org/officeDocument/2006/relationships/slide" Target="slide7.xml" /><ns0:Relationship Id="rIdHld14" Type="http://schemas.openxmlformats.org/officeDocument/2006/relationships/slide" Target="slide8.xml" /><ns0:Relationship Id="rIdHld15" Type="http://schemas.openxmlformats.org/officeDocument/2006/relationships/slide" Target="slide8.xm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a996053d69b141b6" /><ns0:Relationship Type="http://schemas.openxmlformats.org/officeDocument/2006/relationships/notesSlide" Target="/ppt/notesSlides/notesSlide8.xml" Id="Rbe2cf27f442b4a59" /><ns0:Relationship Id="rIdHld16" Type="http://schemas.openxmlformats.org/officeDocument/2006/relationships/slide" Target="slide5.xml" /><ns0:Relationship Id="rIdHld17" Type="http://schemas.openxmlformats.org/officeDocument/2006/relationships/slide" Target="slide6.xml" /><ns0:Relationship Id="rIdHld18" Type="http://schemas.openxmlformats.org/officeDocument/2006/relationships/slide" Target="slide7.xml" /><ns0:Relationship Id="rIdHld19" Type="http://schemas.openxmlformats.org/officeDocument/2006/relationships/slide" Target="slide8.xml" /><ns0:Relationship Id="rIdHld20" Type="http://schemas.openxmlformats.org/officeDocument/2006/relationships/slide" Target="slide9.xml" /></ns0: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19aa29c2775400e" /><Relationship Type="http://schemas.openxmlformats.org/officeDocument/2006/relationships/notesSlide" Target="/ppt/notesSlides/notesSlide9.xml" Id="R7d7184d2ffae4e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1ecaf37e264167" /><Relationship Type="http://schemas.openxmlformats.org/officeDocument/2006/relationships/notesSlide" Target="/ppt/notesSlides/notesSlide10.xml" Id="R2835ea4926b247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f95bcbf14d4926" /><Relationship Type="http://schemas.openxmlformats.org/officeDocument/2006/relationships/notesSlide" Target="/ppt/notesSlides/notesSlide11.xml" Id="R095fbe7067cb44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e00f98eb854cd1" /><Relationship Type="http://schemas.openxmlformats.org/officeDocument/2006/relationships/notesSlide" Target="/ppt/notesSlides/notesSlide12.xml" Id="R81cdb34be0934d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9bf75c3f5ab4d90" /><Relationship Type="http://schemas.openxmlformats.org/officeDocument/2006/relationships/notesSlide" Target="/ppt/notesSlides/notesSlide13.xml" Id="R5a6f67cc14a243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776f6b43084eae" /><Relationship Type="http://schemas.openxmlformats.org/officeDocument/2006/relationships/notesSlide" Target="/ppt/notesSlides/notesSlide14.xml" Id="R963d0d7e5d4641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55c552526104ae1" /><Relationship Type="http://schemas.openxmlformats.org/officeDocument/2006/relationships/notesSlide" Target="/ppt/notesSlides/notesSlide15.xml" Id="R1c742d6070044fb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3533322863f4ee1" /><Relationship Type="http://schemas.openxmlformats.org/officeDocument/2006/relationships/notesSlide" Target="/ppt/notesSlides/notesSlide16.xml" Id="Re71a1025f9fe4f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4944c360f1b4eb9" /><Relationship Type="http://schemas.openxmlformats.org/officeDocument/2006/relationships/notesSlide" Target="/ppt/notesSlides/notesSlide17.xml" Id="R59e36ac6e8af434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04cb4c975fb4375" /><Relationship Type="http://schemas.openxmlformats.org/officeDocument/2006/relationships/notesSlide" Target="/ppt/notesSlides/notesSlide18.xml" Id="R72b4251523914fa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d71b0156dfc447f" /><Relationship Type="http://schemas.openxmlformats.org/officeDocument/2006/relationships/notesSlide" Target="/ppt/notesSlides/notesSlide19.xml" Id="R2ec2ce93b07e4c2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097a1e08aa340de" /><Relationship Type="http://schemas.openxmlformats.org/officeDocument/2006/relationships/notesSlide" Target="/ppt/notesSlides/notesSlide20.xml" Id="R3de255c1dc2c48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6744ffbef274762" /><Relationship Type="http://schemas.openxmlformats.org/officeDocument/2006/relationships/notesSlide" Target="/ppt/notesSlides/notesSlide21.xml" Id="Re7334d76f98f48a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8eb703b4e4a4789" /><Relationship Type="http://schemas.openxmlformats.org/officeDocument/2006/relationships/notesSlide" Target="/ppt/notesSlides/notesSlide22.xml" Id="R66368bf7e0c3450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518522fba61499e" /><Relationship Type="http://schemas.openxmlformats.org/officeDocument/2006/relationships/notesSlide" Target="/ppt/notesSlides/notesSlide23.xml" Id="R2d30ead357e6496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1cc1e71f1f54e3d" /><Relationship Type="http://schemas.openxmlformats.org/officeDocument/2006/relationships/notesSlide" Target="/ppt/notesSlides/notesSlide24.xml" Id="R7c5c433b8e4c482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c3712dcded441a8" /><Relationship Type="http://schemas.openxmlformats.org/officeDocument/2006/relationships/notesSlide" Target="/ppt/notesSlides/notesSlide25.xml" Id="Re613605fa1774a5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34b9327ad9d497f" /><Relationship Type="http://schemas.openxmlformats.org/officeDocument/2006/relationships/notesSlide" Target="/ppt/notesSlides/notesSlide26.xml" Id="R0796b4835c9f44d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84704cdb1b949eb" /><Relationship Type="http://schemas.openxmlformats.org/officeDocument/2006/relationships/notesSlide" Target="/ppt/notesSlides/notesSlide27.xml" Id="Rc8d181561c8d47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0ce76bff5ad4429" /><Relationship Type="http://schemas.openxmlformats.org/officeDocument/2006/relationships/notesSlide" Target="/ppt/notesSlides/notesSlide28.xml" Id="R9d8dc7ff4d3b4e8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921ef5297354410" /><Relationship Type="http://schemas.openxmlformats.org/officeDocument/2006/relationships/notesSlide" Target="/ppt/notesSlides/notesSlide29.xml" Id="Rdd88d6ddbd04483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77f46f201dd4d9f" /><Relationship Type="http://schemas.openxmlformats.org/officeDocument/2006/relationships/notesSlide" Target="/ppt/notesSlides/notesSlide30.xml" Id="Rd15b08759e39474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Customer implementation guide</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OCI secondary DNS upstream migration</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AD75FED6-38D0-DE9C-92C0-6E7FA635581C}" type="slidenum">
              <a:rPr sz="900">
                <a:solidFill>
                  <a:srgbClr val="8B8580"/>
                </a:solidFill>
                <a:latin typeface="Oracle Sans Tab"/>
                <a:ea typeface="Oracle Sans Tab"/>
                <a:cs typeface="Oracle Sans Tab"/>
              </a:rPr>
              <a:t>1</a:t>
            </a:fld>
            <a:endParaRPr/>
          </a:p>
        </p:txBody>
      </p:sp>
      <p:sp>
        <p:nvSpPr>
          <p:cNvPr id="7" name="cover-subject">
            <a:extLst xmlns:a="http://schemas.openxmlformats.org/drawingml/2006/main">
              <a:ext uri="{FF2B5EF4-FFF2-40B4-BE49-F238E27FC236}">
                <a16:creationId xmlns:a16="http://schemas.microsoft.com/office/drawing/2014/main" id="{3413F431-59F9-425C-80F7-805B18ABB2A1}"/>
              </a:ext>
            </a:extLst>
          </p:cNvPr>
          <p:cNvSpPr>
            <a:spLocks xmlns:a="http://schemas.openxmlformats.org/drawingml/2006/main" noGrp="1"/>
          </p:cNvSpPr>
          <p:nvPr/>
        </p:nvSpPr>
        <p:spPr>
          <a:xfrm xmlns:a="http://schemas.openxmlformats.org/drawingml/2006/main">
            <a:off x="762000" y="23336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Bulk upstream updates with per-zone TSIG</a:t>
            </a:r>
          </a:p>
        </p:txBody>
      </p:sp>
      <p:sp>
        <p:nvSpPr>
          <p:cNvPr id="8" name="cover-summary">
            <a:extLst xmlns:a="http://schemas.openxmlformats.org/drawingml/2006/main">
              <a:ext uri="{FF2B5EF4-FFF2-40B4-BE49-F238E27FC236}">
                <a16:creationId xmlns:a16="http://schemas.microsoft.com/office/drawing/2014/main" id="{8E42E272-8DCA-4A2D-B2BC-5D23E9FE2A2F}"/>
              </a:ext>
            </a:extLst>
          </p:cNvPr>
          <p:cNvSpPr>
            <a:spLocks xmlns:a="http://schemas.openxmlformats.org/drawingml/2006/main" noGrp="1"/>
          </p:cNvSpPr>
          <p:nvPr/>
        </p:nvSpPr>
        <p:spPr>
          <a:xfrm xmlns:a="http://schemas.openxmlformats.org/drawingml/2006/main">
            <a:off x="762000" y="319087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Reusable Python workflow for customer DNS operations</a:t>
            </a:r>
          </a:p>
        </p:txBody>
      </p:sp>
      <p:sp>
        <p:nvSpPr>
          <p:cNvPr id="9" name="cover-date">
            <a:extLst xmlns:a="http://schemas.openxmlformats.org/drawingml/2006/main">
              <a:ext uri="{FF2B5EF4-FFF2-40B4-BE49-F238E27FC236}">
                <a16:creationId xmlns:a16="http://schemas.microsoft.com/office/drawing/2014/main" id="{DF72905E-4C4E-4254-856A-7F0D3A4163C6}"/>
              </a:ext>
            </a:extLst>
          </p:cNvPr>
          <p:cNvSpPr>
            <a:spLocks xmlns:a="http://schemas.openxmlformats.org/drawingml/2006/main" noGrp="1"/>
          </p:cNvSpPr>
          <p:nvPr/>
        </p:nvSpPr>
        <p:spPr>
          <a:xfrm xmlns:a="http://schemas.openxmlformats.org/drawingml/2006/main">
            <a:off x="762000" y="52863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6B625C"/>
                </a:solidFill>
                <a:latin typeface="Oracle Sans Tab"/>
                <a:ea typeface="Oracle Sans Tab"/>
                <a:cs typeface="Oracle Sans Tab"/>
              </a:defRPr>
            </a:defPPr>
          </a:lstStyle>
          <a:p xmlns:a="http://schemas.openxmlformats.org/drawingml/2006/main">
            <a:pPr>
              <a:defRPr sz="2000" b="0">
                <a:solidFill>
                  <a:srgbClr val="6B625C"/>
                </a:solidFill>
                <a:latin typeface="Oracle Sans Tab"/>
                <a:ea typeface="Oracle Sans Tab"/>
                <a:cs typeface="Oracle Sans Tab"/>
              </a:defRPr>
            </a:pPr>
            <a:r>
              <a:rPr sz="2000" b="0">
                <a:solidFill>
                  <a:srgbClr val="6B625C"/>
                </a:solidFill>
                <a:latin typeface="Oracle Sans Tab"/>
                <a:ea typeface="Oracle Sans Tab"/>
                <a:cs typeface="Oracle Sans Tab"/>
              </a:rPr>
              <a:t>15 October 2026</a:t>
            </a:r>
          </a:p>
        </p:txBody>
      </p:sp>
    </p:spTree>
    <p:extLst>
      <p:ext uri="{BB962C8B-B14F-4D97-AF65-F5344CB8AC3E}">
        <p14:creationId xmlns:p14="http://schemas.microsoft.com/office/powerpoint/2010/main" val="25321160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Controlled batch updates across selected secondary zones</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Customer migration scope</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E2598689-54C9-18A7-3A19-ED76AA08988F}" type="slidenum">
              <a:rPr sz="900">
                <a:solidFill>
                  <a:srgbClr val="8B8580"/>
                </a:solidFill>
                <a:latin typeface="Oracle Sans Tab"/>
                <a:ea typeface="Oracle Sans Tab"/>
                <a:cs typeface="Oracle Sans Tab"/>
              </a:rPr>
              <a:t>2</a:t>
            </a:fld>
            <a:endParaRPr/>
          </a:p>
        </p:txBody>
      </p:sp>
      <p:sp>
        <p:nvSpPr>
          <p:cNvPr id="7" name="label-0">
            <a:extLst xmlns:a="http://schemas.openxmlformats.org/drawingml/2006/main">
              <a:ext uri="{FF2B5EF4-FFF2-40B4-BE49-F238E27FC236}">
                <a16:creationId xmlns:a16="http://schemas.microsoft.com/office/drawing/2014/main" id="{F6FAB221-2201-419C-A3DC-275F858CC11E}"/>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Selection</a:t>
            </a:r>
          </a:p>
        </p:txBody>
      </p:sp>
      <p:sp>
        <p:nvSpPr>
          <p:cNvPr id="8" name="body-0">
            <a:extLst xmlns:a="http://schemas.openxmlformats.org/drawingml/2006/main">
              <a:ext uri="{FF2B5EF4-FFF2-40B4-BE49-F238E27FC236}">
                <a16:creationId xmlns:a16="http://schemas.microsoft.com/office/drawing/2014/main" id="{8C89E1D1-8DB3-41EC-B037-8CA79769050F}"/>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A reviewed OCID file defines the exact zones in each batch.</a:t>
            </a:r>
          </a:p>
        </p:txBody>
      </p:sp>
      <p:sp>
        <p:nvSpPr>
          <p:cNvPr id="9" name="label-1">
            <a:extLst xmlns:a="http://schemas.openxmlformats.org/drawingml/2006/main">
              <a:ext uri="{FF2B5EF4-FFF2-40B4-BE49-F238E27FC236}">
                <a16:creationId xmlns:a16="http://schemas.microsoft.com/office/drawing/2014/main" id="{1610840F-9BD5-418D-A709-8039DE7A1D89}"/>
              </a:ext>
            </a:extLst>
          </p:cNvPr>
          <p:cNvSpPr>
            <a:spLocks xmlns:a="http://schemas.openxmlformats.org/drawingml/2006/main" noGrp="1"/>
          </p:cNvSpPr>
          <p:nvPr/>
        </p:nvSpPr>
        <p:spPr>
          <a:xfrm xmlns:a="http://schemas.openxmlformats.org/drawingml/2006/main">
            <a:off x="762000" y="2705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Migration</a:t>
            </a:r>
          </a:p>
        </p:txBody>
      </p:sp>
      <p:sp>
        <p:nvSpPr>
          <p:cNvPr id="10" name="body-1">
            <a:extLst xmlns:a="http://schemas.openxmlformats.org/drawingml/2006/main">
              <a:ext uri="{FF2B5EF4-FFF2-40B4-BE49-F238E27FC236}">
                <a16:creationId xmlns:a16="http://schemas.microsoft.com/office/drawing/2014/main" id="{E8AB35B6-7E18-457E-BEA3-EB1D8C0462FA}"/>
              </a:ext>
            </a:extLst>
          </p:cNvPr>
          <p:cNvSpPr>
            <a:spLocks xmlns:a="http://schemas.openxmlformats.org/drawingml/2006/main" noGrp="1"/>
          </p:cNvSpPr>
          <p:nvPr/>
        </p:nvSpPr>
        <p:spPr>
          <a:xfrm xmlns:a="http://schemas.openxmlformats.org/drawingml/2006/main">
            <a:off x="3448050" y="2705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Add the target during overlap, then remove the source separately.</a:t>
            </a:r>
          </a:p>
        </p:txBody>
      </p:sp>
      <p:sp>
        <p:nvSpPr>
          <p:cNvPr id="11" name="label-2">
            <a:extLst xmlns:a="http://schemas.openxmlformats.org/drawingml/2006/main">
              <a:ext uri="{FF2B5EF4-FFF2-40B4-BE49-F238E27FC236}">
                <a16:creationId xmlns:a16="http://schemas.microsoft.com/office/drawing/2014/main" id="{DF140878-1CDD-4AF1-9037-3B53E0FA3E62}"/>
              </a:ext>
            </a:extLst>
          </p:cNvPr>
          <p:cNvSpPr>
            <a:spLocks xmlns:a="http://schemas.openxmlformats.org/drawingml/2006/main" noGrp="1"/>
          </p:cNvSpPr>
          <p:nvPr/>
        </p:nvSpPr>
        <p:spPr>
          <a:xfrm xmlns:a="http://schemas.openxmlformats.org/drawingml/2006/main">
            <a:off x="762000" y="3657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Validation</a:t>
            </a:r>
          </a:p>
        </p:txBody>
      </p:sp>
      <p:sp>
        <p:nvSpPr>
          <p:cNvPr id="12" name="body-2">
            <a:extLst xmlns:a="http://schemas.openxmlformats.org/drawingml/2006/main">
              <a:ext uri="{FF2B5EF4-FFF2-40B4-BE49-F238E27FC236}">
                <a16:creationId xmlns:a16="http://schemas.microsoft.com/office/drawing/2014/main" id="{F4ED9C8A-A8FC-4686-81AD-C478316F293B}"/>
              </a:ext>
            </a:extLst>
          </p:cNvPr>
          <p:cNvSpPr>
            <a:spLocks xmlns:a="http://schemas.openxmlformats.org/drawingml/2006/main" noGrp="1"/>
          </p:cNvSpPr>
          <p:nvPr/>
        </p:nvSpPr>
        <p:spPr>
          <a:xfrm xmlns:a="http://schemas.openxmlformats.org/drawingml/2006/main">
            <a:off x="3448050" y="3657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Fresh records and transfer evidence support each change gate.</a:t>
            </a:r>
          </a:p>
        </p:txBody>
      </p:sp>
      <p:sp>
        <p:nvSpPr>
          <p:cNvPr id="13" name="label-3">
            <a:extLst xmlns:a="http://schemas.openxmlformats.org/drawingml/2006/main">
              <a:ext uri="{FF2B5EF4-FFF2-40B4-BE49-F238E27FC236}">
                <a16:creationId xmlns:a16="http://schemas.microsoft.com/office/drawing/2014/main" id="{5481B2B5-F779-4D64-9C57-80285AA267A9}"/>
              </a:ext>
            </a:extLst>
          </p:cNvPr>
          <p:cNvSpPr>
            <a:spLocks xmlns:a="http://schemas.openxmlformats.org/drawingml/2006/main" noGrp="1"/>
          </p:cNvSpPr>
          <p:nvPr/>
        </p:nvSpPr>
        <p:spPr>
          <a:xfrm xmlns:a="http://schemas.openxmlformats.org/drawingml/2006/main">
            <a:off x="762000" y="4610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Recovery</a:t>
            </a:r>
          </a:p>
        </p:txBody>
      </p:sp>
      <p:sp>
        <p:nvSpPr>
          <p:cNvPr id="14" name="body-3">
            <a:extLst xmlns:a="http://schemas.openxmlformats.org/drawingml/2006/main">
              <a:ext uri="{FF2B5EF4-FFF2-40B4-BE49-F238E27FC236}">
                <a16:creationId xmlns:a16="http://schemas.microsoft.com/office/drawing/2014/main" id="{EECBA4F6-DCB6-434E-81D1-A1FFE883A635}"/>
              </a:ext>
            </a:extLst>
          </p:cNvPr>
          <p:cNvSpPr>
            <a:spLocks xmlns:a="http://schemas.openxmlformats.org/drawingml/2006/main" noGrp="1"/>
          </p:cNvSpPr>
          <p:nvPr/>
        </p:nvSpPr>
        <p:spPr>
          <a:xfrm xmlns:a="http://schemas.openxmlformats.org/drawingml/2006/main">
            <a:off x="3448050" y="4610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Original settings and per-zone results support recovery.</a:t>
            </a:r>
          </a:p>
        </p:txBody>
      </p:sp>
    </p:spTree>
    <p:extLst>
      <p:ext uri="{BB962C8B-B14F-4D97-AF65-F5344CB8AC3E}">
        <p14:creationId xmlns:p14="http://schemas.microsoft.com/office/powerpoint/2010/main" val="253211606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Record ownership and secondary service roles</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DNS responsibilities</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202359C0-8A7A-196E-DD58-8E6569619F09}" type="slidenum">
              <a:rPr sz="900">
                <a:solidFill>
                  <a:srgbClr val="8B8580"/>
                </a:solidFill>
                <a:latin typeface="Oracle Sans Tab"/>
                <a:ea typeface="Oracle Sans Tab"/>
                <a:cs typeface="Oracle Sans Tab"/>
              </a:rPr>
              <a:t>3</a:t>
            </a:fld>
            <a:endParaRPr/>
          </a:p>
        </p:txBody>
      </p:sp>
      <p:graphicFrame>
        <p:nvGraphicFramePr>
          <p:cNvPr id="7" name="">
            <a:extLst xmlns:a="http://schemas.openxmlformats.org/drawingml/2006/main">
              <a:ext uri="{FF2B5EF4-FFF2-40B4-BE49-F238E27FC236}">
                <a16:creationId xmlns:a16="http://schemas.microsoft.com/office/drawing/2014/main" id="{2DE6DF64-0616-4927-BE0E-E0BF29C74BD4}"/>
              </a:ext>
            </a:extLst>
          </p:cNvPr>
          <p:cNvGraphicFramePr/>
          <p:nvPr/>
        </p:nvGraphicFramePr>
        <p:xfrm>
          <a:off xmlns:a="http://schemas.openxmlformats.org/drawingml/2006/main" x="762000" y="1714500"/>
          <a:ext xmlns:a="http://schemas.openxmlformats.org/drawingml/2006/main" cx="10668000" cy="3905250"/>
        </p:xfrm>
        <a:graphic xmlns:a="http://schemas.openxmlformats.org/drawingml/2006/main">
          <a:graphicData uri="http://schemas.openxmlformats.org/drawingml/2006/table">
            <a:tbl>
              <a:tblPr/>
              <a:tblGrid>
                <a:gridCol w="2476500"/>
                <a:gridCol w="8191500"/>
              </a:tblGrid>
              <a:tr h="781050">
                <a:tc>
                  <a:txBody>
                    <a:bodyPr>
                      <a:noAutofit/>
                    </a:bodyPr>
                    <a:lstStyle/>
                    <a:p>
                      <a:r>
                        <a:rPr sz="2000" b="1">
                          <a:solidFill>
                            <a:srgbClr val="312D2A"/>
                          </a:solidFill>
                          <a:latin typeface="Oracle Sans Tab"/>
                          <a:ea typeface="Oracle Sans Tab"/>
                          <a:cs typeface="Oracle Sans Tab"/>
                        </a:rPr>
                        <a:t>Component</a:t>
                      </a:r>
                    </a:p>
                  </a:txBody>
                  <a:tcPr marL="91440" marR="91440" marT="45720" marB="45720">
                    <a:lnL w="6668">
                      <a:solidFill>
                        <a:srgbClr val="D9D4CF"/>
                      </a:solidFill>
                      <a:prstDash val="solid"/>
                    </a:lnL>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c>
                  <a:txBody>
                    <a:bodyPr>
                      <a:noAutofit/>
                    </a:bodyPr>
                    <a:lstStyle/>
                    <a:p>
                      <a:r>
                        <a:rPr sz="2000" b="1">
                          <a:solidFill>
                            <a:srgbClr val="312D2A"/>
                          </a:solidFill>
                          <a:latin typeface="Oracle Sans Tab"/>
                          <a:ea typeface="Oracle Sans Tab"/>
                          <a:cs typeface="Oracle Sans Tab"/>
                        </a:rPr>
                        <a:t>Responsibility</a:t>
                      </a:r>
                    </a:p>
                  </a:txBody>
                  <a:tcPr marL="91440" marR="91440" marT="45720" marB="45720">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r>
              <a:tr h="781050">
                <a:tc>
                  <a:txBody>
                    <a:bodyPr>
                      <a:noAutofit/>
                    </a:bodyPr>
                    <a:lstStyle/>
                    <a:p>
                      <a:r>
                        <a:rPr sz="2000" b="0">
                          <a:solidFill>
                            <a:srgbClr val="312D2A"/>
                          </a:solidFill>
                          <a:latin typeface="Oracle Sans Tab"/>
                          <a:ea typeface="Oracle Sans Tab"/>
                          <a:cs typeface="Oracle Sans Tab"/>
                        </a:rPr>
                        <a:t>Source upstream</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Maintains the current zone data and SOA serials</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Target upstream</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Serves matching records with each zone’s TSIG key</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OCI secondary DNS</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Pulls zone contents and answers authoritative queries</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Operator</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Runs scripts and reviews change and transfer evidence</a:t>
                      </a:r>
                    </a:p>
                  </a:txBody>
                  <a:tcPr marL="91440" marR="91440" marT="45720" marB="45720">
                    <a:lnR w="6668">
                      <a:solidFill>
                        <a:srgbClr val="D9D4CF"/>
                      </a:solidFill>
                      <a:prstDash val="solid"/>
                    </a:lnR>
                    <a:lnB w="6668">
                      <a:solidFill>
                        <a:srgbClr val="D9D4CF"/>
                      </a:solidFill>
                      <a:prstDash val="solid"/>
                    </a:lnB>
                    <a:solidFill>
                      <a:srgbClr val="FCFBFA"/>
                    </a:solidFill>
                  </a:tcPr>
                </a:tc>
              </a:tr>
            </a:tbl>
          </a:graphicData>
        </a:graphic>
      </p:graphicFrame>
    </p:spTree>
    <p:extLst>
      <p:ext uri="{BB962C8B-B14F-4D97-AF65-F5344CB8AC3E}">
        <p14:creationId xmlns:p14="http://schemas.microsoft.com/office/powerpoint/2010/main" val="253211606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A separate verification gate follows each configuration change</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Migration stages</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EFD6AB9A-5F9E-5F59-51AB-3C8734130965}" type="slidenum">
              <a:rPr sz="900">
                <a:solidFill>
                  <a:srgbClr val="8B8580"/>
                </a:solidFill>
                <a:latin typeface="Oracle Sans Tab"/>
                <a:ea typeface="Oracle Sans Tab"/>
                <a:cs typeface="Oracle Sans Tab"/>
              </a:rPr>
              <a:t>4</a:t>
            </a:fld>
            <a:endParaRPr/>
          </a:p>
        </p:txBody>
      </p:sp>
      <p:graphicFrame>
        <p:nvGraphicFramePr>
          <p:cNvPr id="7" name="">
            <a:extLst xmlns:a="http://schemas.openxmlformats.org/drawingml/2006/main">
              <a:ext uri="{FF2B5EF4-FFF2-40B4-BE49-F238E27FC236}">
                <a16:creationId xmlns:a16="http://schemas.microsoft.com/office/drawing/2014/main" id="{1C6DD2A5-CEC6-4994-82EA-4539ADB7C920}"/>
              </a:ext>
            </a:extLst>
          </p:cNvPr>
          <p:cNvGraphicFramePr/>
          <p:nvPr/>
        </p:nvGraphicFramePr>
        <p:xfrm>
          <a:off xmlns:a="http://schemas.openxmlformats.org/drawingml/2006/main" x="762000" y="1714500"/>
          <a:ext xmlns:a="http://schemas.openxmlformats.org/drawingml/2006/main" cx="10668000" cy="3124200"/>
        </p:xfrm>
        <a:graphic xmlns:a="http://schemas.openxmlformats.org/drawingml/2006/main">
          <a:graphicData uri="http://schemas.openxmlformats.org/drawingml/2006/table">
            <a:tbl>
              <a:tblPr/>
              <a:tblGrid>
                <a:gridCol w="2381250"/>
                <a:gridCol w="3238500"/>
                <a:gridCol w="5048250"/>
              </a:tblGrid>
              <a:tr h="781050">
                <a:tc>
                  <a:txBody>
                    <a:bodyPr>
                      <a:noAutofit/>
                    </a:bodyPr>
                    <a:lstStyle/>
                    <a:p>
                      <a:r>
                        <a:rPr sz="2000" b="1">
                          <a:solidFill>
                            <a:srgbClr val="312D2A"/>
                          </a:solidFill>
                          <a:latin typeface="Oracle Sans Tab"/>
                          <a:ea typeface="Oracle Sans Tab"/>
                          <a:cs typeface="Oracle Sans Tab"/>
                        </a:rPr>
                        <a:t>Stage</a:t>
                      </a:r>
                    </a:p>
                  </a:txBody>
                  <a:tcPr marL="91440" marR="91440" marT="45720" marB="45720">
                    <a:lnL w="6668">
                      <a:solidFill>
                        <a:srgbClr val="D9D4CF"/>
                      </a:solidFill>
                      <a:prstDash val="solid"/>
                    </a:lnL>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c>
                  <a:txBody>
                    <a:bodyPr>
                      <a:noAutofit/>
                    </a:bodyPr>
                    <a:lstStyle/>
                    <a:p>
                      <a:r>
                        <a:rPr sz="2000" b="1">
                          <a:solidFill>
                            <a:srgbClr val="312D2A"/>
                          </a:solidFill>
                          <a:latin typeface="Oracle Sans Tab"/>
                          <a:ea typeface="Oracle Sans Tab"/>
                          <a:cs typeface="Oracle Sans Tab"/>
                        </a:rPr>
                        <a:t>Upstream configuration</a:t>
                      </a:r>
                    </a:p>
                  </a:txBody>
                  <a:tcPr marL="91440" marR="91440" marT="45720" marB="45720">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c>
                  <a:txBody>
                    <a:bodyPr>
                      <a:noAutofit/>
                    </a:bodyPr>
                    <a:lstStyle/>
                    <a:p>
                      <a:r>
                        <a:rPr sz="2000" b="1">
                          <a:solidFill>
                            <a:srgbClr val="312D2A"/>
                          </a:solidFill>
                          <a:latin typeface="Oracle Sans Tab"/>
                          <a:ea typeface="Oracle Sans Tab"/>
                          <a:cs typeface="Oracle Sans Tab"/>
                        </a:rPr>
                        <a:t>Customer gate</a:t>
                      </a:r>
                    </a:p>
                  </a:txBody>
                  <a:tcPr marL="91440" marR="91440" marT="45720" marB="45720">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r>
              <a:tr h="781050">
                <a:tc>
                  <a:txBody>
                    <a:bodyPr>
                      <a:noAutofit/>
                    </a:bodyPr>
                    <a:lstStyle/>
                    <a:p>
                      <a:r>
                        <a:rPr sz="2000" b="0">
                          <a:solidFill>
                            <a:srgbClr val="312D2A"/>
                          </a:solidFill>
                          <a:latin typeface="Oracle Sans Tab"/>
                          <a:ea typeface="Oracle Sans Tab"/>
                          <a:cs typeface="Oracle Sans Tab"/>
                        </a:rPr>
                        <a:t>Baseline</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Source</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Target data and TSIG readiness</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Phase 2</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Source and target</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Fresh data and target transfer checks</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Phase 3</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Target</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Another fresh update and verification</a:t>
                      </a:r>
                    </a:p>
                  </a:txBody>
                  <a:tcPr marL="91440" marR="91440" marT="45720" marB="45720">
                    <a:lnR w="6668">
                      <a:solidFill>
                        <a:srgbClr val="D9D4CF"/>
                      </a:solidFill>
                      <a:prstDash val="solid"/>
                    </a:lnR>
                    <a:lnB w="6668">
                      <a:solidFill>
                        <a:srgbClr val="D9D4CF"/>
                      </a:solidFill>
                      <a:prstDash val="solid"/>
                    </a:lnB>
                    <a:solidFill>
                      <a:srgbClr val="FCFBFA"/>
                    </a:solidFill>
                  </a:tcPr>
                </a:tc>
              </a:tr>
            </a:tbl>
          </a:graphicData>
        </a:graphic>
      </p:graphicFrame>
    </p:spTree>
    <p:extLst>
      <p:ext uri="{BB962C8B-B14F-4D97-AF65-F5344CB8AC3E}">
        <p14:creationId xmlns:p14="http://schemas.microsoft.com/office/powerpoint/2010/main" val="2532116061"/>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cxnSp>
        <p:nvCxnSpPr>
          <p:cNvPr id="45" name="">
            <a:extLst>
              <a:ext uri="{FF2B5EF4-FFF2-40B4-BE49-F238E27FC236}">
                <ns2:creationId id="{C55E1ACA-BBAC-4FE5-8D42-0F9A2474D677}"/>
              </a:ext>
            </a:extLst>
          </p:cNvPr>
          <p:cNvCxnSpPr>
            <a:stCxn id="43" idx="0"/>
            <a:endCxn id="44" idx="2"/>
          </p:cNvCxnSpPr>
          <p:nvPr/>
        </p:nvCxnSpPr>
        <p:spPr>
          <a:xfrm flipV="1">
            <a:off x="8496300" y="4829175"/>
            <a:ext cx="0" cy="438150"/>
          </a:xfrm>
          <a:prstGeom prst="straightConnector1">
            <a:avLst/>
          </a:prstGeom>
          <a:ln w="16193">
            <a:solidFill>
              <a:srgbClr val="6B625C"/>
            </a:solidFill>
            <a:prstDash val="dash"/>
            <a:tailEnd type="triangle" w="med" len="med"/>
          </a:ln>
        </p:spPr>
      </p:cxnSp>
      <p:cxnSp>
        <p:nvCxnSpPr>
          <p:cNvPr id="41" name="">
            <a:extLst>
              <a:ext uri="{FF2B5EF4-FFF2-40B4-BE49-F238E27FC236}">
                <ns2:creationId id="{65C56181-0AA5-4EB7-B029-54F710ACCC0D}"/>
              </a:ext>
            </a:extLst>
          </p:cNvPr>
          <p:cNvCxnSpPr>
            <a:stCxn id="39" idx="3"/>
            <a:endCxn id="40" idx="1"/>
          </p:cNvCxnSpPr>
          <p:nvPr/>
        </p:nvCxnSpPr>
        <p:spPr>
          <a:xfrm>
            <a:off x="3343275" y="5543550"/>
            <a:ext cx="3886200" cy="0"/>
          </a:xfrm>
          <a:prstGeom prst="straightConnector1">
            <a:avLst/>
          </a:prstGeom>
          <a:ln w="16193">
            <a:solidFill>
              <a:srgbClr val="6B625C"/>
            </a:solidFill>
            <a:prstDash val="dash"/>
            <a:tailEnd type="triangle" w="med" len="med"/>
          </a:ln>
        </p:spPr>
      </p:cxnSp>
      <p:cxnSp>
        <p:nvCxnSpPr>
          <p:cNvPr id="34" name="">
            <a:extLst>
              <a:ext uri="{FF2B5EF4-FFF2-40B4-BE49-F238E27FC236}">
                <ns2:creationId id="{082C90CF-3EA2-4AE8-BF43-9182985720F9}"/>
              </a:ext>
            </a:extLst>
          </p:cNvPr>
          <p:cNvCxnSpPr>
            <a:stCxn id="32" idx="3"/>
            <a:endCxn id="33" idx="1"/>
          </p:cNvCxnSpPr>
          <p:nvPr/>
        </p:nvCxnSpPr>
        <p:spPr>
          <a:xfrm>
            <a:off x="3343275" y="4619625"/>
            <a:ext cx="3886200" cy="0"/>
          </a:xfrm>
          <a:prstGeom prst="straightConnector1">
            <a:avLst/>
          </a:prstGeom>
          <a:ln w="28575">
            <a:solidFill>
              <a:srgbClr val="467553"/>
            </a:solidFill>
            <a:prstDash val="solid"/>
            <a:tailEnd type="triangle" w="med" len="med"/>
          </a:ln>
        </p:spPr>
      </p:cxnSp>
      <p:cxnSp>
        <p:nvCxnSpPr>
          <p:cNvPr id="31" name="">
            <a:extLst>
              <a:ext uri="{FF2B5EF4-FFF2-40B4-BE49-F238E27FC236}">
                <ns2:creationId id="{89D3F00D-20DF-4ED7-8054-2A3A2ADD9C50}"/>
              </a:ext>
            </a:extLst>
          </p:cNvPr>
          <p:cNvCxnSpPr>
            <a:stCxn id="29" idx="1"/>
            <a:endCxn id="30" idx="3"/>
          </p:cNvCxnSpPr>
          <p:nvPr/>
        </p:nvCxnSpPr>
        <p:spPr>
          <a:xfrm flipH="1">
            <a:off x="3343275" y="4162425"/>
            <a:ext cx="3886200" cy="0"/>
          </a:xfrm>
          <a:prstGeom prst="straightConnector1">
            <a:avLst/>
          </a:prstGeom>
          <a:ln w="22860">
            <a:solidFill>
              <a:srgbClr val="2C6176"/>
            </a:solidFill>
            <a:prstDash val="solid"/>
            <a:tailEnd type="triangle" w="med" len="med"/>
          </a:ln>
        </p:spPr>
      </p:cxnSp>
      <p:cxnSp>
        <p:nvCxnSpPr>
          <p:cNvPr id="26" name="">
            <a:extLst>
              <a:ext uri="{FF2B5EF4-FFF2-40B4-BE49-F238E27FC236}">
                <ns2:creationId id="{F0F18FC6-E958-4F06-8A1D-B34B2B814848}"/>
              </a:ext>
            </a:extLst>
          </p:cNvPr>
          <p:cNvCxnSpPr>
            <a:stCxn id="24" idx="3"/>
            <a:endCxn id="25" idx="1"/>
          </p:cNvCxnSpPr>
          <p:nvPr/>
        </p:nvCxnSpPr>
        <p:spPr>
          <a:xfrm>
            <a:off x="3343275" y="3000375"/>
            <a:ext cx="3886200" cy="0"/>
          </a:xfrm>
          <a:prstGeom prst="straightConnector1">
            <a:avLst/>
          </a:prstGeom>
          <a:ln w="28575">
            <a:solidFill>
              <a:srgbClr val="467553"/>
            </a:solidFill>
            <a:prstDash val="solid"/>
            <a:tailEnd type="triangle" w="med" len="med"/>
          </a:ln>
        </p:spPr>
      </p:cxnSp>
      <p:cxnSp>
        <p:nvCxnSpPr>
          <p:cNvPr id="23" name="">
            <a:extLst>
              <a:ext uri="{FF2B5EF4-FFF2-40B4-BE49-F238E27FC236}">
                <ns2:creationId id="{D35FDAA2-E6CF-447C-B3D4-9496C84D0242}"/>
              </a:ext>
            </a:extLst>
          </p:cNvPr>
          <p:cNvCxnSpPr>
            <a:stCxn id="21" idx="1"/>
            <a:endCxn id="22" idx="3"/>
          </p:cNvCxnSpPr>
          <p:nvPr/>
        </p:nvCxnSpPr>
        <p:spPr>
          <a:xfrm flipH="1">
            <a:off x="3343275" y="2543175"/>
            <a:ext cx="3886200" cy="0"/>
          </a:xfrm>
          <a:prstGeom prst="straightConnector1">
            <a:avLst/>
          </a:prstGeom>
          <a:ln w="22860">
            <a:solidFill>
              <a:srgbClr val="2C6176"/>
            </a:solidFill>
            <a:prstDash val="solid"/>
            <a:tailEnd type="triangle" w="med" len="med"/>
          </a:ln>
        </p:spPr>
      </p:cxnSp>
      <p:cxnSp>
        <p:nvCxnSpPr>
          <p:cNvPr id="20" name="">
            <a:extLst>
              <a:ext uri="{FF2B5EF4-FFF2-40B4-BE49-F238E27FC236}">
                <ns2:creationId id="{CCBEC5A0-6B56-4464-A080-EB520535B490}"/>
              </a:ext>
            </a:extLst>
          </p:cNvPr>
          <p:cNvCxnSpPr>
            <a:stCxn id="18" idx="1"/>
            <a:endCxn id="19" idx="3"/>
          </p:cNvCxnSpPr>
          <p:nvPr/>
        </p:nvCxnSpPr>
        <p:spPr>
          <a:xfrm flipH="1">
            <a:off x="9772650" y="3733800"/>
            <a:ext cx="504825" cy="0"/>
          </a:xfrm>
          <a:prstGeom prst="straightConnector1">
            <a:avLst/>
          </a:prstGeom>
          <a:ln w="19050">
            <a:solidFill>
              <a:srgbClr val="2C6176"/>
            </a:solidFill>
            <a:prstDash val="solid"/>
            <a:tailEnd type="triangle" w="med" len="med"/>
          </a:ln>
        </p:spPr>
      </p:cxnSp>
      <p:sp>
        <p:nvSpPr>
          <p:cNvPr id="6" name="Text Placeholder 5">
            <a:extLst>
              <a:ext uri="{FF2B5EF4-FFF2-40B4-BE49-F238E27FC236}">
                <ns2:creationId id="{7DCC20AB-A861-EF0B-716D-B516488480DE}"/>
              </a:ext>
            </a:extLst>
          </p:cNvPr>
          <p:cNvSpPr>
            <a:spLocks noGrp="1"/>
          </p:cNvSpPr>
          <p:nvPr>
            <p:ph type="body" idx="11"/>
          </p:nvPr>
        </p:nvSpPr>
        <p:spPr/>
        <p:txBody>
          <a:bodyPr lIns="0" tIns="0" rIns="0" bIns="0">
            <a:noAutofit/>
          </a:bodyPr>
          <a:lstStyle>
            <a:defPPr>
              <a:defRPr sz="2000">
                <a:solidFill>
                  <a:srgbClr val="312D2A"/>
                </a:solidFill>
                <a:latin typeface="Oracle Sans Tab"/>
                <a:ea typeface="Oracle Sans Tab"/>
                <a:cs typeface="Oracle Sans Tab"/>
              </a:defRPr>
            </a:defPPr>
          </a:lstStyle>
          <a:p>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Click the phase tabs in Slide Show to follow the traffic paths</a:t>
            </a:r>
            <a:endParaRPr/>
          </a:p>
        </p:txBody>
      </p:sp>
      <p:sp>
        <p:nvSpPr>
          <p:cNvPr id="5" name="Title 4">
            <a:extLst>
              <a:ext uri="{FF2B5EF4-FFF2-40B4-BE49-F238E27FC236}">
                <ns2:creationId id="{0A0188C5-9A9C-7F7C-D38B-8623022BA8A4}"/>
              </a:ext>
            </a:extLst>
          </p:cNvPr>
          <p:cNvSpPr>
            <a:spLocks noGrp="1"/>
          </p:cNvSpPr>
          <p:nvPr>
            <p:ph type="title" idx="0"/>
          </p:nvPr>
        </p:nvSpPr>
        <p:spPr/>
        <p:txBody>
          <a:bodyPr lIns="0" tIns="0" rIns="0" bIns="0" anchor="b">
            <a:noAutofit/>
          </a:bodyPr>
          <a:lstStyle>
            <a:defPPr>
              <a:defRPr sz="2400" b="1">
                <a:solidFill>
                  <a:srgbClr val="312D2A"/>
                </a:solidFill>
                <a:latin typeface="Oracle Sans Tab"/>
                <a:ea typeface="Oracle Sans Tab"/>
                <a:cs typeface="Oracle Sans Tab"/>
              </a:defRPr>
            </a:defPPr>
          </a:lstStyle>
          <a:p>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HLD: migration flow</a:t>
            </a:r>
            <a:endParaRPr/>
          </a:p>
        </p:txBody>
      </p:sp>
      <p:sp>
        <p:nvSpPr>
          <p:cNvPr id="3" name="Footer Placeholder 2">
            <a:extLst>
              <a:ext uri="{FF2B5EF4-FFF2-40B4-BE49-F238E27FC236}">
                <ns2:creationId id="{4C70B9F6-B0F3-9ED9-FECE-444AC2468B27}"/>
              </a:ext>
            </a:extLst>
          </p:cNvPr>
          <p:cNvSpPr>
            <a:spLocks noGrp="1"/>
          </p:cNvSpPr>
          <p:nvPr>
            <p:ph type="ftr" idx="13"/>
          </p:nvPr>
        </p:nvSpPr>
        <p:spPr/>
        <p:txBody>
          <a:bodyPr lIns="0" tIns="0" rIns="0" bIns="0" anchor="ctr"/>
          <a:lstStyle>
            <a:defPPr>
              <a:defRPr sz="900">
                <a:solidFill>
                  <a:srgbClr val="8B8580"/>
                </a:solidFill>
                <a:latin typeface="Oracle Sans Tab"/>
                <a:ea typeface="Oracle Sans Tab"/>
                <a:cs typeface="Oracle Sans Tab"/>
              </a:defRPr>
            </a:defPPr>
          </a:lstStyle>
          <a:p>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a:ext uri="{FF2B5EF4-FFF2-40B4-BE49-F238E27FC236}">
                <ns2:creationId id="{D6084088-C3B5-30CC-7C65-6B1C87B1C5BF}"/>
              </a:ext>
            </a:extLst>
          </p:cNvPr>
          <p:cNvSpPr>
            <a:spLocks noGrp="1"/>
          </p:cNvSpPr>
          <p:nvPr>
            <p:ph type="sldNum" idx="14"/>
          </p:nvPr>
        </p:nvSpPr>
        <p:spPr/>
        <p:txBody>
          <a:bodyPr lIns="0" tIns="0" rIns="0" bIns="0" anchor="ctr"/>
          <a:lstStyle>
            <a:defPPr>
              <a:defRPr sz="900">
                <a:solidFill>
                  <a:srgbClr val="8B8580"/>
                </a:solidFill>
                <a:latin typeface="Oracle Sans Tab"/>
                <a:ea typeface="Oracle Sans Tab"/>
                <a:cs typeface="Oracle Sans Tab"/>
              </a:defRPr>
            </a:defPPr>
          </a:lstStyle>
          <a:p>
            <a:pPr>
              <a:defRPr sz="900">
                <a:solidFill>
                  <a:srgbClr val="8B8580"/>
                </a:solidFill>
                <a:latin typeface="Oracle Sans Tab"/>
                <a:ea typeface="Oracle Sans Tab"/>
                <a:cs typeface="Oracle Sans Tab"/>
              </a:defRPr>
            </a:pPr>
            <a:fld id="{EE5B3003-2C54-13C6-9832-7637201064DE}" type="slidenum">
              <a:rPr sz="900">
                <a:solidFill>
                  <a:srgbClr val="8B8580"/>
                </a:solidFill>
                <a:latin typeface="Oracle Sans Tab"/>
                <a:ea typeface="Oracle Sans Tab"/>
                <a:cs typeface="Oracle Sans Tab"/>
              </a:rPr>
              <a:t>5</a:t>
            </a:fld>
            <a:endParaRPr/>
          </a:p>
        </p:txBody>
      </p:sp>
      <p:sp>
        <p:nvSpPr>
          <p:cNvPr id="7" name="HLD-nav-5">
            <a:extLst>
              <a:ext uri="{FF2B5EF4-FFF2-40B4-BE49-F238E27FC236}">
                <ns2:creationId id="{C9092F9A-04EF-4924-8F06-2D00A4716248}"/>
              </a:ext>
            </a:extLst>
            <a:hlinkClick r:id="rIdHld1" action="ppaction://hlinksldjump" tooltip="Go to slide 5" history="1"/>
          </p:cNvPr>
          <p:cNvSpPr>
            <a:spLocks noGrp="1"/>
          </p:cNvSpPr>
          <p:nvPr/>
        </p:nvSpPr>
        <p:spPr>
          <a:xfrm>
            <a:off x="762000" y="1504950"/>
            <a:ext cx="2524125" cy="381000"/>
          </a:xfrm>
          <a:prstGeom prst="rect">
            <a:avLst/>
          </a:prstGeom>
          <a:solidFill>
            <a:srgbClr val="33553C"/>
          </a:solidFill>
          <a:ln w="13335">
            <a:solidFill>
              <a:srgbClr val="33553C"/>
            </a:solidFill>
          </a:ln>
        </p:spPr>
        <p:txBody>
          <a:bodyPr lIns="95250" tIns="76200" rIns="95250" bIns="76200" anchor="ctr">
            <a:noAutofit/>
          </a:bodyPr>
          <a:lstStyle>
            <a:defPPr algn="ctr">
              <a:defRPr sz="1650" b="0">
                <a:solidFill>
                  <a:srgbClr val="FFFFFF"/>
                </a:solidFill>
                <a:latin typeface="Oracle Sans Tab"/>
                <a:ea typeface="Oracle Sans Tab"/>
                <a:cs typeface="Oracle Sans Tab"/>
              </a:defRPr>
            </a:defPPr>
          </a:lstStyle>
          <a:p>
            <a:pPr algn="ctr">
              <a:defRPr sz="1650" b="0">
                <a:solidFill>
                  <a:srgbClr val="FFFFFF"/>
                </a:solidFill>
                <a:latin typeface="Oracle Sans Tab"/>
                <a:ea typeface="Oracle Sans Tab"/>
                <a:cs typeface="Oracle Sans Tab"/>
              </a:defRPr>
            </a:pPr>
            <a:r>
              <a:rPr sz="1650" b="0">
                <a:solidFill>
                  <a:srgbClr val="FFFFFF"/>
                </a:solidFill>
                <a:latin typeface="Oracle Sans Tab"/>
                <a:ea typeface="Oracle Sans Tab"/>
                <a:cs typeface="Oracle Sans Tab"/>
              </a:rPr>
              <a:t>HLD overview</a:t>
            </a:r>
          </a:p>
        </p:txBody>
      </p:sp>
      <p:sp>
        <p:nvSpPr>
          <p:cNvPr id="8" name="HLD-nav-6">
            <a:extLst>
              <a:ext uri="{FF2B5EF4-FFF2-40B4-BE49-F238E27FC236}">
                <ns2:creationId id="{4D8C9D07-597B-4A35-AD84-91423C6C3106}"/>
              </a:ext>
            </a:extLst>
            <a:hlinkClick r:id="rIdHld2" action="ppaction://hlinksldjump" tooltip="Go to slide 6" history="1"/>
          </p:cNvPr>
          <p:cNvSpPr>
            <a:spLocks noGrp="1"/>
          </p:cNvSpPr>
          <p:nvPr/>
        </p:nvSpPr>
        <p:spPr>
          <a:xfrm>
            <a:off x="3476625"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Phase 1 · source</a:t>
            </a:r>
          </a:p>
        </p:txBody>
      </p:sp>
      <p:sp>
        <p:nvSpPr>
          <p:cNvPr id="9" name="HLD-nav-7">
            <a:extLst>
              <a:ext uri="{FF2B5EF4-FFF2-40B4-BE49-F238E27FC236}">
                <ns2:creationId id="{DFEA6AE0-9A60-4A45-AC31-4DF69958DAC2}"/>
              </a:ext>
            </a:extLst>
            <a:hlinkClick r:id="rIdHld3" action="ppaction://hlinksldjump" tooltip="Go to slide 7" history="1"/>
          </p:cNvPr>
          <p:cNvSpPr>
            <a:spLocks noGrp="1"/>
          </p:cNvSpPr>
          <p:nvPr/>
        </p:nvSpPr>
        <p:spPr>
          <a:xfrm>
            <a:off x="6191250"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Phase 2 · both</a:t>
            </a:r>
          </a:p>
        </p:txBody>
      </p:sp>
      <p:sp>
        <p:nvSpPr>
          <p:cNvPr id="10" name="HLD-nav-8">
            <a:extLst>
              <a:ext uri="{FF2B5EF4-FFF2-40B4-BE49-F238E27FC236}">
                <ns2:creationId id="{D5F73FDB-0BAE-4279-BB81-FEC8F4A90F1B}"/>
              </a:ext>
            </a:extLst>
            <a:hlinkClick r:id="rIdHld4" action="ppaction://hlinksldjump" tooltip="Go to slide 8" history="1"/>
          </p:cNvPr>
          <p:cNvSpPr>
            <a:spLocks noGrp="1"/>
          </p:cNvSpPr>
          <p:nvPr/>
        </p:nvSpPr>
        <p:spPr>
          <a:xfrm>
            <a:off x="8905875"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Phase 3 · target</a:t>
            </a:r>
          </a:p>
        </p:txBody>
      </p:sp>
      <p:sp>
        <p:nvSpPr>
          <p:cNvPr id="11" name="hld-click-guide">
            <a:extLst>
              <a:ext uri="{FF2B5EF4-FFF2-40B4-BE49-F238E27FC236}">
                <ns2:creationId id="{FFBCE783-3E3A-49A6-AAEA-FC7D3FD9533E}"/>
              </a:ext>
            </a:extLst>
          </p:cNvPr>
          <p:cNvSpPr>
            <a:spLocks noGrp="1"/>
          </p:cNvSpPr>
          <p:nvPr/>
        </p:nvSpPr>
        <p:spPr>
          <a:xfrm>
            <a:off x="762000" y="1971675"/>
            <a:ext cx="10668000" cy="266700"/>
          </a:xfrm>
          <a:prstGeom prst="rect">
            <a:avLst/>
          </a:prstGeom>
          <a:noFill/>
          <a:ln w="0">
            <a:noFill/>
          </a:ln>
        </p:spPr>
        <p:txBody>
          <a:bodyPr lIns="0" tIns="0" rIns="0" bIns="0" anchor="t">
            <a:noAutofit/>
          </a:bodyPr>
          <a:lstStyle>
            <a:defPPr>
              <a:defRPr sz="1350" b="0">
                <a:solidFill>
                  <a:srgbClr val="6B625C"/>
                </a:solidFill>
                <a:latin typeface="Oracle Sans Tab"/>
                <a:ea typeface="Oracle Sans Tab"/>
                <a:cs typeface="Oracle Sans Tab"/>
              </a:defRPr>
            </a:defPPr>
          </a:lstStyle>
          <a:p>
            <a:pPr>
              <a:defRPr sz="1350" b="0">
                <a:solidFill>
                  <a:srgbClr val="6B625C"/>
                </a:solidFill>
                <a:latin typeface="Oracle Sans Tab"/>
                <a:ea typeface="Oracle Sans Tab"/>
                <a:cs typeface="Oracle Sans Tab"/>
              </a:defRPr>
            </a:pPr>
            <a:r>
              <a:rPr sz="1350" b="0">
                <a:solidFill>
                  <a:srgbClr val="6B625C"/>
                </a:solidFill>
                <a:latin typeface="Oracle Sans Tab"/>
                <a:ea typeface="Oracle Sans Tab"/>
                <a:cs typeface="Oracle Sans Tab"/>
              </a:rPr>
              <a:t>Click a phase tab or Next phase. Click the slide background to advance.</a:t>
            </a:r>
          </a:p>
        </p:txBody>
      </p:sp>
      <p:sp>
        <p:nvSpPr>
          <p:cNvPr id="12" name="HLD-source">
            <a:extLst>
              <a:ext uri="{FF2B5EF4-FFF2-40B4-BE49-F238E27FC236}">
                <ns2:creationId id="{0EAA7D89-928C-4AE1-8BF5-54667F77E26D}"/>
              </a:ext>
            </a:extLst>
          </p:cNvPr>
          <p:cNvSpPr>
            <a:spLocks noGrp="1"/>
          </p:cNvSpPr>
          <p:nvPr/>
        </p:nvSpPr>
        <p:spPr>
          <a:xfrm>
            <a:off x="762000" y="2381250"/>
            <a:ext cx="2571750" cy="819150"/>
          </a:xfrm>
          <a:prstGeom prst="rect">
            <a:avLst/>
          </a:prstGeom>
          <a:solidFill>
            <a:srgbClr val="CBE9D6"/>
          </a:solidFill>
          <a:ln w="13335">
            <a:solidFill>
              <a:srgbClr val="467553"/>
            </a:solidFill>
          </a:ln>
        </p:spPr>
        <p:txBody>
          <a:bodyPr lIns="95250" tIns="76200" rIns="95250" bIns="76200" anchor="ctr">
            <a:noAutofit/>
          </a:bodyPr>
          <a:lstStyle>
            <a:defPPr algn="ctr">
              <a:defRPr sz="1725" b="0">
                <a:solidFill>
                  <a:srgbClr val="312D2A"/>
                </a:solidFill>
                <a:latin typeface="Oracle Sans Tab"/>
                <a:ea typeface="Oracle Sans Tab"/>
                <a:cs typeface="Oracle Sans Tab"/>
              </a:defRPr>
            </a:defPPr>
          </a:lstStyle>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Source upstream</a:t>
            </a:r>
          </a:p>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Configured · per-zone TSIG</a:t>
            </a:r>
          </a:p>
        </p:txBody>
      </p:sp>
      <p:sp>
        <p:nvSpPr>
          <p:cNvPr id="13" name="HLD-target">
            <a:extLst>
              <a:ext uri="{FF2B5EF4-FFF2-40B4-BE49-F238E27FC236}">
                <ns2:creationId id="{8906CB05-129D-4500-B67D-7298FE694790}"/>
              </a:ext>
            </a:extLst>
          </p:cNvPr>
          <p:cNvSpPr>
            <a:spLocks noGrp="1"/>
          </p:cNvSpPr>
          <p:nvPr/>
        </p:nvSpPr>
        <p:spPr>
          <a:xfrm>
            <a:off x="762000" y="4000500"/>
            <a:ext cx="2571750" cy="819150"/>
          </a:xfrm>
          <a:prstGeom prst="rect">
            <a:avLst/>
          </a:prstGeom>
          <a:solidFill>
            <a:srgbClr val="CBE9D6"/>
          </a:solidFill>
          <a:ln w="13335">
            <a:solidFill>
              <a:srgbClr val="467553"/>
            </a:solidFill>
          </a:ln>
        </p:spPr>
        <p:txBody>
          <a:bodyPr lIns="95250" tIns="76200" rIns="95250" bIns="76200" anchor="ctr">
            <a:noAutofit/>
          </a:bodyPr>
          <a:lstStyle>
            <a:defPPr algn="ctr">
              <a:defRPr sz="1725" b="0">
                <a:solidFill>
                  <a:srgbClr val="312D2A"/>
                </a:solidFill>
                <a:latin typeface="Oracle Sans Tab"/>
                <a:ea typeface="Oracle Sans Tab"/>
                <a:cs typeface="Oracle Sans Tab"/>
              </a:defRPr>
            </a:defPPr>
          </a:lstStyle>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Target upstream</a:t>
            </a:r>
          </a:p>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Configured · per-zone TSIG</a:t>
            </a:r>
          </a:p>
        </p:txBody>
      </p:sp>
      <p:sp>
        <p:nvSpPr>
          <p:cNvPr id="14" name="HLD-oci">
            <a:extLst>
              <a:ext uri="{FF2B5EF4-FFF2-40B4-BE49-F238E27FC236}">
                <ns2:creationId id="{3D8FFB3E-414E-46CB-93A0-3E6ED13913FD}"/>
              </a:ext>
            </a:extLst>
          </p:cNvPr>
          <p:cNvSpPr>
            <a:spLocks noGrp="1"/>
          </p:cNvSpPr>
          <p:nvPr/>
        </p:nvSpPr>
        <p:spPr>
          <a:xfrm>
            <a:off x="7239000" y="2381250"/>
            <a:ext cx="2524125" cy="2438400"/>
          </a:xfrm>
          <a:prstGeom prst="rect">
            <a:avLst/>
          </a:prstGeom>
          <a:solidFill>
            <a:srgbClr val="E9F9EE"/>
          </a:solidFill>
          <a:ln w="13335">
            <a:solidFill>
              <a:srgbClr val="33553C"/>
            </a:solidFill>
          </a:ln>
        </p:spPr>
        <p:txBody>
          <a:bodyPr lIns="95250" tIns="76200" rIns="95250" bIns="76200" anchor="ctr">
            <a:noAutofit/>
          </a:bodyPr>
          <a:lstStyle>
            <a:defPPr algn="ctr">
              <a:defRPr sz="1800" b="0">
                <a:solidFill>
                  <a:srgbClr val="312D2A"/>
                </a:solidFill>
                <a:latin typeface="Oracle Sans Tab"/>
                <a:ea typeface="Oracle Sans Tab"/>
                <a:cs typeface="Oracle Sans Tab"/>
              </a:defRPr>
            </a:defPPr>
          </a:lstStyle>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OCI secondary DNS</a:t>
            </a:r>
          </a:p>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Public authoritative service</a:t>
            </a:r>
          </a:p>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Global zone service</a:t>
            </a:r>
          </a:p>
        </p:txBody>
      </p:sp>
      <p:sp>
        <p:nvSpPr>
          <p:cNvPr id="15" name="HLD-clients">
            <a:extLst>
              <a:ext uri="{FF2B5EF4-FFF2-40B4-BE49-F238E27FC236}">
                <ns2:creationId id="{849EE431-BFF8-4682-A825-73A1097875BE}"/>
              </a:ext>
            </a:extLst>
          </p:cNvPr>
          <p:cNvSpPr>
            <a:spLocks noGrp="1"/>
          </p:cNvSpPr>
          <p:nvPr/>
        </p:nvSpPr>
        <p:spPr>
          <a:xfrm>
            <a:off x="10287000" y="3295650"/>
            <a:ext cx="1143000" cy="876300"/>
          </a:xfrm>
          <a:prstGeom prst="rect">
            <a:avLst/>
          </a:prstGeom>
          <a:solidFill>
            <a:srgbClr val="FCFBFA"/>
          </a:solidFill>
          <a:ln w="13335">
            <a:solidFill>
              <a:srgbClr val="D9D4CF"/>
            </a:solidFill>
          </a:ln>
        </p:spPr>
        <p:txBody>
          <a:bodyPr lIns="95250" tIns="76200" rIns="95250" bIns="76200" anchor="ctr">
            <a:noAutofit/>
          </a:bodyPr>
          <a:lstStyle>
            <a:defPPr algn="ctr">
              <a:defRPr sz="1500" b="0">
                <a:solidFill>
                  <a:srgbClr val="312D2A"/>
                </a:solidFill>
                <a:latin typeface="Oracle Sans Tab"/>
                <a:ea typeface="Oracle Sans Tab"/>
                <a:cs typeface="Oracle Sans Tab"/>
              </a:defRPr>
            </a:defPPr>
          </a:lstStyle>
          <a:p>
            <a:pPr algn="ctr">
              <a:defRPr sz="1500" b="0">
                <a:solidFill>
                  <a:srgbClr val="312D2A"/>
                </a:solidFill>
                <a:latin typeface="Oracle Sans Tab"/>
                <a:ea typeface="Oracle Sans Tab"/>
                <a:cs typeface="Oracle Sans Tab"/>
              </a:defRPr>
            </a:pPr>
            <a:r>
              <a:rPr sz="1500" b="0">
                <a:solidFill>
                  <a:srgbClr val="312D2A"/>
                </a:solidFill>
                <a:latin typeface="Oracle Sans Tab"/>
                <a:ea typeface="Oracle Sans Tab"/>
                <a:cs typeface="Oracle Sans Tab"/>
              </a:rPr>
              <a:t>Public DNS</a:t>
            </a:r>
          </a:p>
          <a:p>
            <a:pPr algn="ctr">
              <a:defRPr sz="1500" b="0">
                <a:solidFill>
                  <a:srgbClr val="312D2A"/>
                </a:solidFill>
                <a:latin typeface="Oracle Sans Tab"/>
                <a:ea typeface="Oracle Sans Tab"/>
                <a:cs typeface="Oracle Sans Tab"/>
              </a:defRPr>
            </a:pPr>
            <a:r>
              <a:rPr sz="1500" b="0">
                <a:solidFill>
                  <a:srgbClr val="312D2A"/>
                </a:solidFill>
                <a:latin typeface="Oracle Sans Tab"/>
                <a:ea typeface="Oracle Sans Tab"/>
                <a:cs typeface="Oracle Sans Tab"/>
              </a:rPr>
              <a:t>clients</a:t>
            </a:r>
          </a:p>
        </p:txBody>
      </p:sp>
      <p:sp>
        <p:nvSpPr>
          <p:cNvPr id="16" name="hld-query-label">
            <a:extLst>
              <a:ext uri="{FF2B5EF4-FFF2-40B4-BE49-F238E27FC236}">
                <ns2:creationId id="{DC9A9749-60A2-43FB-AFA0-072581F57E0D}"/>
              </a:ext>
            </a:extLst>
          </p:cNvPr>
          <p:cNvSpPr>
            <a:spLocks noGrp="1"/>
          </p:cNvSpPr>
          <p:nvPr/>
        </p:nvSpPr>
        <p:spPr>
          <a:xfrm>
            <a:off x="9906000" y="2733675"/>
            <a:ext cx="1524000" cy="285750"/>
          </a:xfrm>
          <a:prstGeom prst="rect">
            <a:avLst/>
          </a:prstGeom>
          <a:noFill/>
          <a:ln w="0">
            <a:noFill/>
          </a:ln>
        </p:spPr>
        <p:txBody>
          <a:bodyPr lIns="0" tIns="0" rIns="0" bIns="0" anchor="t">
            <a:noAutofit/>
          </a:bodyPr>
          <a:lstStyle>
            <a:defPPr>
              <a:defRPr sz="1350" b="1">
                <a:solidFill>
                  <a:srgbClr val="2C6176"/>
                </a:solidFill>
                <a:latin typeface="Oracle Sans Tab"/>
                <a:ea typeface="Oracle Sans Tab"/>
                <a:cs typeface="Oracle Sans Tab"/>
              </a:defRPr>
            </a:defPPr>
          </a:lstStyle>
          <a:p>
            <a:pPr>
              <a:defRPr sz="1350" b="1">
                <a:solidFill>
                  <a:srgbClr val="2C6176"/>
                </a:solidFill>
                <a:latin typeface="Oracle Sans Tab"/>
                <a:ea typeface="Oracle Sans Tab"/>
                <a:cs typeface="Oracle Sans Tab"/>
              </a:defRPr>
            </a:pPr>
            <a:r>
              <a:rPr sz="1350" b="1">
                <a:solidFill>
                  <a:srgbClr val="2C6176"/>
                </a:solidFill>
                <a:latin typeface="Oracle Sans Tab"/>
                <a:ea typeface="Oracle Sans Tab"/>
                <a:cs typeface="Oracle Sans Tab"/>
              </a:rPr>
              <a:t>DNS queries</a:t>
            </a:r>
          </a:p>
        </p:txBody>
      </p:sp>
      <p:sp>
        <p:nvSpPr>
          <p:cNvPr id="17" name="hld-query-port">
            <a:extLst>
              <a:ext uri="{FF2B5EF4-FFF2-40B4-BE49-F238E27FC236}">
                <ns2:creationId id="{88EC0EE4-A31A-44F4-BD01-26CD01391D92}"/>
              </a:ext>
            </a:extLst>
          </p:cNvPr>
          <p:cNvSpPr>
            <a:spLocks noGrp="1"/>
          </p:cNvSpPr>
          <p:nvPr/>
        </p:nvSpPr>
        <p:spPr>
          <a:xfrm>
            <a:off x="9906000" y="3000375"/>
            <a:ext cx="1524000" cy="266700"/>
          </a:xfrm>
          <a:prstGeom prst="rect">
            <a:avLst/>
          </a:prstGeom>
          <a:noFill/>
          <a:ln w="0">
            <a:noFill/>
          </a:ln>
        </p:spPr>
        <p:txBody>
          <a:bodyPr lIns="0" tIns="0" rIns="0" bIns="0" anchor="t">
            <a:noAutofit/>
          </a:bodyPr>
          <a:lstStyle>
            <a:defPPr>
              <a:defRPr sz="1350" b="0">
                <a:solidFill>
                  <a:srgbClr val="6B625C"/>
                </a:solidFill>
                <a:latin typeface="Oracle Sans Tab"/>
                <a:ea typeface="Oracle Sans Tab"/>
                <a:cs typeface="Oracle Sans Tab"/>
              </a:defRPr>
            </a:defPPr>
          </a:lstStyle>
          <a:p>
            <a:pPr>
              <a:defRPr sz="1350" b="0">
                <a:solidFill>
                  <a:srgbClr val="6B625C"/>
                </a:solidFill>
                <a:latin typeface="Oracle Sans Tab"/>
                <a:ea typeface="Oracle Sans Tab"/>
                <a:cs typeface="Oracle Sans Tab"/>
              </a:defRPr>
            </a:pPr>
            <a:r>
              <a:rPr sz="1350" b="0">
                <a:solidFill>
                  <a:srgbClr val="6B625C"/>
                </a:solidFill>
                <a:latin typeface="Oracle Sans Tab"/>
                <a:ea typeface="Oracle Sans Tab"/>
                <a:cs typeface="Oracle Sans Tab"/>
              </a:rPr>
              <a:t>UDP / TCP 53</a:t>
            </a:r>
          </a:p>
        </p:txBody>
      </p:sp>
      <p:sp>
        <p:nvSpPr>
          <p:cNvPr id="18" name="query-from">
            <a:extLst>
              <a:ext uri="{FF2B5EF4-FFF2-40B4-BE49-F238E27FC236}">
                <ns2:creationId id="{E62F6447-E0EB-4277-BBE4-BCF2D1670594}"/>
              </a:ext>
            </a:extLst>
          </p:cNvPr>
          <p:cNvSpPr>
            <a:spLocks noGrp="1"/>
          </p:cNvSpPr>
          <p:nvPr/>
        </p:nvSpPr>
        <p:spPr>
          <a:xfrm>
            <a:off x="10277475" y="3724275"/>
            <a:ext cx="19050" cy="19050"/>
          </a:xfrm>
          <a:prstGeom prst="rect">
            <a:avLst/>
          </a:prstGeom>
          <a:noFill/>
          <a:ln w="0">
            <a:noFill/>
          </a:ln>
        </p:spPr>
      </p:sp>
      <p:sp>
        <p:nvSpPr>
          <p:cNvPr id="19" name="query-to">
            <a:extLst>
              <a:ext uri="{FF2B5EF4-FFF2-40B4-BE49-F238E27FC236}">
                <ns2:creationId id="{4A33FA3E-2001-4875-9B67-114AD99B4EB2}"/>
              </a:ext>
            </a:extLst>
          </p:cNvPr>
          <p:cNvSpPr>
            <a:spLocks noGrp="1"/>
          </p:cNvSpPr>
          <p:nvPr/>
        </p:nvSpPr>
        <p:spPr>
          <a:xfrm>
            <a:off x="9753600" y="3724275"/>
            <a:ext cx="19050" cy="19050"/>
          </a:xfrm>
          <a:prstGeom prst="rect">
            <a:avLst/>
          </a:prstGeom>
          <a:noFill/>
          <a:ln w="0">
            <a:noFill/>
          </a:ln>
        </p:spPr>
      </p:sp>
      <p:sp>
        <p:nvSpPr>
          <p:cNvPr id="21" name="source-request-from">
            <a:extLst>
              <a:ext uri="{FF2B5EF4-FFF2-40B4-BE49-F238E27FC236}">
                <ns2:creationId id="{91E438CB-66B5-45BA-A46F-4822320DD6BD}"/>
              </a:ext>
            </a:extLst>
          </p:cNvPr>
          <p:cNvSpPr>
            <a:spLocks noGrp="1"/>
          </p:cNvSpPr>
          <p:nvPr/>
        </p:nvSpPr>
        <p:spPr>
          <a:xfrm>
            <a:off x="7229475" y="2533650"/>
            <a:ext cx="19050" cy="19050"/>
          </a:xfrm>
          <a:prstGeom prst="rect">
            <a:avLst/>
          </a:prstGeom>
          <a:noFill/>
          <a:ln w="0">
            <a:noFill/>
          </a:ln>
        </p:spPr>
      </p:sp>
      <p:sp>
        <p:nvSpPr>
          <p:cNvPr id="22" name="source-request-to">
            <a:extLst>
              <a:ext uri="{FF2B5EF4-FFF2-40B4-BE49-F238E27FC236}">
                <ns2:creationId id="{53EDCECA-3F23-4BD0-B83D-D1C4E408B67A}"/>
              </a:ext>
            </a:extLst>
          </p:cNvPr>
          <p:cNvSpPr>
            <a:spLocks noGrp="1"/>
          </p:cNvSpPr>
          <p:nvPr/>
        </p:nvSpPr>
        <p:spPr>
          <a:xfrm>
            <a:off x="3324225" y="2533650"/>
            <a:ext cx="19050" cy="19050"/>
          </a:xfrm>
          <a:prstGeom prst="rect">
            <a:avLst/>
          </a:prstGeom>
          <a:noFill/>
          <a:ln w="0">
            <a:noFill/>
          </a:ln>
        </p:spPr>
      </p:sp>
      <p:sp>
        <p:nvSpPr>
          <p:cNvPr id="24" name="source-data-from">
            <a:extLst>
              <a:ext uri="{FF2B5EF4-FFF2-40B4-BE49-F238E27FC236}">
                <ns2:creationId id="{914588EC-9817-4895-9DF4-0E9630E56FBB}"/>
              </a:ext>
            </a:extLst>
          </p:cNvPr>
          <p:cNvSpPr>
            <a:spLocks noGrp="1"/>
          </p:cNvSpPr>
          <p:nvPr/>
        </p:nvSpPr>
        <p:spPr>
          <a:xfrm>
            <a:off x="3324225" y="2990850"/>
            <a:ext cx="19050" cy="19050"/>
          </a:xfrm>
          <a:prstGeom prst="rect">
            <a:avLst/>
          </a:prstGeom>
          <a:noFill/>
          <a:ln w="0">
            <a:noFill/>
          </a:ln>
        </p:spPr>
      </p:sp>
      <p:sp>
        <p:nvSpPr>
          <p:cNvPr id="25" name="source-data-to">
            <a:extLst>
              <a:ext uri="{FF2B5EF4-FFF2-40B4-BE49-F238E27FC236}">
                <ns2:creationId id="{06D2AB98-AE89-4C8D-B851-2C60C211F657}"/>
              </a:ext>
            </a:extLst>
          </p:cNvPr>
          <p:cNvSpPr>
            <a:spLocks noGrp="1"/>
          </p:cNvSpPr>
          <p:nvPr/>
        </p:nvSpPr>
        <p:spPr>
          <a:xfrm>
            <a:off x="7229475" y="2990850"/>
            <a:ext cx="19050" cy="19050"/>
          </a:xfrm>
          <a:prstGeom prst="rect">
            <a:avLst/>
          </a:prstGeom>
          <a:noFill/>
          <a:ln w="0">
            <a:noFill/>
          </a:ln>
        </p:spPr>
      </p:sp>
      <p:sp>
        <p:nvSpPr>
          <p:cNvPr id="27" name="source-request-label">
            <a:extLst>
              <a:ext uri="{FF2B5EF4-FFF2-40B4-BE49-F238E27FC236}">
                <ns2:creationId id="{17491E82-4788-4EC6-9ED2-D45BFFD3B931}"/>
              </a:ext>
            </a:extLst>
          </p:cNvPr>
          <p:cNvSpPr>
            <a:spLocks noGrp="1"/>
          </p:cNvSpPr>
          <p:nvPr/>
        </p:nvSpPr>
        <p:spPr>
          <a:xfrm>
            <a:off x="3714750" y="2276475"/>
            <a:ext cx="3257550" cy="257175"/>
          </a:xfrm>
          <a:prstGeom prst="rect">
            <a:avLst/>
          </a:prstGeom>
          <a:noFill/>
          <a:ln w="0">
            <a:noFill/>
          </a:ln>
        </p:spPr>
        <p:txBody>
          <a:bodyPr lIns="0" tIns="0" rIns="0" bIns="0" anchor="t">
            <a:noAutofit/>
          </a:bodyPr>
          <a:lstStyle>
            <a:defPPr>
              <a:defRPr sz="1425" b="0">
                <a:solidFill>
                  <a:srgbClr val="2C6176"/>
                </a:solidFill>
                <a:latin typeface="Oracle Sans Tab"/>
                <a:ea typeface="Oracle Sans Tab"/>
                <a:cs typeface="Oracle Sans Tab"/>
              </a:defRPr>
            </a:defPPr>
          </a:lstStyle>
          <a:p>
            <a:pPr>
              <a:defRPr sz="1425" b="0">
                <a:solidFill>
                  <a:srgbClr val="2C6176"/>
                </a:solidFill>
                <a:latin typeface="Oracle Sans Tab"/>
                <a:ea typeface="Oracle Sans Tab"/>
                <a:cs typeface="Oracle Sans Tab"/>
              </a:defRPr>
            </a:pPr>
            <a:r>
              <a:rPr sz="1425" b="0">
                <a:solidFill>
                  <a:srgbClr val="2C6176"/>
                </a:solidFill>
                <a:latin typeface="Oracle Sans Tab"/>
                <a:ea typeface="Oracle Sans Tab"/>
                <a:cs typeface="Oracle Sans Tab"/>
              </a:rPr>
              <a:t>OCI transfer request · TCP 53</a:t>
            </a:r>
          </a:p>
        </p:txBody>
      </p:sp>
      <p:sp>
        <p:nvSpPr>
          <p:cNvPr id="28" name="source-data-label">
            <a:extLst>
              <a:ext uri="{FF2B5EF4-FFF2-40B4-BE49-F238E27FC236}">
                <ns2:creationId id="{E28A04F0-565C-4AE7-9922-0FED368E7743}"/>
              </a:ext>
            </a:extLst>
          </p:cNvPr>
          <p:cNvSpPr>
            <a:spLocks noGrp="1"/>
          </p:cNvSpPr>
          <p:nvPr/>
        </p:nvSpPr>
        <p:spPr>
          <a:xfrm>
            <a:off x="3714750" y="3048000"/>
            <a:ext cx="3257550" cy="266700"/>
          </a:xfrm>
          <a:prstGeom prst="rect">
            <a:avLst/>
          </a:prstGeom>
          <a:noFill/>
          <a:ln w="0">
            <a:noFill/>
          </a:ln>
        </p:spPr>
        <p:txBody>
          <a:bodyPr lIns="0" tIns="0" rIns="0" bIns="0" anchor="t">
            <a:noAutofit/>
          </a:bodyPr>
          <a:lstStyle>
            <a:defPPr>
              <a:defRPr sz="1425" b="0">
                <a:solidFill>
                  <a:srgbClr val="467553"/>
                </a:solidFill>
                <a:latin typeface="Oracle Sans Tab"/>
                <a:ea typeface="Oracle Sans Tab"/>
                <a:cs typeface="Oracle Sans Tab"/>
              </a:defRPr>
            </a:defPPr>
          </a:lstStyle>
          <a:p>
            <a:pPr>
              <a:defRPr sz="1425" b="0">
                <a:solidFill>
                  <a:srgbClr val="467553"/>
                </a:solidFill>
                <a:latin typeface="Oracle Sans Tab"/>
                <a:ea typeface="Oracle Sans Tab"/>
                <a:cs typeface="Oracle Sans Tab"/>
              </a:defRPr>
            </a:pPr>
            <a:r>
              <a:rPr sz="1425" b="0">
                <a:solidFill>
                  <a:srgbClr val="467553"/>
                </a:solidFill>
                <a:latin typeface="Oracle Sans Tab"/>
                <a:ea typeface="Oracle Sans Tab"/>
                <a:cs typeface="Oracle Sans Tab"/>
              </a:rPr>
              <a:t>Zone data · signed AXFR / IXFR</a:t>
            </a:r>
          </a:p>
        </p:txBody>
      </p:sp>
      <p:sp>
        <p:nvSpPr>
          <p:cNvPr id="29" name="target-request-from">
            <a:extLst>
              <a:ext uri="{FF2B5EF4-FFF2-40B4-BE49-F238E27FC236}">
                <ns2:creationId id="{08C0F47F-6A00-418A-9ED5-2D8ABF42B7C8}"/>
              </a:ext>
            </a:extLst>
          </p:cNvPr>
          <p:cNvSpPr>
            <a:spLocks noGrp="1"/>
          </p:cNvSpPr>
          <p:nvPr/>
        </p:nvSpPr>
        <p:spPr>
          <a:xfrm>
            <a:off x="7229475" y="4152900"/>
            <a:ext cx="19050" cy="19050"/>
          </a:xfrm>
          <a:prstGeom prst="rect">
            <a:avLst/>
          </a:prstGeom>
          <a:noFill/>
          <a:ln w="0">
            <a:noFill/>
          </a:ln>
        </p:spPr>
      </p:sp>
      <p:sp>
        <p:nvSpPr>
          <p:cNvPr id="30" name="target-request-to">
            <a:extLst>
              <a:ext uri="{FF2B5EF4-FFF2-40B4-BE49-F238E27FC236}">
                <ns2:creationId id="{0F9E0F38-5E40-444B-8B17-7DD7BAD93BDF}"/>
              </a:ext>
            </a:extLst>
          </p:cNvPr>
          <p:cNvSpPr>
            <a:spLocks noGrp="1"/>
          </p:cNvSpPr>
          <p:nvPr/>
        </p:nvSpPr>
        <p:spPr>
          <a:xfrm>
            <a:off x="3324225" y="4152900"/>
            <a:ext cx="19050" cy="19050"/>
          </a:xfrm>
          <a:prstGeom prst="rect">
            <a:avLst/>
          </a:prstGeom>
          <a:noFill/>
          <a:ln w="0">
            <a:noFill/>
          </a:ln>
        </p:spPr>
      </p:sp>
      <p:sp>
        <p:nvSpPr>
          <p:cNvPr id="32" name="target-data-from">
            <a:extLst>
              <a:ext uri="{FF2B5EF4-FFF2-40B4-BE49-F238E27FC236}">
                <ns2:creationId id="{AFCA63D6-E110-4C6B-903D-FEA6A30D0ED4}"/>
              </a:ext>
            </a:extLst>
          </p:cNvPr>
          <p:cNvSpPr>
            <a:spLocks noGrp="1"/>
          </p:cNvSpPr>
          <p:nvPr/>
        </p:nvSpPr>
        <p:spPr>
          <a:xfrm>
            <a:off x="3324225" y="4610100"/>
            <a:ext cx="19050" cy="19050"/>
          </a:xfrm>
          <a:prstGeom prst="rect">
            <a:avLst/>
          </a:prstGeom>
          <a:noFill/>
          <a:ln w="0">
            <a:noFill/>
          </a:ln>
        </p:spPr>
      </p:sp>
      <p:sp>
        <p:nvSpPr>
          <p:cNvPr id="33" name="target-data-to">
            <a:extLst>
              <a:ext uri="{FF2B5EF4-FFF2-40B4-BE49-F238E27FC236}">
                <ns2:creationId id="{DC635A41-7FC7-41F7-A902-055F22A2470E}"/>
              </a:ext>
            </a:extLst>
          </p:cNvPr>
          <p:cNvSpPr>
            <a:spLocks noGrp="1"/>
          </p:cNvSpPr>
          <p:nvPr/>
        </p:nvSpPr>
        <p:spPr>
          <a:xfrm>
            <a:off x="7229475" y="4610100"/>
            <a:ext cx="19050" cy="19050"/>
          </a:xfrm>
          <a:prstGeom prst="rect">
            <a:avLst/>
          </a:prstGeom>
          <a:noFill/>
          <a:ln w="0">
            <a:noFill/>
          </a:ln>
        </p:spPr>
      </p:sp>
      <p:sp>
        <p:nvSpPr>
          <p:cNvPr id="35" name="target-request-label">
            <a:extLst>
              <a:ext uri="{FF2B5EF4-FFF2-40B4-BE49-F238E27FC236}">
                <ns2:creationId id="{4650F8D3-F944-41C9-9E9F-4CCEFD0D9FB6}"/>
              </a:ext>
            </a:extLst>
          </p:cNvPr>
          <p:cNvSpPr>
            <a:spLocks noGrp="1"/>
          </p:cNvSpPr>
          <p:nvPr/>
        </p:nvSpPr>
        <p:spPr>
          <a:xfrm>
            <a:off x="3714750" y="3895725"/>
            <a:ext cx="3257550" cy="257175"/>
          </a:xfrm>
          <a:prstGeom prst="rect">
            <a:avLst/>
          </a:prstGeom>
          <a:noFill/>
          <a:ln w="0">
            <a:noFill/>
          </a:ln>
        </p:spPr>
        <p:txBody>
          <a:bodyPr lIns="0" tIns="0" rIns="0" bIns="0" anchor="t">
            <a:noAutofit/>
          </a:bodyPr>
          <a:lstStyle>
            <a:defPPr>
              <a:defRPr sz="1425" b="0">
                <a:solidFill>
                  <a:srgbClr val="2C6176"/>
                </a:solidFill>
                <a:latin typeface="Oracle Sans Tab"/>
                <a:ea typeface="Oracle Sans Tab"/>
                <a:cs typeface="Oracle Sans Tab"/>
              </a:defRPr>
            </a:defPPr>
          </a:lstStyle>
          <a:p>
            <a:pPr>
              <a:defRPr sz="1425" b="0">
                <a:solidFill>
                  <a:srgbClr val="2C6176"/>
                </a:solidFill>
                <a:latin typeface="Oracle Sans Tab"/>
                <a:ea typeface="Oracle Sans Tab"/>
                <a:cs typeface="Oracle Sans Tab"/>
              </a:defRPr>
            </a:pPr>
            <a:r>
              <a:rPr sz="1425" b="0">
                <a:solidFill>
                  <a:srgbClr val="2C6176"/>
                </a:solidFill>
                <a:latin typeface="Oracle Sans Tab"/>
                <a:ea typeface="Oracle Sans Tab"/>
                <a:cs typeface="Oracle Sans Tab"/>
              </a:rPr>
              <a:t>OCI transfer request · TCP 53</a:t>
            </a:r>
          </a:p>
        </p:txBody>
      </p:sp>
      <p:sp>
        <p:nvSpPr>
          <p:cNvPr id="36" name="target-data-label">
            <a:extLst>
              <a:ext uri="{FF2B5EF4-FFF2-40B4-BE49-F238E27FC236}">
                <ns2:creationId id="{28C3A288-C19C-4913-8A79-E1992BA14887}"/>
              </a:ext>
            </a:extLst>
          </p:cNvPr>
          <p:cNvSpPr>
            <a:spLocks noGrp="1"/>
          </p:cNvSpPr>
          <p:nvPr/>
        </p:nvSpPr>
        <p:spPr>
          <a:xfrm>
            <a:off x="3714750" y="4667250"/>
            <a:ext cx="3257550" cy="266700"/>
          </a:xfrm>
          <a:prstGeom prst="rect">
            <a:avLst/>
          </a:prstGeom>
          <a:noFill/>
          <a:ln w="0">
            <a:noFill/>
          </a:ln>
        </p:spPr>
        <p:txBody>
          <a:bodyPr lIns="0" tIns="0" rIns="0" bIns="0" anchor="t">
            <a:noAutofit/>
          </a:bodyPr>
          <a:lstStyle>
            <a:defPPr>
              <a:defRPr sz="1425" b="0">
                <a:solidFill>
                  <a:srgbClr val="467553"/>
                </a:solidFill>
                <a:latin typeface="Oracle Sans Tab"/>
                <a:ea typeface="Oracle Sans Tab"/>
                <a:cs typeface="Oracle Sans Tab"/>
              </a:defRPr>
            </a:defPPr>
          </a:lstStyle>
          <a:p>
            <a:pPr>
              <a:defRPr sz="1425" b="0">
                <a:solidFill>
                  <a:srgbClr val="467553"/>
                </a:solidFill>
                <a:latin typeface="Oracle Sans Tab"/>
                <a:ea typeface="Oracle Sans Tab"/>
                <a:cs typeface="Oracle Sans Tab"/>
              </a:defRPr>
            </a:pPr>
            <a:r>
              <a:rPr sz="1425" b="0">
                <a:solidFill>
                  <a:srgbClr val="467553"/>
                </a:solidFill>
                <a:latin typeface="Oracle Sans Tab"/>
                <a:ea typeface="Oracle Sans Tab"/>
                <a:cs typeface="Oracle Sans Tab"/>
              </a:rPr>
              <a:t>Zone data · signed AXFR / IXFR</a:t>
            </a:r>
          </a:p>
        </p:txBody>
      </p:sp>
      <p:sp>
        <p:nvSpPr>
          <p:cNvPr id="37" name="HLD-operator">
            <a:extLst>
              <a:ext uri="{FF2B5EF4-FFF2-40B4-BE49-F238E27FC236}">
                <ns2:creationId id="{1F17620D-6078-435A-967F-70D592B9D06C}"/>
              </a:ext>
            </a:extLst>
          </p:cNvPr>
          <p:cNvSpPr>
            <a:spLocks noGrp="1"/>
          </p:cNvSpPr>
          <p:nvPr/>
        </p:nvSpPr>
        <p:spPr>
          <a:xfrm>
            <a:off x="762000" y="5276850"/>
            <a:ext cx="2571750" cy="533400"/>
          </a:xfrm>
          <a:prstGeom prst="rect">
            <a:avLst/>
          </a:prstGeom>
          <a:solidFill>
            <a:srgbClr val="FCFBFA"/>
          </a:solidFill>
          <a:ln w="13335">
            <a:solidFill>
              <a:srgbClr val="D9D4CF"/>
            </a:solidFill>
          </a:ln>
        </p:spPr>
        <p:txBody>
          <a:bodyPr lIns="95250" tIns="76200" rIns="95250" bIns="76200" anchor="ctr">
            <a:noAutofit/>
          </a:bodyPr>
          <a:lstStyle>
            <a:defPPr algn="ctr">
              <a:defRPr sz="1575" b="0">
                <a:solidFill>
                  <a:srgbClr val="312D2A"/>
                </a:solidFill>
                <a:latin typeface="Oracle Sans Tab"/>
                <a:ea typeface="Oracle Sans Tab"/>
                <a:cs typeface="Oracle Sans Tab"/>
              </a:defRPr>
            </a:defPPr>
          </a:lstStyle>
          <a:p>
            <a:pPr algn="ctr">
              <a:defRPr sz="1575" b="0">
                <a:solidFill>
                  <a:srgbClr val="312D2A"/>
                </a:solidFill>
                <a:latin typeface="Oracle Sans Tab"/>
                <a:ea typeface="Oracle Sans Tab"/>
                <a:cs typeface="Oracle Sans Tab"/>
              </a:defRPr>
            </a:pPr>
            <a:r>
              <a:rPr sz="1575" b="0">
                <a:solidFill>
                  <a:srgbClr val="312D2A"/>
                </a:solidFill>
                <a:latin typeface="Oracle Sans Tab"/>
                <a:ea typeface="Oracle Sans Tab"/>
                <a:cs typeface="Oracle Sans Tab"/>
              </a:rPr>
              <a:t>Operator · Python scripts</a:t>
            </a:r>
          </a:p>
        </p:txBody>
      </p:sp>
      <p:sp>
        <p:nvSpPr>
          <p:cNvPr id="38" name="HLD-api">
            <a:extLst>
              <a:ext uri="{FF2B5EF4-FFF2-40B4-BE49-F238E27FC236}">
                <ns2:creationId id="{AE2A521A-A211-4ED1-B320-DC37D1999FCE}"/>
              </a:ext>
            </a:extLst>
          </p:cNvPr>
          <p:cNvSpPr>
            <a:spLocks noGrp="1"/>
          </p:cNvSpPr>
          <p:nvPr/>
        </p:nvSpPr>
        <p:spPr>
          <a:xfrm>
            <a:off x="7239000" y="5276850"/>
            <a:ext cx="2524125" cy="533400"/>
          </a:xfrm>
          <a:prstGeom prst="rect">
            <a:avLst/>
          </a:prstGeom>
          <a:solidFill>
            <a:srgbClr val="FCFBFA"/>
          </a:solidFill>
          <a:ln w="13335">
            <a:solidFill>
              <a:srgbClr val="D9D4CF"/>
            </a:solidFill>
          </a:ln>
        </p:spPr>
        <p:txBody>
          <a:bodyPr lIns="95250" tIns="76200" rIns="95250" bIns="76200" anchor="ctr">
            <a:noAutofit/>
          </a:bodyPr>
          <a:lstStyle>
            <a:defPPr algn="ctr">
              <a:defRPr sz="1575" b="0">
                <a:solidFill>
                  <a:srgbClr val="312D2A"/>
                </a:solidFill>
                <a:latin typeface="Oracle Sans Tab"/>
                <a:ea typeface="Oracle Sans Tab"/>
                <a:cs typeface="Oracle Sans Tab"/>
              </a:defRPr>
            </a:defPPr>
          </a:lstStyle>
          <a:p>
            <a:pPr algn="ctr">
              <a:defRPr sz="1575" b="0">
                <a:solidFill>
                  <a:srgbClr val="312D2A"/>
                </a:solidFill>
                <a:latin typeface="Oracle Sans Tab"/>
                <a:ea typeface="Oracle Sans Tab"/>
                <a:cs typeface="Oracle Sans Tab"/>
              </a:defRPr>
            </a:pPr>
            <a:r>
              <a:rPr sz="1575" b="0">
                <a:solidFill>
                  <a:srgbClr val="312D2A"/>
                </a:solidFill>
                <a:latin typeface="Oracle Sans Tab"/>
                <a:ea typeface="Oracle Sans Tab"/>
                <a:cs typeface="Oracle Sans Tab"/>
              </a:rPr>
              <a:t>OCI DNS API</a:t>
            </a:r>
          </a:p>
        </p:txBody>
      </p:sp>
      <p:sp>
        <p:nvSpPr>
          <p:cNvPr id="39" name="api-call-from">
            <a:extLst>
              <a:ext uri="{FF2B5EF4-FFF2-40B4-BE49-F238E27FC236}">
                <ns2:creationId id="{A654805C-4811-4B0A-A1EA-7D0261BC3B8B}"/>
              </a:ext>
            </a:extLst>
          </p:cNvPr>
          <p:cNvSpPr>
            <a:spLocks noGrp="1"/>
          </p:cNvSpPr>
          <p:nvPr/>
        </p:nvSpPr>
        <p:spPr>
          <a:xfrm>
            <a:off x="3324225" y="5534025"/>
            <a:ext cx="19050" cy="19050"/>
          </a:xfrm>
          <a:prstGeom prst="rect">
            <a:avLst/>
          </a:prstGeom>
          <a:noFill/>
          <a:ln w="0">
            <a:noFill/>
          </a:ln>
        </p:spPr>
      </p:sp>
      <p:sp>
        <p:nvSpPr>
          <p:cNvPr id="40" name="api-call-to">
            <a:extLst>
              <a:ext uri="{FF2B5EF4-FFF2-40B4-BE49-F238E27FC236}">
                <ns2:creationId id="{784A7D6D-43A8-4543-8AE2-D2141A7E793F}"/>
              </a:ext>
            </a:extLst>
          </p:cNvPr>
          <p:cNvSpPr>
            <a:spLocks noGrp="1"/>
          </p:cNvSpPr>
          <p:nvPr/>
        </p:nvSpPr>
        <p:spPr>
          <a:xfrm>
            <a:off x="7229475" y="5534025"/>
            <a:ext cx="19050" cy="19050"/>
          </a:xfrm>
          <a:prstGeom prst="rect">
            <a:avLst/>
          </a:prstGeom>
          <a:noFill/>
          <a:ln w="0">
            <a:noFill/>
          </a:ln>
        </p:spPr>
      </p:sp>
      <p:sp>
        <p:nvSpPr>
          <p:cNvPr id="42" name="hld-api-label">
            <a:extLst>
              <a:ext uri="{FF2B5EF4-FFF2-40B4-BE49-F238E27FC236}">
                <ns2:creationId id="{F954390F-FFF0-4FE5-BCA2-98BEE168AA3A}"/>
              </a:ext>
            </a:extLst>
          </p:cNvPr>
          <p:cNvSpPr>
            <a:spLocks noGrp="1"/>
          </p:cNvSpPr>
          <p:nvPr/>
        </p:nvSpPr>
        <p:spPr>
          <a:xfrm>
            <a:off x="3714750" y="5229225"/>
            <a:ext cx="3238500" cy="266700"/>
          </a:xfrm>
          <a:prstGeom prst="rect">
            <a:avLst/>
          </a:prstGeom>
          <a:noFill/>
          <a:ln w="0">
            <a:noFill/>
          </a:ln>
        </p:spPr>
        <p:txBody>
          <a:bodyPr lIns="0" tIns="0" rIns="0" bIns="0" anchor="t">
            <a:noAutofit/>
          </a:bodyPr>
          <a:lstStyle>
            <a:defPPr>
              <a:defRPr sz="1425" b="0">
                <a:solidFill>
                  <a:srgbClr val="6B625C"/>
                </a:solidFill>
                <a:latin typeface="Oracle Sans Tab"/>
                <a:ea typeface="Oracle Sans Tab"/>
                <a:cs typeface="Oracle Sans Tab"/>
              </a:defRPr>
            </a:defPPr>
          </a:lstStyle>
          <a:p>
            <a:pPr>
              <a:defRPr sz="1425" b="0">
                <a:solidFill>
                  <a:srgbClr val="6B625C"/>
                </a:solidFill>
                <a:latin typeface="Oracle Sans Tab"/>
                <a:ea typeface="Oracle Sans Tab"/>
                <a:cs typeface="Oracle Sans Tab"/>
              </a:defRPr>
            </a:pPr>
            <a:r>
              <a:rPr sz="1425" b="0">
                <a:solidFill>
                  <a:srgbClr val="6B625C"/>
                </a:solidFill>
                <a:latin typeface="Oracle Sans Tab"/>
                <a:ea typeface="Oracle Sans Tab"/>
                <a:cs typeface="Oracle Sans Tab"/>
              </a:rPr>
              <a:t>UpdateZone · HTTPS 443</a:t>
            </a:r>
          </a:p>
        </p:txBody>
      </p:sp>
      <p:sp>
        <p:nvSpPr>
          <p:cNvPr id="43" name="api-zone-state-from">
            <a:extLst>
              <a:ext uri="{FF2B5EF4-FFF2-40B4-BE49-F238E27FC236}">
                <ns2:creationId id="{6FF5DE9F-E356-4D30-8721-A2611BB798D9}"/>
              </a:ext>
            </a:extLst>
          </p:cNvPr>
          <p:cNvSpPr>
            <a:spLocks noGrp="1"/>
          </p:cNvSpPr>
          <p:nvPr/>
        </p:nvSpPr>
        <p:spPr>
          <a:xfrm>
            <a:off x="8486775" y="5267325"/>
            <a:ext cx="19050" cy="19050"/>
          </a:xfrm>
          <a:prstGeom prst="rect">
            <a:avLst/>
          </a:prstGeom>
          <a:noFill/>
          <a:ln w="0">
            <a:noFill/>
          </a:ln>
        </p:spPr>
      </p:sp>
      <p:sp>
        <p:nvSpPr>
          <p:cNvPr id="44" name="api-zone-state-to">
            <a:extLst>
              <a:ext uri="{FF2B5EF4-FFF2-40B4-BE49-F238E27FC236}">
                <ns2:creationId id="{CB969B5D-C3A6-4D2F-85E7-EFB7C00517EA}"/>
              </a:ext>
            </a:extLst>
          </p:cNvPr>
          <p:cNvSpPr>
            <a:spLocks noGrp="1"/>
          </p:cNvSpPr>
          <p:nvPr/>
        </p:nvSpPr>
        <p:spPr>
          <a:xfrm>
            <a:off x="8486775" y="4810125"/>
            <a:ext cx="19050" cy="19050"/>
          </a:xfrm>
          <a:prstGeom prst="rect">
            <a:avLst/>
          </a:prstGeom>
          <a:noFill/>
          <a:ln w="0">
            <a:noFill/>
          </a:ln>
        </p:spPr>
      </p:sp>
      <p:sp>
        <p:nvSpPr>
          <p:cNvPr id="46" name="hld-gate">
            <a:extLst>
              <a:ext uri="{FF2B5EF4-FFF2-40B4-BE49-F238E27FC236}">
                <ns2:creationId id="{32080473-6B23-4776-AB64-4AD26682DDA1}"/>
              </a:ext>
            </a:extLst>
          </p:cNvPr>
          <p:cNvSpPr>
            <a:spLocks noGrp="1"/>
          </p:cNvSpPr>
          <p:nvPr/>
        </p:nvSpPr>
        <p:spPr>
          <a:xfrm>
            <a:off x="762000" y="5981700"/>
            <a:ext cx="8572500" cy="304800"/>
          </a:xfrm>
          <a:prstGeom prst="rect">
            <a:avLst/>
          </a:prstGeom>
          <a:noFill/>
          <a:ln w="0">
            <a:noFill/>
          </a:ln>
        </p:spPr>
        <p:txBody>
          <a:bodyPr lIns="0" tIns="0" rIns="0" bIns="0" anchor="t">
            <a:noAutofit/>
          </a:bodyPr>
          <a:lstStyle>
            <a:defPPr>
              <a:defRPr sz="1350" b="1">
                <a:solidFill>
                  <a:srgbClr val="33553C"/>
                </a:solidFill>
                <a:latin typeface="Oracle Sans Tab"/>
                <a:ea typeface="Oracle Sans Tab"/>
                <a:cs typeface="Oracle Sans Tab"/>
              </a:defRPr>
            </a:defPPr>
          </a:lstStyle>
          <a:p>
            <a:pPr>
              <a:defRPr sz="1350" b="1">
                <a:solidFill>
                  <a:srgbClr val="33553C"/>
                </a:solidFill>
                <a:latin typeface="Oracle Sans Tab"/>
                <a:ea typeface="Oracle Sans Tab"/>
                <a:cs typeface="Oracle Sans Tab"/>
              </a:defRPr>
            </a:pPr>
            <a:r>
              <a:rPr sz="1350" b="1">
                <a:solidFill>
                  <a:srgbClr val="33553C"/>
                </a:solidFill>
                <a:latin typeface="Oracle Sans Tab"/>
                <a:ea typeface="Oracle Sans Tab"/>
                <a:cs typeface="Oracle Sans Tab"/>
              </a:rPr>
              <a:t>Per-zone TSIG on both upstreams. Customer-managed record synchronization is required.</a:t>
            </a:r>
          </a:p>
        </p:txBody>
      </p:sp>
      <p:sp>
        <p:nvSpPr>
          <p:cNvPr id="47" name="HLD-nav-6">
            <a:extLst>
              <a:ext uri="{FF2B5EF4-FFF2-40B4-BE49-F238E27FC236}">
                <ns2:creationId id="{03D99FEB-097D-4AB1-AF30-10F624FE3A11}"/>
              </a:ext>
            </a:extLst>
            <a:hlinkClick r:id="rIdHld5" action="ppaction://hlinksldjump" tooltip="Go to slide 6" history="1"/>
          </p:cNvPr>
          <p:cNvSpPr>
            <a:spLocks noGrp="1"/>
          </p:cNvSpPr>
          <p:nvPr/>
        </p:nvSpPr>
        <p:spPr>
          <a:xfrm>
            <a:off x="9667875" y="5924550"/>
            <a:ext cx="1762125" cy="361950"/>
          </a:xfrm>
          <a:prstGeom prst="rect">
            <a:avLst/>
          </a:prstGeom>
          <a:solidFill>
            <a:srgbClr val="33553C"/>
          </a:solidFill>
          <a:ln w="13335">
            <a:solidFill>
              <a:srgbClr val="33553C"/>
            </a:solidFill>
          </a:ln>
        </p:spPr>
        <p:txBody>
          <a:bodyPr lIns="95250" tIns="76200" rIns="95250" bIns="76200" anchor="ctr">
            <a:noAutofit/>
          </a:bodyPr>
          <a:lstStyle>
            <a:defPPr algn="ctr">
              <a:defRPr sz="1575" b="0">
                <a:solidFill>
                  <a:srgbClr val="FFFFFF"/>
                </a:solidFill>
                <a:latin typeface="Oracle Sans Tab"/>
                <a:ea typeface="Oracle Sans Tab"/>
                <a:cs typeface="Oracle Sans Tab"/>
              </a:defRPr>
            </a:defPPr>
          </a:lstStyle>
          <a:p>
            <a:pPr algn="ctr">
              <a:defRPr sz="1575" b="0">
                <a:solidFill>
                  <a:srgbClr val="FFFFFF"/>
                </a:solidFill>
                <a:latin typeface="Oracle Sans Tab"/>
                <a:ea typeface="Oracle Sans Tab"/>
                <a:cs typeface="Oracle Sans Tab"/>
              </a:defRPr>
            </a:pPr>
            <a:r>
              <a:rPr sz="1575" b="0">
                <a:solidFill>
                  <a:srgbClr val="FFFFFF"/>
                </a:solidFill>
                <a:latin typeface="Oracle Sans Tab"/>
                <a:ea typeface="Oracle Sans Tab"/>
                <a:cs typeface="Oracle Sans Tab"/>
              </a:rPr>
              <a:t>Next phase ›</a:t>
            </a:r>
          </a:p>
        </p:txBody>
      </p:sp>
    </p:spTree>
    <p:extLst>
      <p:ext uri="{BB962C8B-B14F-4D97-AF65-F5344CB8AC3E}">
        <ns4:creationId val="2532116061"/>
      </p:ext>
    </p:extLst>
  </p:cSld>
  <p:transition spd="fast" advClick="1">
    <p:fade/>
  </p:transition>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cxnSp>
        <p:nvCxnSpPr>
          <p:cNvPr id="45" name="">
            <a:extLst>
              <a:ext uri="{FF2B5EF4-FFF2-40B4-BE49-F238E27FC236}">
                <ns2:creationId id="{7EE4EA21-781E-4B4D-81CD-B4DAF5E72A5A}"/>
              </a:ext>
            </a:extLst>
          </p:cNvPr>
          <p:cNvCxnSpPr>
            <a:stCxn id="43" idx="0"/>
            <a:endCxn id="44" idx="2"/>
          </p:cNvCxnSpPr>
          <p:nvPr/>
        </p:nvCxnSpPr>
        <p:spPr>
          <a:xfrm flipV="1">
            <a:off x="8496300" y="4829175"/>
            <a:ext cx="0" cy="438150"/>
          </a:xfrm>
          <a:prstGeom prst="straightConnector1">
            <a:avLst/>
          </a:prstGeom>
          <a:ln w="16193">
            <a:solidFill>
              <a:srgbClr val="6B625C"/>
            </a:solidFill>
            <a:prstDash val="dash"/>
            <a:tailEnd type="triangle" w="med" len="med"/>
          </a:ln>
        </p:spPr>
      </p:cxnSp>
      <p:cxnSp>
        <p:nvCxnSpPr>
          <p:cNvPr id="41" name="">
            <a:extLst>
              <a:ext uri="{FF2B5EF4-FFF2-40B4-BE49-F238E27FC236}">
                <ns2:creationId id="{B66D479D-F7DE-4AB9-AB1A-59302FF4DD9C}"/>
              </a:ext>
            </a:extLst>
          </p:cNvPr>
          <p:cNvCxnSpPr>
            <a:stCxn id="39" idx="3"/>
            <a:endCxn id="40" idx="1"/>
          </p:cNvCxnSpPr>
          <p:nvPr/>
        </p:nvCxnSpPr>
        <p:spPr>
          <a:xfrm>
            <a:off x="3343275" y="5543550"/>
            <a:ext cx="3886200" cy="0"/>
          </a:xfrm>
          <a:prstGeom prst="straightConnector1">
            <a:avLst/>
          </a:prstGeom>
          <a:ln w="16193">
            <a:solidFill>
              <a:srgbClr val="6B625C"/>
            </a:solidFill>
            <a:prstDash val="dash"/>
            <a:tailEnd type="triangle" w="med" len="med"/>
          </a:ln>
        </p:spPr>
      </p:cxnSp>
      <p:cxnSp>
        <p:nvCxnSpPr>
          <p:cNvPr id="34" name="">
            <a:extLst>
              <a:ext uri="{FF2B5EF4-FFF2-40B4-BE49-F238E27FC236}">
                <ns2:creationId id="{9C018243-78B9-4BA5-8F91-1930E03DB5B3}"/>
              </a:ext>
            </a:extLst>
          </p:cNvPr>
          <p:cNvCxnSpPr>
            <a:stCxn id="32" idx="3"/>
            <a:endCxn id="33" idx="1"/>
          </p:cNvCxnSpPr>
          <p:nvPr/>
        </p:nvCxnSpPr>
        <p:spPr>
          <a:xfrm>
            <a:off x="3343275" y="4619625"/>
            <a:ext cx="3886200" cy="0"/>
          </a:xfrm>
          <a:prstGeom prst="straightConnector1">
            <a:avLst/>
          </a:prstGeom>
          <a:ln w="12383">
            <a:solidFill>
              <a:srgbClr val="A9A29C"/>
            </a:solidFill>
            <a:prstDash val="dash"/>
            <a:tailEnd type="triangle" w="med" len="med"/>
          </a:ln>
        </p:spPr>
      </p:cxnSp>
      <p:cxnSp>
        <p:nvCxnSpPr>
          <p:cNvPr id="31" name="">
            <a:extLst>
              <a:ext uri="{FF2B5EF4-FFF2-40B4-BE49-F238E27FC236}">
                <ns2:creationId id="{B8469155-3AC9-4886-AA9A-7C7C2B7AAAC4}"/>
              </a:ext>
            </a:extLst>
          </p:cNvPr>
          <p:cNvCxnSpPr>
            <a:stCxn id="29" idx="1"/>
            <a:endCxn id="30" idx="3"/>
          </p:cNvCxnSpPr>
          <p:nvPr/>
        </p:nvCxnSpPr>
        <p:spPr>
          <a:xfrm flipH="1">
            <a:off x="3343275" y="4162425"/>
            <a:ext cx="3886200" cy="0"/>
          </a:xfrm>
          <a:prstGeom prst="straightConnector1">
            <a:avLst/>
          </a:prstGeom>
          <a:ln w="12383">
            <a:solidFill>
              <a:srgbClr val="A9A29C"/>
            </a:solidFill>
            <a:prstDash val="dash"/>
            <a:tailEnd type="triangle" w="med" len="med"/>
          </a:ln>
        </p:spPr>
      </p:cxnSp>
      <p:cxnSp>
        <p:nvCxnSpPr>
          <p:cNvPr id="26" name="">
            <a:extLst>
              <a:ext uri="{FF2B5EF4-FFF2-40B4-BE49-F238E27FC236}">
                <ns2:creationId id="{F2DE0843-B73B-4854-9FD3-A85836467A4C}"/>
              </a:ext>
            </a:extLst>
          </p:cNvPr>
          <p:cNvCxnSpPr>
            <a:stCxn id="24" idx="3"/>
            <a:endCxn id="25" idx="1"/>
          </p:cNvCxnSpPr>
          <p:nvPr/>
        </p:nvCxnSpPr>
        <p:spPr>
          <a:xfrm>
            <a:off x="3343275" y="3000375"/>
            <a:ext cx="3886200" cy="0"/>
          </a:xfrm>
          <a:prstGeom prst="straightConnector1">
            <a:avLst/>
          </a:prstGeom>
          <a:ln w="28575">
            <a:solidFill>
              <a:srgbClr val="467553"/>
            </a:solidFill>
            <a:prstDash val="solid"/>
            <a:tailEnd type="triangle" w="med" len="med"/>
          </a:ln>
        </p:spPr>
      </p:cxnSp>
      <p:cxnSp>
        <p:nvCxnSpPr>
          <p:cNvPr id="23" name="">
            <a:extLst>
              <a:ext uri="{FF2B5EF4-FFF2-40B4-BE49-F238E27FC236}">
                <ns2:creationId id="{43BBB6F9-3593-4460-AF67-AD8DD70EEC1E}"/>
              </a:ext>
            </a:extLst>
          </p:cNvPr>
          <p:cNvCxnSpPr>
            <a:stCxn id="21" idx="1"/>
            <a:endCxn id="22" idx="3"/>
          </p:cNvCxnSpPr>
          <p:nvPr/>
        </p:nvCxnSpPr>
        <p:spPr>
          <a:xfrm flipH="1">
            <a:off x="3343275" y="2543175"/>
            <a:ext cx="3886200" cy="0"/>
          </a:xfrm>
          <a:prstGeom prst="straightConnector1">
            <a:avLst/>
          </a:prstGeom>
          <a:ln w="22860">
            <a:solidFill>
              <a:srgbClr val="2C6176"/>
            </a:solidFill>
            <a:prstDash val="solid"/>
            <a:tailEnd type="triangle" w="med" len="med"/>
          </a:ln>
        </p:spPr>
      </p:cxnSp>
      <p:cxnSp>
        <p:nvCxnSpPr>
          <p:cNvPr id="20" name="">
            <a:extLst>
              <a:ext uri="{FF2B5EF4-FFF2-40B4-BE49-F238E27FC236}">
                <ns2:creationId id="{FF685D2D-88E4-4121-9F88-48F607466BF7}"/>
              </a:ext>
            </a:extLst>
          </p:cNvPr>
          <p:cNvCxnSpPr>
            <a:stCxn id="18" idx="1"/>
            <a:endCxn id="19" idx="3"/>
          </p:cNvCxnSpPr>
          <p:nvPr/>
        </p:nvCxnSpPr>
        <p:spPr>
          <a:xfrm flipH="1">
            <a:off x="9772650" y="3733800"/>
            <a:ext cx="504825" cy="0"/>
          </a:xfrm>
          <a:prstGeom prst="straightConnector1">
            <a:avLst/>
          </a:prstGeom>
          <a:ln w="19050">
            <a:solidFill>
              <a:srgbClr val="2C6176"/>
            </a:solidFill>
            <a:prstDash val="solid"/>
            <a:tailEnd type="triangle" w="med" len="med"/>
          </a:ln>
        </p:spPr>
      </p:cxnSp>
      <p:sp>
        <p:nvSpPr>
          <p:cNvPr id="6" name="Text Placeholder 5">
            <a:extLst>
              <a:ext uri="{FF2B5EF4-FFF2-40B4-BE49-F238E27FC236}">
                <ns2:creationId id="{7DCC20AB-A861-EF0B-716D-B516488480DE}"/>
              </a:ext>
            </a:extLst>
          </p:cNvPr>
          <p:cNvSpPr>
            <a:spLocks noGrp="1"/>
          </p:cNvSpPr>
          <p:nvPr>
            <p:ph type="body" idx="11"/>
          </p:nvPr>
        </p:nvSpPr>
        <p:spPr/>
        <p:txBody>
          <a:bodyPr lIns="0" tIns="0" rIns="0" bIns="0">
            <a:noAutofit/>
          </a:bodyPr>
          <a:lstStyle>
            <a:defPPr>
              <a:defRPr sz="2000">
                <a:solidFill>
                  <a:srgbClr val="312D2A"/>
                </a:solidFill>
                <a:latin typeface="Oracle Sans Tab"/>
                <a:ea typeface="Oracle Sans Tab"/>
                <a:cs typeface="Oracle Sans Tab"/>
              </a:defRPr>
            </a:defPPr>
          </a:lstStyle>
          <a:p>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Review the selected zone OCIDs and prepare the target</a:t>
            </a:r>
            <a:endParaRPr/>
          </a:p>
        </p:txBody>
      </p:sp>
      <p:sp>
        <p:nvSpPr>
          <p:cNvPr id="5" name="Title 4">
            <a:extLst>
              <a:ext uri="{FF2B5EF4-FFF2-40B4-BE49-F238E27FC236}">
                <ns2:creationId id="{0A0188C5-9A9C-7F7C-D38B-8623022BA8A4}"/>
              </a:ext>
            </a:extLst>
          </p:cNvPr>
          <p:cNvSpPr>
            <a:spLocks noGrp="1"/>
          </p:cNvSpPr>
          <p:nvPr>
            <p:ph type="title" idx="0"/>
          </p:nvPr>
        </p:nvSpPr>
        <p:spPr/>
        <p:txBody>
          <a:bodyPr lIns="0" tIns="0" rIns="0" bIns="0" anchor="b">
            <a:noAutofit/>
          </a:bodyPr>
          <a:lstStyle>
            <a:defPPr>
              <a:defRPr sz="2400" b="1">
                <a:solidFill>
                  <a:srgbClr val="312D2A"/>
                </a:solidFill>
                <a:latin typeface="Oracle Sans Tab"/>
                <a:ea typeface="Oracle Sans Tab"/>
                <a:cs typeface="Oracle Sans Tab"/>
              </a:defRPr>
            </a:defPPr>
          </a:lstStyle>
          <a:p>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HLD phase 1: source upstream only</a:t>
            </a:r>
            <a:endParaRPr/>
          </a:p>
        </p:txBody>
      </p:sp>
      <p:sp>
        <p:nvSpPr>
          <p:cNvPr id="3" name="Footer Placeholder 2">
            <a:extLst>
              <a:ext uri="{FF2B5EF4-FFF2-40B4-BE49-F238E27FC236}">
                <ns2:creationId id="{4C70B9F6-B0F3-9ED9-FECE-444AC2468B27}"/>
              </a:ext>
            </a:extLst>
          </p:cNvPr>
          <p:cNvSpPr>
            <a:spLocks noGrp="1"/>
          </p:cNvSpPr>
          <p:nvPr>
            <p:ph type="ftr" idx="13"/>
          </p:nvPr>
        </p:nvSpPr>
        <p:spPr/>
        <p:txBody>
          <a:bodyPr lIns="0" tIns="0" rIns="0" bIns="0" anchor="ctr"/>
          <a:lstStyle>
            <a:defPPr>
              <a:defRPr sz="900">
                <a:solidFill>
                  <a:srgbClr val="8B8580"/>
                </a:solidFill>
                <a:latin typeface="Oracle Sans Tab"/>
                <a:ea typeface="Oracle Sans Tab"/>
                <a:cs typeface="Oracle Sans Tab"/>
              </a:defRPr>
            </a:defPPr>
          </a:lstStyle>
          <a:p>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a:ext uri="{FF2B5EF4-FFF2-40B4-BE49-F238E27FC236}">
                <ns2:creationId id="{D6084088-C3B5-30CC-7C65-6B1C87B1C5BF}"/>
              </a:ext>
            </a:extLst>
          </p:cNvPr>
          <p:cNvSpPr>
            <a:spLocks noGrp="1"/>
          </p:cNvSpPr>
          <p:nvPr>
            <p:ph type="sldNum" idx="14"/>
          </p:nvPr>
        </p:nvSpPr>
        <p:spPr/>
        <p:txBody>
          <a:bodyPr lIns="0" tIns="0" rIns="0" bIns="0" anchor="ctr"/>
          <a:lstStyle>
            <a:defPPr>
              <a:defRPr sz="900">
                <a:solidFill>
                  <a:srgbClr val="8B8580"/>
                </a:solidFill>
                <a:latin typeface="Oracle Sans Tab"/>
                <a:ea typeface="Oracle Sans Tab"/>
                <a:cs typeface="Oracle Sans Tab"/>
              </a:defRPr>
            </a:defPPr>
          </a:lstStyle>
          <a:p>
            <a:pPr>
              <a:defRPr sz="900">
                <a:solidFill>
                  <a:srgbClr val="8B8580"/>
                </a:solidFill>
                <a:latin typeface="Oracle Sans Tab"/>
                <a:ea typeface="Oracle Sans Tab"/>
                <a:cs typeface="Oracle Sans Tab"/>
              </a:defRPr>
            </a:pPr>
            <a:fld id="{8C630A04-5A25-9E0C-9436-126091DB86B3}" type="slidenum">
              <a:rPr sz="900">
                <a:solidFill>
                  <a:srgbClr val="8B8580"/>
                </a:solidFill>
                <a:latin typeface="Oracle Sans Tab"/>
                <a:ea typeface="Oracle Sans Tab"/>
                <a:cs typeface="Oracle Sans Tab"/>
              </a:rPr>
              <a:t>6</a:t>
            </a:fld>
            <a:endParaRPr/>
          </a:p>
        </p:txBody>
      </p:sp>
      <p:sp>
        <p:nvSpPr>
          <p:cNvPr id="7" name="HLD-nav-5">
            <a:extLst>
              <a:ext uri="{FF2B5EF4-FFF2-40B4-BE49-F238E27FC236}">
                <ns2:creationId id="{CCCD7C69-743C-43ED-B7D2-416086B33520}"/>
              </a:ext>
            </a:extLst>
            <a:hlinkClick r:id="rIdHld6" action="ppaction://hlinksldjump" tooltip="Go to slide 5" history="1"/>
          </p:cNvPr>
          <p:cNvSpPr>
            <a:spLocks noGrp="1"/>
          </p:cNvSpPr>
          <p:nvPr/>
        </p:nvSpPr>
        <p:spPr>
          <a:xfrm>
            <a:off x="762000"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HLD overview</a:t>
            </a:r>
          </a:p>
        </p:txBody>
      </p:sp>
      <p:sp>
        <p:nvSpPr>
          <p:cNvPr id="8" name="HLD-nav-6">
            <a:extLst>
              <a:ext uri="{FF2B5EF4-FFF2-40B4-BE49-F238E27FC236}">
                <ns2:creationId id="{87D6A484-15BF-4B05-B150-88060D22C88D}"/>
              </a:ext>
            </a:extLst>
            <a:hlinkClick r:id="rIdHld7" action="ppaction://hlinksldjump" tooltip="Go to slide 6" history="1"/>
          </p:cNvPr>
          <p:cNvSpPr>
            <a:spLocks noGrp="1"/>
          </p:cNvSpPr>
          <p:nvPr/>
        </p:nvSpPr>
        <p:spPr>
          <a:xfrm>
            <a:off x="3476625" y="1504950"/>
            <a:ext cx="2524125" cy="381000"/>
          </a:xfrm>
          <a:prstGeom prst="rect">
            <a:avLst/>
          </a:prstGeom>
          <a:solidFill>
            <a:srgbClr val="33553C"/>
          </a:solidFill>
          <a:ln w="13335">
            <a:solidFill>
              <a:srgbClr val="33553C"/>
            </a:solidFill>
          </a:ln>
        </p:spPr>
        <p:txBody>
          <a:bodyPr lIns="95250" tIns="76200" rIns="95250" bIns="76200" anchor="ctr">
            <a:noAutofit/>
          </a:bodyPr>
          <a:lstStyle>
            <a:defPPr algn="ctr">
              <a:defRPr sz="1650" b="0">
                <a:solidFill>
                  <a:srgbClr val="FFFFFF"/>
                </a:solidFill>
                <a:latin typeface="Oracle Sans Tab"/>
                <a:ea typeface="Oracle Sans Tab"/>
                <a:cs typeface="Oracle Sans Tab"/>
              </a:defRPr>
            </a:defPPr>
          </a:lstStyle>
          <a:p>
            <a:pPr algn="ctr">
              <a:defRPr sz="1650" b="0">
                <a:solidFill>
                  <a:srgbClr val="FFFFFF"/>
                </a:solidFill>
                <a:latin typeface="Oracle Sans Tab"/>
                <a:ea typeface="Oracle Sans Tab"/>
                <a:cs typeface="Oracle Sans Tab"/>
              </a:defRPr>
            </a:pPr>
            <a:r>
              <a:rPr sz="1650" b="0">
                <a:solidFill>
                  <a:srgbClr val="FFFFFF"/>
                </a:solidFill>
                <a:latin typeface="Oracle Sans Tab"/>
                <a:ea typeface="Oracle Sans Tab"/>
                <a:cs typeface="Oracle Sans Tab"/>
              </a:rPr>
              <a:t>Phase 1 · source</a:t>
            </a:r>
          </a:p>
        </p:txBody>
      </p:sp>
      <p:sp>
        <p:nvSpPr>
          <p:cNvPr id="9" name="HLD-nav-7">
            <a:extLst>
              <a:ext uri="{FF2B5EF4-FFF2-40B4-BE49-F238E27FC236}">
                <ns2:creationId id="{B7B2B297-4D0E-4094-8189-D0C03150CDFA}"/>
              </a:ext>
            </a:extLst>
            <a:hlinkClick r:id="rIdHld8" action="ppaction://hlinksldjump" tooltip="Go to slide 7" history="1"/>
          </p:cNvPr>
          <p:cNvSpPr>
            <a:spLocks noGrp="1"/>
          </p:cNvSpPr>
          <p:nvPr/>
        </p:nvSpPr>
        <p:spPr>
          <a:xfrm>
            <a:off x="6191250"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Phase 2 · both</a:t>
            </a:r>
          </a:p>
        </p:txBody>
      </p:sp>
      <p:sp>
        <p:nvSpPr>
          <p:cNvPr id="10" name="HLD-nav-8">
            <a:extLst>
              <a:ext uri="{FF2B5EF4-FFF2-40B4-BE49-F238E27FC236}">
                <ns2:creationId id="{9A6E359F-7F91-485B-9D38-E2C7AE5CFFF0}"/>
              </a:ext>
            </a:extLst>
            <a:hlinkClick r:id="rIdHld9" action="ppaction://hlinksldjump" tooltip="Go to slide 8" history="1"/>
          </p:cNvPr>
          <p:cNvSpPr>
            <a:spLocks noGrp="1"/>
          </p:cNvSpPr>
          <p:nvPr/>
        </p:nvSpPr>
        <p:spPr>
          <a:xfrm>
            <a:off x="8905875"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Phase 3 · target</a:t>
            </a:r>
          </a:p>
        </p:txBody>
      </p:sp>
      <p:sp>
        <p:nvSpPr>
          <p:cNvPr id="11" name="hld-click-guide">
            <a:extLst>
              <a:ext uri="{FF2B5EF4-FFF2-40B4-BE49-F238E27FC236}">
                <ns2:creationId id="{6AC0B4BB-C480-4457-ABDD-CAA1694EC58D}"/>
              </a:ext>
            </a:extLst>
          </p:cNvPr>
          <p:cNvSpPr>
            <a:spLocks noGrp="1"/>
          </p:cNvSpPr>
          <p:nvPr/>
        </p:nvSpPr>
        <p:spPr>
          <a:xfrm>
            <a:off x="762000" y="1971675"/>
            <a:ext cx="10668000" cy="266700"/>
          </a:xfrm>
          <a:prstGeom prst="rect">
            <a:avLst/>
          </a:prstGeom>
          <a:noFill/>
          <a:ln w="0">
            <a:noFill/>
          </a:ln>
        </p:spPr>
        <p:txBody>
          <a:bodyPr lIns="0" tIns="0" rIns="0" bIns="0" anchor="t">
            <a:noAutofit/>
          </a:bodyPr>
          <a:lstStyle>
            <a:defPPr>
              <a:defRPr sz="1350" b="0">
                <a:solidFill>
                  <a:srgbClr val="6B625C"/>
                </a:solidFill>
                <a:latin typeface="Oracle Sans Tab"/>
                <a:ea typeface="Oracle Sans Tab"/>
                <a:cs typeface="Oracle Sans Tab"/>
              </a:defRPr>
            </a:defPPr>
          </a:lstStyle>
          <a:p>
            <a:pPr>
              <a:defRPr sz="1350" b="0">
                <a:solidFill>
                  <a:srgbClr val="6B625C"/>
                </a:solidFill>
                <a:latin typeface="Oracle Sans Tab"/>
                <a:ea typeface="Oracle Sans Tab"/>
                <a:cs typeface="Oracle Sans Tab"/>
              </a:defRPr>
            </a:pPr>
            <a:r>
              <a:rPr sz="1350" b="0">
                <a:solidFill>
                  <a:srgbClr val="6B625C"/>
                </a:solidFill>
                <a:latin typeface="Oracle Sans Tab"/>
                <a:ea typeface="Oracle Sans Tab"/>
                <a:cs typeface="Oracle Sans Tab"/>
              </a:rPr>
              <a:t>Click a phase tab or Next phase. Click the slide background to advance.</a:t>
            </a:r>
          </a:p>
        </p:txBody>
      </p:sp>
      <p:sp>
        <p:nvSpPr>
          <p:cNvPr id="12" name="HLD-source">
            <a:extLst>
              <a:ext uri="{FF2B5EF4-FFF2-40B4-BE49-F238E27FC236}">
                <ns2:creationId id="{D01C083B-0F07-492C-9070-DF36533C51CA}"/>
              </a:ext>
            </a:extLst>
          </p:cNvPr>
          <p:cNvSpPr>
            <a:spLocks noGrp="1"/>
          </p:cNvSpPr>
          <p:nvPr/>
        </p:nvSpPr>
        <p:spPr>
          <a:xfrm>
            <a:off x="762000" y="2381250"/>
            <a:ext cx="2571750" cy="819150"/>
          </a:xfrm>
          <a:prstGeom prst="rect">
            <a:avLst/>
          </a:prstGeom>
          <a:solidFill>
            <a:srgbClr val="CBE9D6"/>
          </a:solidFill>
          <a:ln w="13335">
            <a:solidFill>
              <a:srgbClr val="467553"/>
            </a:solidFill>
          </a:ln>
        </p:spPr>
        <p:txBody>
          <a:bodyPr lIns="95250" tIns="76200" rIns="95250" bIns="76200" anchor="ctr">
            <a:noAutofit/>
          </a:bodyPr>
          <a:lstStyle>
            <a:defPPr algn="ctr">
              <a:defRPr sz="1725" b="0">
                <a:solidFill>
                  <a:srgbClr val="312D2A"/>
                </a:solidFill>
                <a:latin typeface="Oracle Sans Tab"/>
                <a:ea typeface="Oracle Sans Tab"/>
                <a:cs typeface="Oracle Sans Tab"/>
              </a:defRPr>
            </a:defPPr>
          </a:lstStyle>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Source upstream</a:t>
            </a:r>
          </a:p>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Configured · per-zone TSIG</a:t>
            </a:r>
          </a:p>
        </p:txBody>
      </p:sp>
      <p:sp>
        <p:nvSpPr>
          <p:cNvPr id="13" name="HLD-target">
            <a:extLst>
              <a:ext uri="{FF2B5EF4-FFF2-40B4-BE49-F238E27FC236}">
                <ns2:creationId id="{4528F0DE-4E96-4CC1-A5AE-F6317E751CFB}"/>
              </a:ext>
            </a:extLst>
          </p:cNvPr>
          <p:cNvSpPr>
            <a:spLocks noGrp="1"/>
          </p:cNvSpPr>
          <p:nvPr/>
        </p:nvSpPr>
        <p:spPr>
          <a:xfrm>
            <a:off x="762000" y="4000500"/>
            <a:ext cx="2571750" cy="819150"/>
          </a:xfrm>
          <a:prstGeom prst="rect">
            <a:avLst/>
          </a:prstGeom>
          <a:solidFill>
            <a:srgbClr val="F0EDEA"/>
          </a:solidFill>
          <a:ln w="13335">
            <a:solidFill>
              <a:srgbClr val="A9A29C"/>
            </a:solidFill>
          </a:ln>
        </p:spPr>
        <p:txBody>
          <a:bodyPr lIns="95250" tIns="76200" rIns="95250" bIns="76200" anchor="ctr">
            <a:noAutofit/>
          </a:bodyPr>
          <a:lstStyle>
            <a:defPPr algn="ctr">
              <a:defRPr sz="1725" b="0">
                <a:solidFill>
                  <a:srgbClr val="6B625C"/>
                </a:solidFill>
                <a:latin typeface="Oracle Sans Tab"/>
                <a:ea typeface="Oracle Sans Tab"/>
                <a:cs typeface="Oracle Sans Tab"/>
              </a:defRPr>
            </a:defPPr>
          </a:lstStyle>
          <a:p>
            <a:pPr algn="ctr">
              <a:defRPr sz="1725" b="0">
                <a:solidFill>
                  <a:srgbClr val="6B625C"/>
                </a:solidFill>
                <a:latin typeface="Oracle Sans Tab"/>
                <a:ea typeface="Oracle Sans Tab"/>
                <a:cs typeface="Oracle Sans Tab"/>
              </a:defRPr>
            </a:pPr>
            <a:r>
              <a:rPr sz="1725" b="0">
                <a:solidFill>
                  <a:srgbClr val="6B625C"/>
                </a:solidFill>
                <a:latin typeface="Oracle Sans Tab"/>
                <a:ea typeface="Oracle Sans Tab"/>
                <a:cs typeface="Oracle Sans Tab"/>
              </a:rPr>
              <a:t>Target upstream</a:t>
            </a:r>
          </a:p>
          <a:p>
            <a:pPr algn="ctr">
              <a:defRPr sz="1725" b="0">
                <a:solidFill>
                  <a:srgbClr val="6B625C"/>
                </a:solidFill>
                <a:latin typeface="Oracle Sans Tab"/>
                <a:ea typeface="Oracle Sans Tab"/>
                <a:cs typeface="Oracle Sans Tab"/>
              </a:defRPr>
            </a:pPr>
            <a:r>
              <a:rPr sz="1725" b="0">
                <a:solidFill>
                  <a:srgbClr val="6B625C"/>
                </a:solidFill>
                <a:latin typeface="Oracle Sans Tab"/>
                <a:ea typeface="Oracle Sans Tab"/>
                <a:cs typeface="Oracle Sans Tab"/>
              </a:rPr>
              <a:t>Ready · not configured</a:t>
            </a:r>
          </a:p>
        </p:txBody>
      </p:sp>
      <p:sp>
        <p:nvSpPr>
          <p:cNvPr id="14" name="HLD-oci">
            <a:extLst>
              <a:ext uri="{FF2B5EF4-FFF2-40B4-BE49-F238E27FC236}">
                <ns2:creationId id="{CB044FBC-9573-42A0-A886-009B80DFFD76}"/>
              </a:ext>
            </a:extLst>
          </p:cNvPr>
          <p:cNvSpPr>
            <a:spLocks noGrp="1"/>
          </p:cNvSpPr>
          <p:nvPr/>
        </p:nvSpPr>
        <p:spPr>
          <a:xfrm>
            <a:off x="7239000" y="2381250"/>
            <a:ext cx="2524125" cy="2438400"/>
          </a:xfrm>
          <a:prstGeom prst="rect">
            <a:avLst/>
          </a:prstGeom>
          <a:solidFill>
            <a:srgbClr val="E9F9EE"/>
          </a:solidFill>
          <a:ln w="13335">
            <a:solidFill>
              <a:srgbClr val="33553C"/>
            </a:solidFill>
          </a:ln>
        </p:spPr>
        <p:txBody>
          <a:bodyPr lIns="95250" tIns="76200" rIns="95250" bIns="76200" anchor="ctr">
            <a:noAutofit/>
          </a:bodyPr>
          <a:lstStyle>
            <a:defPPr algn="ctr">
              <a:defRPr sz="1800" b="0">
                <a:solidFill>
                  <a:srgbClr val="312D2A"/>
                </a:solidFill>
                <a:latin typeface="Oracle Sans Tab"/>
                <a:ea typeface="Oracle Sans Tab"/>
                <a:cs typeface="Oracle Sans Tab"/>
              </a:defRPr>
            </a:defPPr>
          </a:lstStyle>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OCI secondary DNS</a:t>
            </a:r>
          </a:p>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Public authoritative service</a:t>
            </a:r>
          </a:p>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Global zone service</a:t>
            </a:r>
          </a:p>
        </p:txBody>
      </p:sp>
      <p:sp>
        <p:nvSpPr>
          <p:cNvPr id="15" name="HLD-clients">
            <a:extLst>
              <a:ext uri="{FF2B5EF4-FFF2-40B4-BE49-F238E27FC236}">
                <ns2:creationId id="{E453C090-A104-4C32-9C46-F965EF3B1800}"/>
              </a:ext>
            </a:extLst>
          </p:cNvPr>
          <p:cNvSpPr>
            <a:spLocks noGrp="1"/>
          </p:cNvSpPr>
          <p:nvPr/>
        </p:nvSpPr>
        <p:spPr>
          <a:xfrm>
            <a:off x="10287000" y="3295650"/>
            <a:ext cx="1143000" cy="876300"/>
          </a:xfrm>
          <a:prstGeom prst="rect">
            <a:avLst/>
          </a:prstGeom>
          <a:solidFill>
            <a:srgbClr val="FCFBFA"/>
          </a:solidFill>
          <a:ln w="13335">
            <a:solidFill>
              <a:srgbClr val="D9D4CF"/>
            </a:solidFill>
          </a:ln>
        </p:spPr>
        <p:txBody>
          <a:bodyPr lIns="95250" tIns="76200" rIns="95250" bIns="76200" anchor="ctr">
            <a:noAutofit/>
          </a:bodyPr>
          <a:lstStyle>
            <a:defPPr algn="ctr">
              <a:defRPr sz="1500" b="0">
                <a:solidFill>
                  <a:srgbClr val="312D2A"/>
                </a:solidFill>
                <a:latin typeface="Oracle Sans Tab"/>
                <a:ea typeface="Oracle Sans Tab"/>
                <a:cs typeface="Oracle Sans Tab"/>
              </a:defRPr>
            </a:defPPr>
          </a:lstStyle>
          <a:p>
            <a:pPr algn="ctr">
              <a:defRPr sz="1500" b="0">
                <a:solidFill>
                  <a:srgbClr val="312D2A"/>
                </a:solidFill>
                <a:latin typeface="Oracle Sans Tab"/>
                <a:ea typeface="Oracle Sans Tab"/>
                <a:cs typeface="Oracle Sans Tab"/>
              </a:defRPr>
            </a:pPr>
            <a:r>
              <a:rPr sz="1500" b="0">
                <a:solidFill>
                  <a:srgbClr val="312D2A"/>
                </a:solidFill>
                <a:latin typeface="Oracle Sans Tab"/>
                <a:ea typeface="Oracle Sans Tab"/>
                <a:cs typeface="Oracle Sans Tab"/>
              </a:rPr>
              <a:t>Public DNS</a:t>
            </a:r>
          </a:p>
          <a:p>
            <a:pPr algn="ctr">
              <a:defRPr sz="1500" b="0">
                <a:solidFill>
                  <a:srgbClr val="312D2A"/>
                </a:solidFill>
                <a:latin typeface="Oracle Sans Tab"/>
                <a:ea typeface="Oracle Sans Tab"/>
                <a:cs typeface="Oracle Sans Tab"/>
              </a:defRPr>
            </a:pPr>
            <a:r>
              <a:rPr sz="1500" b="0">
                <a:solidFill>
                  <a:srgbClr val="312D2A"/>
                </a:solidFill>
                <a:latin typeface="Oracle Sans Tab"/>
                <a:ea typeface="Oracle Sans Tab"/>
                <a:cs typeface="Oracle Sans Tab"/>
              </a:rPr>
              <a:t>clients</a:t>
            </a:r>
          </a:p>
        </p:txBody>
      </p:sp>
      <p:sp>
        <p:nvSpPr>
          <p:cNvPr id="16" name="hld-query-label">
            <a:extLst>
              <a:ext uri="{FF2B5EF4-FFF2-40B4-BE49-F238E27FC236}">
                <ns2:creationId id="{33D3003D-C509-4F8D-9D1C-A86B77CFBD16}"/>
              </a:ext>
            </a:extLst>
          </p:cNvPr>
          <p:cNvSpPr>
            <a:spLocks noGrp="1"/>
          </p:cNvSpPr>
          <p:nvPr/>
        </p:nvSpPr>
        <p:spPr>
          <a:xfrm>
            <a:off x="9906000" y="2733675"/>
            <a:ext cx="1524000" cy="285750"/>
          </a:xfrm>
          <a:prstGeom prst="rect">
            <a:avLst/>
          </a:prstGeom>
          <a:noFill/>
          <a:ln w="0">
            <a:noFill/>
          </a:ln>
        </p:spPr>
        <p:txBody>
          <a:bodyPr lIns="0" tIns="0" rIns="0" bIns="0" anchor="t">
            <a:noAutofit/>
          </a:bodyPr>
          <a:lstStyle>
            <a:defPPr>
              <a:defRPr sz="1350" b="1">
                <a:solidFill>
                  <a:srgbClr val="2C6176"/>
                </a:solidFill>
                <a:latin typeface="Oracle Sans Tab"/>
                <a:ea typeface="Oracle Sans Tab"/>
                <a:cs typeface="Oracle Sans Tab"/>
              </a:defRPr>
            </a:defPPr>
          </a:lstStyle>
          <a:p>
            <a:pPr>
              <a:defRPr sz="1350" b="1">
                <a:solidFill>
                  <a:srgbClr val="2C6176"/>
                </a:solidFill>
                <a:latin typeface="Oracle Sans Tab"/>
                <a:ea typeface="Oracle Sans Tab"/>
                <a:cs typeface="Oracle Sans Tab"/>
              </a:defRPr>
            </a:pPr>
            <a:r>
              <a:rPr sz="1350" b="1">
                <a:solidFill>
                  <a:srgbClr val="2C6176"/>
                </a:solidFill>
                <a:latin typeface="Oracle Sans Tab"/>
                <a:ea typeface="Oracle Sans Tab"/>
                <a:cs typeface="Oracle Sans Tab"/>
              </a:rPr>
              <a:t>DNS queries</a:t>
            </a:r>
          </a:p>
        </p:txBody>
      </p:sp>
      <p:sp>
        <p:nvSpPr>
          <p:cNvPr id="17" name="hld-query-port">
            <a:extLst>
              <a:ext uri="{FF2B5EF4-FFF2-40B4-BE49-F238E27FC236}">
                <ns2:creationId id="{F7B44C70-F753-468D-8A81-518C69D01DA8}"/>
              </a:ext>
            </a:extLst>
          </p:cNvPr>
          <p:cNvSpPr>
            <a:spLocks noGrp="1"/>
          </p:cNvSpPr>
          <p:nvPr/>
        </p:nvSpPr>
        <p:spPr>
          <a:xfrm>
            <a:off x="9906000" y="3000375"/>
            <a:ext cx="1524000" cy="266700"/>
          </a:xfrm>
          <a:prstGeom prst="rect">
            <a:avLst/>
          </a:prstGeom>
          <a:noFill/>
          <a:ln w="0">
            <a:noFill/>
          </a:ln>
        </p:spPr>
        <p:txBody>
          <a:bodyPr lIns="0" tIns="0" rIns="0" bIns="0" anchor="t">
            <a:noAutofit/>
          </a:bodyPr>
          <a:lstStyle>
            <a:defPPr>
              <a:defRPr sz="1350" b="0">
                <a:solidFill>
                  <a:srgbClr val="6B625C"/>
                </a:solidFill>
                <a:latin typeface="Oracle Sans Tab"/>
                <a:ea typeface="Oracle Sans Tab"/>
                <a:cs typeface="Oracle Sans Tab"/>
              </a:defRPr>
            </a:defPPr>
          </a:lstStyle>
          <a:p>
            <a:pPr>
              <a:defRPr sz="1350" b="0">
                <a:solidFill>
                  <a:srgbClr val="6B625C"/>
                </a:solidFill>
                <a:latin typeface="Oracle Sans Tab"/>
                <a:ea typeface="Oracle Sans Tab"/>
                <a:cs typeface="Oracle Sans Tab"/>
              </a:defRPr>
            </a:pPr>
            <a:r>
              <a:rPr sz="1350" b="0">
                <a:solidFill>
                  <a:srgbClr val="6B625C"/>
                </a:solidFill>
                <a:latin typeface="Oracle Sans Tab"/>
                <a:ea typeface="Oracle Sans Tab"/>
                <a:cs typeface="Oracle Sans Tab"/>
              </a:rPr>
              <a:t>UDP / TCP 53</a:t>
            </a:r>
          </a:p>
        </p:txBody>
      </p:sp>
      <p:sp>
        <p:nvSpPr>
          <p:cNvPr id="18" name="query-from">
            <a:extLst>
              <a:ext uri="{FF2B5EF4-FFF2-40B4-BE49-F238E27FC236}">
                <ns2:creationId id="{42C1C9A2-1DB3-485E-8654-B1B99969B2F9}"/>
              </a:ext>
            </a:extLst>
          </p:cNvPr>
          <p:cNvSpPr>
            <a:spLocks noGrp="1"/>
          </p:cNvSpPr>
          <p:nvPr/>
        </p:nvSpPr>
        <p:spPr>
          <a:xfrm>
            <a:off x="10277475" y="3724275"/>
            <a:ext cx="19050" cy="19050"/>
          </a:xfrm>
          <a:prstGeom prst="rect">
            <a:avLst/>
          </a:prstGeom>
          <a:noFill/>
          <a:ln w="0">
            <a:noFill/>
          </a:ln>
        </p:spPr>
      </p:sp>
      <p:sp>
        <p:nvSpPr>
          <p:cNvPr id="19" name="query-to">
            <a:extLst>
              <a:ext uri="{FF2B5EF4-FFF2-40B4-BE49-F238E27FC236}">
                <ns2:creationId id="{BD7444DB-E045-4043-B2E0-75E1F7107869}"/>
              </a:ext>
            </a:extLst>
          </p:cNvPr>
          <p:cNvSpPr>
            <a:spLocks noGrp="1"/>
          </p:cNvSpPr>
          <p:nvPr/>
        </p:nvSpPr>
        <p:spPr>
          <a:xfrm>
            <a:off x="9753600" y="3724275"/>
            <a:ext cx="19050" cy="19050"/>
          </a:xfrm>
          <a:prstGeom prst="rect">
            <a:avLst/>
          </a:prstGeom>
          <a:noFill/>
          <a:ln w="0">
            <a:noFill/>
          </a:ln>
        </p:spPr>
      </p:sp>
      <p:sp>
        <p:nvSpPr>
          <p:cNvPr id="21" name="source-request-from">
            <a:extLst>
              <a:ext uri="{FF2B5EF4-FFF2-40B4-BE49-F238E27FC236}">
                <ns2:creationId id="{CE1922A5-8FC4-42BA-8249-72962F7CAD34}"/>
              </a:ext>
            </a:extLst>
          </p:cNvPr>
          <p:cNvSpPr>
            <a:spLocks noGrp="1"/>
          </p:cNvSpPr>
          <p:nvPr/>
        </p:nvSpPr>
        <p:spPr>
          <a:xfrm>
            <a:off x="7229475" y="2533650"/>
            <a:ext cx="19050" cy="19050"/>
          </a:xfrm>
          <a:prstGeom prst="rect">
            <a:avLst/>
          </a:prstGeom>
          <a:noFill/>
          <a:ln w="0">
            <a:noFill/>
          </a:ln>
        </p:spPr>
      </p:sp>
      <p:sp>
        <p:nvSpPr>
          <p:cNvPr id="22" name="source-request-to">
            <a:extLst>
              <a:ext uri="{FF2B5EF4-FFF2-40B4-BE49-F238E27FC236}">
                <ns2:creationId id="{4BA936C9-A82A-40D5-888B-F866469AC82C}"/>
              </a:ext>
            </a:extLst>
          </p:cNvPr>
          <p:cNvSpPr>
            <a:spLocks noGrp="1"/>
          </p:cNvSpPr>
          <p:nvPr/>
        </p:nvSpPr>
        <p:spPr>
          <a:xfrm>
            <a:off x="3324225" y="2533650"/>
            <a:ext cx="19050" cy="19050"/>
          </a:xfrm>
          <a:prstGeom prst="rect">
            <a:avLst/>
          </a:prstGeom>
          <a:noFill/>
          <a:ln w="0">
            <a:noFill/>
          </a:ln>
        </p:spPr>
      </p:sp>
      <p:sp>
        <p:nvSpPr>
          <p:cNvPr id="24" name="source-data-from">
            <a:extLst>
              <a:ext uri="{FF2B5EF4-FFF2-40B4-BE49-F238E27FC236}">
                <ns2:creationId id="{8FE279D0-D471-4E8A-9C9C-F32177931AF5}"/>
              </a:ext>
            </a:extLst>
          </p:cNvPr>
          <p:cNvSpPr>
            <a:spLocks noGrp="1"/>
          </p:cNvSpPr>
          <p:nvPr/>
        </p:nvSpPr>
        <p:spPr>
          <a:xfrm>
            <a:off x="3324225" y="2990850"/>
            <a:ext cx="19050" cy="19050"/>
          </a:xfrm>
          <a:prstGeom prst="rect">
            <a:avLst/>
          </a:prstGeom>
          <a:noFill/>
          <a:ln w="0">
            <a:noFill/>
          </a:ln>
        </p:spPr>
      </p:sp>
      <p:sp>
        <p:nvSpPr>
          <p:cNvPr id="25" name="source-data-to">
            <a:extLst>
              <a:ext uri="{FF2B5EF4-FFF2-40B4-BE49-F238E27FC236}">
                <ns2:creationId id="{3B4FE19C-14C8-4508-9AA2-6A66A815B3F3}"/>
              </a:ext>
            </a:extLst>
          </p:cNvPr>
          <p:cNvSpPr>
            <a:spLocks noGrp="1"/>
          </p:cNvSpPr>
          <p:nvPr/>
        </p:nvSpPr>
        <p:spPr>
          <a:xfrm>
            <a:off x="7229475" y="2990850"/>
            <a:ext cx="19050" cy="19050"/>
          </a:xfrm>
          <a:prstGeom prst="rect">
            <a:avLst/>
          </a:prstGeom>
          <a:noFill/>
          <a:ln w="0">
            <a:noFill/>
          </a:ln>
        </p:spPr>
      </p:sp>
      <p:sp>
        <p:nvSpPr>
          <p:cNvPr id="27" name="source-request-label">
            <a:extLst>
              <a:ext uri="{FF2B5EF4-FFF2-40B4-BE49-F238E27FC236}">
                <ns2:creationId id="{1ABF7259-569C-454D-A2EA-5CAC6A7CA245}"/>
              </a:ext>
            </a:extLst>
          </p:cNvPr>
          <p:cNvSpPr>
            <a:spLocks noGrp="1"/>
          </p:cNvSpPr>
          <p:nvPr/>
        </p:nvSpPr>
        <p:spPr>
          <a:xfrm>
            <a:off x="3714750" y="2276475"/>
            <a:ext cx="3257550" cy="257175"/>
          </a:xfrm>
          <a:prstGeom prst="rect">
            <a:avLst/>
          </a:prstGeom>
          <a:noFill/>
          <a:ln w="0">
            <a:noFill/>
          </a:ln>
        </p:spPr>
        <p:txBody>
          <a:bodyPr lIns="0" tIns="0" rIns="0" bIns="0" anchor="t">
            <a:noAutofit/>
          </a:bodyPr>
          <a:lstStyle>
            <a:defPPr>
              <a:defRPr sz="1425" b="0">
                <a:solidFill>
                  <a:srgbClr val="2C6176"/>
                </a:solidFill>
                <a:latin typeface="Oracle Sans Tab"/>
                <a:ea typeface="Oracle Sans Tab"/>
                <a:cs typeface="Oracle Sans Tab"/>
              </a:defRPr>
            </a:defPPr>
          </a:lstStyle>
          <a:p>
            <a:pPr>
              <a:defRPr sz="1425" b="0">
                <a:solidFill>
                  <a:srgbClr val="2C6176"/>
                </a:solidFill>
                <a:latin typeface="Oracle Sans Tab"/>
                <a:ea typeface="Oracle Sans Tab"/>
                <a:cs typeface="Oracle Sans Tab"/>
              </a:defRPr>
            </a:pPr>
            <a:r>
              <a:rPr sz="1425" b="0">
                <a:solidFill>
                  <a:srgbClr val="2C6176"/>
                </a:solidFill>
                <a:latin typeface="Oracle Sans Tab"/>
                <a:ea typeface="Oracle Sans Tab"/>
                <a:cs typeface="Oracle Sans Tab"/>
              </a:rPr>
              <a:t>OCI transfer request · TCP 53</a:t>
            </a:r>
          </a:p>
        </p:txBody>
      </p:sp>
      <p:sp>
        <p:nvSpPr>
          <p:cNvPr id="28" name="source-data-label">
            <a:extLst>
              <a:ext uri="{FF2B5EF4-FFF2-40B4-BE49-F238E27FC236}">
                <ns2:creationId id="{FF0FF36F-23DD-40E7-BADA-906EF60176C0}"/>
              </a:ext>
            </a:extLst>
          </p:cNvPr>
          <p:cNvSpPr>
            <a:spLocks noGrp="1"/>
          </p:cNvSpPr>
          <p:nvPr/>
        </p:nvSpPr>
        <p:spPr>
          <a:xfrm>
            <a:off x="3714750" y="3048000"/>
            <a:ext cx="3257550" cy="266700"/>
          </a:xfrm>
          <a:prstGeom prst="rect">
            <a:avLst/>
          </a:prstGeom>
          <a:noFill/>
          <a:ln w="0">
            <a:noFill/>
          </a:ln>
        </p:spPr>
        <p:txBody>
          <a:bodyPr lIns="0" tIns="0" rIns="0" bIns="0" anchor="t">
            <a:noAutofit/>
          </a:bodyPr>
          <a:lstStyle>
            <a:defPPr>
              <a:defRPr sz="1425" b="0">
                <a:solidFill>
                  <a:srgbClr val="467553"/>
                </a:solidFill>
                <a:latin typeface="Oracle Sans Tab"/>
                <a:ea typeface="Oracle Sans Tab"/>
                <a:cs typeface="Oracle Sans Tab"/>
              </a:defRPr>
            </a:defPPr>
          </a:lstStyle>
          <a:p>
            <a:pPr>
              <a:defRPr sz="1425" b="0">
                <a:solidFill>
                  <a:srgbClr val="467553"/>
                </a:solidFill>
                <a:latin typeface="Oracle Sans Tab"/>
                <a:ea typeface="Oracle Sans Tab"/>
                <a:cs typeface="Oracle Sans Tab"/>
              </a:defRPr>
            </a:pPr>
            <a:r>
              <a:rPr sz="1425" b="0">
                <a:solidFill>
                  <a:srgbClr val="467553"/>
                </a:solidFill>
                <a:latin typeface="Oracle Sans Tab"/>
                <a:ea typeface="Oracle Sans Tab"/>
                <a:cs typeface="Oracle Sans Tab"/>
              </a:rPr>
              <a:t>Zone data · signed AXFR / IXFR</a:t>
            </a:r>
          </a:p>
        </p:txBody>
      </p:sp>
      <p:sp>
        <p:nvSpPr>
          <p:cNvPr id="29" name="target-request-from">
            <a:extLst>
              <a:ext uri="{FF2B5EF4-FFF2-40B4-BE49-F238E27FC236}">
                <ns2:creationId id="{C3898694-6DF9-4053-92A3-5FB9D622D600}"/>
              </a:ext>
            </a:extLst>
          </p:cNvPr>
          <p:cNvSpPr>
            <a:spLocks noGrp="1"/>
          </p:cNvSpPr>
          <p:nvPr/>
        </p:nvSpPr>
        <p:spPr>
          <a:xfrm>
            <a:off x="7229475" y="4152900"/>
            <a:ext cx="19050" cy="19050"/>
          </a:xfrm>
          <a:prstGeom prst="rect">
            <a:avLst/>
          </a:prstGeom>
          <a:noFill/>
          <a:ln w="0">
            <a:noFill/>
          </a:ln>
        </p:spPr>
      </p:sp>
      <p:sp>
        <p:nvSpPr>
          <p:cNvPr id="30" name="target-request-to">
            <a:extLst>
              <a:ext uri="{FF2B5EF4-FFF2-40B4-BE49-F238E27FC236}">
                <ns2:creationId id="{C5A02F1E-C925-48CE-8820-C8D6571E64FF}"/>
              </a:ext>
            </a:extLst>
          </p:cNvPr>
          <p:cNvSpPr>
            <a:spLocks noGrp="1"/>
          </p:cNvSpPr>
          <p:nvPr/>
        </p:nvSpPr>
        <p:spPr>
          <a:xfrm>
            <a:off x="3324225" y="4152900"/>
            <a:ext cx="19050" cy="19050"/>
          </a:xfrm>
          <a:prstGeom prst="rect">
            <a:avLst/>
          </a:prstGeom>
          <a:noFill/>
          <a:ln w="0">
            <a:noFill/>
          </a:ln>
        </p:spPr>
      </p:sp>
      <p:sp>
        <p:nvSpPr>
          <p:cNvPr id="32" name="target-data-from">
            <a:extLst>
              <a:ext uri="{FF2B5EF4-FFF2-40B4-BE49-F238E27FC236}">
                <ns2:creationId id="{C84C3DBE-C536-467C-92C4-0F9DBD84F1C8}"/>
              </a:ext>
            </a:extLst>
          </p:cNvPr>
          <p:cNvSpPr>
            <a:spLocks noGrp="1"/>
          </p:cNvSpPr>
          <p:nvPr/>
        </p:nvSpPr>
        <p:spPr>
          <a:xfrm>
            <a:off x="3324225" y="4610100"/>
            <a:ext cx="19050" cy="19050"/>
          </a:xfrm>
          <a:prstGeom prst="rect">
            <a:avLst/>
          </a:prstGeom>
          <a:noFill/>
          <a:ln w="0">
            <a:noFill/>
          </a:ln>
        </p:spPr>
      </p:sp>
      <p:sp>
        <p:nvSpPr>
          <p:cNvPr id="33" name="target-data-to">
            <a:extLst>
              <a:ext uri="{FF2B5EF4-FFF2-40B4-BE49-F238E27FC236}">
                <ns2:creationId id="{5D160491-443F-4CCB-B00D-10B1840DC12A}"/>
              </a:ext>
            </a:extLst>
          </p:cNvPr>
          <p:cNvSpPr>
            <a:spLocks noGrp="1"/>
          </p:cNvSpPr>
          <p:nvPr/>
        </p:nvSpPr>
        <p:spPr>
          <a:xfrm>
            <a:off x="7229475" y="4610100"/>
            <a:ext cx="19050" cy="19050"/>
          </a:xfrm>
          <a:prstGeom prst="rect">
            <a:avLst/>
          </a:prstGeom>
          <a:noFill/>
          <a:ln w="0">
            <a:noFill/>
          </a:ln>
        </p:spPr>
      </p:sp>
      <p:sp>
        <p:nvSpPr>
          <p:cNvPr id="35" name="target-request-label">
            <a:extLst>
              <a:ext uri="{FF2B5EF4-FFF2-40B4-BE49-F238E27FC236}">
                <ns2:creationId id="{4B7FD760-611D-4CE9-8F2A-CBAA8687AAD0}"/>
              </a:ext>
            </a:extLst>
          </p:cNvPr>
          <p:cNvSpPr>
            <a:spLocks noGrp="1"/>
          </p:cNvSpPr>
          <p:nvPr/>
        </p:nvSpPr>
        <p:spPr>
          <a:xfrm>
            <a:off x="3714750" y="3895725"/>
            <a:ext cx="3257550" cy="257175"/>
          </a:xfrm>
          <a:prstGeom prst="rect">
            <a:avLst/>
          </a:prstGeom>
          <a:noFill/>
          <a:ln w="0">
            <a:noFill/>
          </a:ln>
        </p:spPr>
        <p:txBody>
          <a:bodyPr lIns="0" tIns="0" rIns="0" bIns="0" anchor="t">
            <a:noAutofit/>
          </a:bodyPr>
          <a:lstStyle>
            <a:defPPr>
              <a:defRPr sz="1425" b="0">
                <a:solidFill>
                  <a:srgbClr val="A9A29C"/>
                </a:solidFill>
                <a:latin typeface="Oracle Sans Tab"/>
                <a:ea typeface="Oracle Sans Tab"/>
                <a:cs typeface="Oracle Sans Tab"/>
              </a:defRPr>
            </a:defPPr>
          </a:lstStyle>
          <a:p>
            <a:pPr>
              <a:defRPr sz="1425" b="0">
                <a:solidFill>
                  <a:srgbClr val="A9A29C"/>
                </a:solidFill>
                <a:latin typeface="Oracle Sans Tab"/>
                <a:ea typeface="Oracle Sans Tab"/>
                <a:cs typeface="Oracle Sans Tab"/>
              </a:defRPr>
            </a:pPr>
            <a:r>
              <a:rPr sz="1425" b="0">
                <a:solidFill>
                  <a:srgbClr val="A9A29C"/>
                </a:solidFill>
                <a:latin typeface="Oracle Sans Tab"/>
                <a:ea typeface="Oracle Sans Tab"/>
                <a:cs typeface="Oracle Sans Tab"/>
              </a:rPr>
              <a:t>No OCI transfer path</a:t>
            </a:r>
          </a:p>
        </p:txBody>
      </p:sp>
      <p:sp>
        <p:nvSpPr>
          <p:cNvPr id="36" name="target-data-label">
            <a:extLst>
              <a:ext uri="{FF2B5EF4-FFF2-40B4-BE49-F238E27FC236}">
                <ns2:creationId id="{AB3FF9EB-160B-4995-A2C4-5FEE4B47C61D}"/>
              </a:ext>
            </a:extLst>
          </p:cNvPr>
          <p:cNvSpPr>
            <a:spLocks noGrp="1"/>
          </p:cNvSpPr>
          <p:nvPr/>
        </p:nvSpPr>
        <p:spPr>
          <a:xfrm>
            <a:off x="3714750" y="4667250"/>
            <a:ext cx="3257550" cy="266700"/>
          </a:xfrm>
          <a:prstGeom prst="rect">
            <a:avLst/>
          </a:prstGeom>
          <a:noFill/>
          <a:ln w="0">
            <a:noFill/>
          </a:ln>
        </p:spPr>
        <p:txBody>
          <a:bodyPr lIns="0" tIns="0" rIns="0" bIns="0" anchor="t">
            <a:noAutofit/>
          </a:bodyPr>
          <a:lstStyle>
            <a:defPPr>
              <a:defRPr sz="1425" b="0">
                <a:solidFill>
                  <a:srgbClr val="A9A29C"/>
                </a:solidFill>
                <a:latin typeface="Oracle Sans Tab"/>
                <a:ea typeface="Oracle Sans Tab"/>
                <a:cs typeface="Oracle Sans Tab"/>
              </a:defRPr>
            </a:defPPr>
          </a:lstStyle>
          <a:p>
            <a:pPr>
              <a:defRPr sz="1425" b="0">
                <a:solidFill>
                  <a:srgbClr val="A9A29C"/>
                </a:solidFill>
                <a:latin typeface="Oracle Sans Tab"/>
                <a:ea typeface="Oracle Sans Tab"/>
                <a:cs typeface="Oracle Sans Tab"/>
              </a:defRPr>
            </a:pPr>
            <a:r>
              <a:rPr sz="1425" b="0">
                <a:solidFill>
                  <a:srgbClr val="A9A29C"/>
                </a:solidFill>
                <a:latin typeface="Oracle Sans Tab"/>
                <a:ea typeface="Oracle Sans Tab"/>
                <a:cs typeface="Oracle Sans Tab"/>
              </a:rPr>
              <a:t>IP absent from upstream list</a:t>
            </a:r>
          </a:p>
        </p:txBody>
      </p:sp>
      <p:sp>
        <p:nvSpPr>
          <p:cNvPr id="37" name="HLD-operator">
            <a:extLst>
              <a:ext uri="{FF2B5EF4-FFF2-40B4-BE49-F238E27FC236}">
                <ns2:creationId id="{07049284-32DB-43B1-AA64-0FC5297A02AD}"/>
              </a:ext>
            </a:extLst>
          </p:cNvPr>
          <p:cNvSpPr>
            <a:spLocks noGrp="1"/>
          </p:cNvSpPr>
          <p:nvPr/>
        </p:nvSpPr>
        <p:spPr>
          <a:xfrm>
            <a:off x="762000" y="5276850"/>
            <a:ext cx="2571750" cy="533400"/>
          </a:xfrm>
          <a:prstGeom prst="rect">
            <a:avLst/>
          </a:prstGeom>
          <a:solidFill>
            <a:srgbClr val="FCFBFA"/>
          </a:solidFill>
          <a:ln w="13335">
            <a:solidFill>
              <a:srgbClr val="D9D4CF"/>
            </a:solidFill>
          </a:ln>
        </p:spPr>
        <p:txBody>
          <a:bodyPr lIns="95250" tIns="76200" rIns="95250" bIns="76200" anchor="ctr">
            <a:noAutofit/>
          </a:bodyPr>
          <a:lstStyle>
            <a:defPPr algn="ctr">
              <a:defRPr sz="1575" b="0">
                <a:solidFill>
                  <a:srgbClr val="312D2A"/>
                </a:solidFill>
                <a:latin typeface="Oracle Sans Tab"/>
                <a:ea typeface="Oracle Sans Tab"/>
                <a:cs typeface="Oracle Sans Tab"/>
              </a:defRPr>
            </a:defPPr>
          </a:lstStyle>
          <a:p>
            <a:pPr algn="ctr">
              <a:defRPr sz="1575" b="0">
                <a:solidFill>
                  <a:srgbClr val="312D2A"/>
                </a:solidFill>
                <a:latin typeface="Oracle Sans Tab"/>
                <a:ea typeface="Oracle Sans Tab"/>
                <a:cs typeface="Oracle Sans Tab"/>
              </a:defRPr>
            </a:pPr>
            <a:r>
              <a:rPr sz="1575" b="0">
                <a:solidFill>
                  <a:srgbClr val="312D2A"/>
                </a:solidFill>
                <a:latin typeface="Oracle Sans Tab"/>
                <a:ea typeface="Oracle Sans Tab"/>
                <a:cs typeface="Oracle Sans Tab"/>
              </a:rPr>
              <a:t>Operator · Python scripts</a:t>
            </a:r>
          </a:p>
        </p:txBody>
      </p:sp>
      <p:sp>
        <p:nvSpPr>
          <p:cNvPr id="38" name="HLD-api">
            <a:extLst>
              <a:ext uri="{FF2B5EF4-FFF2-40B4-BE49-F238E27FC236}">
                <ns2:creationId id="{D2007994-B946-47D0-B367-B613964293AD}"/>
              </a:ext>
            </a:extLst>
          </p:cNvPr>
          <p:cNvSpPr>
            <a:spLocks noGrp="1"/>
          </p:cNvSpPr>
          <p:nvPr/>
        </p:nvSpPr>
        <p:spPr>
          <a:xfrm>
            <a:off x="7239000" y="5276850"/>
            <a:ext cx="2524125" cy="533400"/>
          </a:xfrm>
          <a:prstGeom prst="rect">
            <a:avLst/>
          </a:prstGeom>
          <a:solidFill>
            <a:srgbClr val="FCFBFA"/>
          </a:solidFill>
          <a:ln w="13335">
            <a:solidFill>
              <a:srgbClr val="D9D4CF"/>
            </a:solidFill>
          </a:ln>
        </p:spPr>
        <p:txBody>
          <a:bodyPr lIns="95250" tIns="76200" rIns="95250" bIns="76200" anchor="ctr">
            <a:noAutofit/>
          </a:bodyPr>
          <a:lstStyle>
            <a:defPPr algn="ctr">
              <a:defRPr sz="1575" b="0">
                <a:solidFill>
                  <a:srgbClr val="312D2A"/>
                </a:solidFill>
                <a:latin typeface="Oracle Sans Tab"/>
                <a:ea typeface="Oracle Sans Tab"/>
                <a:cs typeface="Oracle Sans Tab"/>
              </a:defRPr>
            </a:defPPr>
          </a:lstStyle>
          <a:p>
            <a:pPr algn="ctr">
              <a:defRPr sz="1575" b="0">
                <a:solidFill>
                  <a:srgbClr val="312D2A"/>
                </a:solidFill>
                <a:latin typeface="Oracle Sans Tab"/>
                <a:ea typeface="Oracle Sans Tab"/>
                <a:cs typeface="Oracle Sans Tab"/>
              </a:defRPr>
            </a:pPr>
            <a:r>
              <a:rPr sz="1575" b="0">
                <a:solidFill>
                  <a:srgbClr val="312D2A"/>
                </a:solidFill>
                <a:latin typeface="Oracle Sans Tab"/>
                <a:ea typeface="Oracle Sans Tab"/>
                <a:cs typeface="Oracle Sans Tab"/>
              </a:rPr>
              <a:t>OCI DNS API</a:t>
            </a:r>
          </a:p>
        </p:txBody>
      </p:sp>
      <p:sp>
        <p:nvSpPr>
          <p:cNvPr id="39" name="api-call-from">
            <a:extLst>
              <a:ext uri="{FF2B5EF4-FFF2-40B4-BE49-F238E27FC236}">
                <ns2:creationId id="{BC590ABE-DEB6-4CC6-98CA-5C544248CF68}"/>
              </a:ext>
            </a:extLst>
          </p:cNvPr>
          <p:cNvSpPr>
            <a:spLocks noGrp="1"/>
          </p:cNvSpPr>
          <p:nvPr/>
        </p:nvSpPr>
        <p:spPr>
          <a:xfrm>
            <a:off x="3324225" y="5534025"/>
            <a:ext cx="19050" cy="19050"/>
          </a:xfrm>
          <a:prstGeom prst="rect">
            <a:avLst/>
          </a:prstGeom>
          <a:noFill/>
          <a:ln w="0">
            <a:noFill/>
          </a:ln>
        </p:spPr>
      </p:sp>
      <p:sp>
        <p:nvSpPr>
          <p:cNvPr id="40" name="api-call-to">
            <a:extLst>
              <a:ext uri="{FF2B5EF4-FFF2-40B4-BE49-F238E27FC236}">
                <ns2:creationId id="{5C781755-6BDA-46BC-827C-577EB2F8344C}"/>
              </a:ext>
            </a:extLst>
          </p:cNvPr>
          <p:cNvSpPr>
            <a:spLocks noGrp="1"/>
          </p:cNvSpPr>
          <p:nvPr/>
        </p:nvSpPr>
        <p:spPr>
          <a:xfrm>
            <a:off x="7229475" y="5534025"/>
            <a:ext cx="19050" cy="19050"/>
          </a:xfrm>
          <a:prstGeom prst="rect">
            <a:avLst/>
          </a:prstGeom>
          <a:noFill/>
          <a:ln w="0">
            <a:noFill/>
          </a:ln>
        </p:spPr>
      </p:sp>
      <p:sp>
        <p:nvSpPr>
          <p:cNvPr id="42" name="hld-api-label">
            <a:extLst>
              <a:ext uri="{FF2B5EF4-FFF2-40B4-BE49-F238E27FC236}">
                <ns2:creationId id="{5CA44365-EF22-490F-8FFD-E44EE53672CE}"/>
              </a:ext>
            </a:extLst>
          </p:cNvPr>
          <p:cNvSpPr>
            <a:spLocks noGrp="1"/>
          </p:cNvSpPr>
          <p:nvPr/>
        </p:nvSpPr>
        <p:spPr>
          <a:xfrm>
            <a:off x="3714750" y="5229225"/>
            <a:ext cx="3238500" cy="266700"/>
          </a:xfrm>
          <a:prstGeom prst="rect">
            <a:avLst/>
          </a:prstGeom>
          <a:noFill/>
          <a:ln w="0">
            <a:noFill/>
          </a:ln>
        </p:spPr>
        <p:txBody>
          <a:bodyPr lIns="0" tIns="0" rIns="0" bIns="0" anchor="t">
            <a:noAutofit/>
          </a:bodyPr>
          <a:lstStyle>
            <a:defPPr>
              <a:defRPr sz="1425" b="0">
                <a:solidFill>
                  <a:srgbClr val="6B625C"/>
                </a:solidFill>
                <a:latin typeface="Oracle Sans Tab"/>
                <a:ea typeface="Oracle Sans Tab"/>
                <a:cs typeface="Oracle Sans Tab"/>
              </a:defRPr>
            </a:defPPr>
          </a:lstStyle>
          <a:p>
            <a:pPr>
              <a:defRPr sz="1425" b="0">
                <a:solidFill>
                  <a:srgbClr val="6B625C"/>
                </a:solidFill>
                <a:latin typeface="Oracle Sans Tab"/>
                <a:ea typeface="Oracle Sans Tab"/>
                <a:cs typeface="Oracle Sans Tab"/>
              </a:defRPr>
            </a:pPr>
            <a:r>
              <a:rPr sz="1425" b="0">
                <a:solidFill>
                  <a:srgbClr val="6B625C"/>
                </a:solidFill>
                <a:latin typeface="Oracle Sans Tab"/>
                <a:ea typeface="Oracle Sans Tab"/>
                <a:cs typeface="Oracle Sans Tab"/>
              </a:rPr>
              <a:t>List / Get · HTTPS 443</a:t>
            </a:r>
          </a:p>
        </p:txBody>
      </p:sp>
      <p:sp>
        <p:nvSpPr>
          <p:cNvPr id="43" name="api-zone-state-from">
            <a:extLst>
              <a:ext uri="{FF2B5EF4-FFF2-40B4-BE49-F238E27FC236}">
                <ns2:creationId id="{DC9B8E48-4F68-469C-8860-562CCF980D09}"/>
              </a:ext>
            </a:extLst>
          </p:cNvPr>
          <p:cNvSpPr>
            <a:spLocks noGrp="1"/>
          </p:cNvSpPr>
          <p:nvPr/>
        </p:nvSpPr>
        <p:spPr>
          <a:xfrm>
            <a:off x="8486775" y="5267325"/>
            <a:ext cx="19050" cy="19050"/>
          </a:xfrm>
          <a:prstGeom prst="rect">
            <a:avLst/>
          </a:prstGeom>
          <a:noFill/>
          <a:ln w="0">
            <a:noFill/>
          </a:ln>
        </p:spPr>
      </p:sp>
      <p:sp>
        <p:nvSpPr>
          <p:cNvPr id="44" name="api-zone-state-to">
            <a:extLst>
              <a:ext uri="{FF2B5EF4-FFF2-40B4-BE49-F238E27FC236}">
                <ns2:creationId id="{04856728-015B-451E-BA6A-48A9E0E6B603}"/>
              </a:ext>
            </a:extLst>
          </p:cNvPr>
          <p:cNvSpPr>
            <a:spLocks noGrp="1"/>
          </p:cNvSpPr>
          <p:nvPr/>
        </p:nvSpPr>
        <p:spPr>
          <a:xfrm>
            <a:off x="8486775" y="4810125"/>
            <a:ext cx="19050" cy="19050"/>
          </a:xfrm>
          <a:prstGeom prst="rect">
            <a:avLst/>
          </a:prstGeom>
          <a:noFill/>
          <a:ln w="0">
            <a:noFill/>
          </a:ln>
        </p:spPr>
      </p:sp>
      <p:sp>
        <p:nvSpPr>
          <p:cNvPr id="46" name="hld-gate">
            <a:extLst>
              <a:ext uri="{FF2B5EF4-FFF2-40B4-BE49-F238E27FC236}">
                <ns2:creationId id="{6DAF3ADB-3D5D-4562-AB65-E45B5F62F73F}"/>
              </a:ext>
            </a:extLst>
          </p:cNvPr>
          <p:cNvSpPr>
            <a:spLocks noGrp="1"/>
          </p:cNvSpPr>
          <p:nvPr/>
        </p:nvSpPr>
        <p:spPr>
          <a:xfrm>
            <a:off x="762000" y="5981700"/>
            <a:ext cx="8572500" cy="304800"/>
          </a:xfrm>
          <a:prstGeom prst="rect">
            <a:avLst/>
          </a:prstGeom>
          <a:noFill/>
          <a:ln w="0">
            <a:noFill/>
          </a:ln>
        </p:spPr>
        <p:txBody>
          <a:bodyPr lIns="0" tIns="0" rIns="0" bIns="0" anchor="t">
            <a:noAutofit/>
          </a:bodyPr>
          <a:lstStyle>
            <a:defPPr>
              <a:defRPr sz="1350" b="1">
                <a:solidFill>
                  <a:srgbClr val="33553C"/>
                </a:solidFill>
                <a:latin typeface="Oracle Sans Tab"/>
                <a:ea typeface="Oracle Sans Tab"/>
                <a:cs typeface="Oracle Sans Tab"/>
              </a:defRPr>
            </a:defPPr>
          </a:lstStyle>
          <a:p>
            <a:pPr>
              <a:defRPr sz="1350" b="1">
                <a:solidFill>
                  <a:srgbClr val="33553C"/>
                </a:solidFill>
                <a:latin typeface="Oracle Sans Tab"/>
                <a:ea typeface="Oracle Sans Tab"/>
                <a:cs typeface="Oracle Sans Tab"/>
              </a:defRPr>
            </a:pPr>
            <a:r>
              <a:rPr sz="1350" b="1">
                <a:solidFill>
                  <a:srgbClr val="33553C"/>
                </a:solidFill>
                <a:latin typeface="Oracle Sans Tab"/>
                <a:ea typeface="Oracle Sans Tab"/>
                <a:cs typeface="Oracle Sans Tab"/>
              </a:rPr>
              <a:t>Gate: review OCID file, target records, SOA serials and per-zone TSIG before adding the target.</a:t>
            </a:r>
          </a:p>
        </p:txBody>
      </p:sp>
      <p:sp>
        <p:nvSpPr>
          <p:cNvPr id="47" name="HLD-nav-7">
            <a:extLst>
              <a:ext uri="{FF2B5EF4-FFF2-40B4-BE49-F238E27FC236}">
                <ns2:creationId id="{A8976018-4A07-465A-A919-CB8E8586FBEC}"/>
              </a:ext>
            </a:extLst>
            <a:hlinkClick r:id="rIdHld10" action="ppaction://hlinksldjump" tooltip="Go to slide 7" history="1"/>
          </p:cNvPr>
          <p:cNvSpPr>
            <a:spLocks noGrp="1"/>
          </p:cNvSpPr>
          <p:nvPr/>
        </p:nvSpPr>
        <p:spPr>
          <a:xfrm>
            <a:off x="9667875" y="5924550"/>
            <a:ext cx="1762125" cy="361950"/>
          </a:xfrm>
          <a:prstGeom prst="rect">
            <a:avLst/>
          </a:prstGeom>
          <a:solidFill>
            <a:srgbClr val="33553C"/>
          </a:solidFill>
          <a:ln w="13335">
            <a:solidFill>
              <a:srgbClr val="33553C"/>
            </a:solidFill>
          </a:ln>
        </p:spPr>
        <p:txBody>
          <a:bodyPr lIns="95250" tIns="76200" rIns="95250" bIns="76200" anchor="ctr">
            <a:noAutofit/>
          </a:bodyPr>
          <a:lstStyle>
            <a:defPPr algn="ctr">
              <a:defRPr sz="1575" b="0">
                <a:solidFill>
                  <a:srgbClr val="FFFFFF"/>
                </a:solidFill>
                <a:latin typeface="Oracle Sans Tab"/>
                <a:ea typeface="Oracle Sans Tab"/>
                <a:cs typeface="Oracle Sans Tab"/>
              </a:defRPr>
            </a:defPPr>
          </a:lstStyle>
          <a:p>
            <a:pPr algn="ctr">
              <a:defRPr sz="1575" b="0">
                <a:solidFill>
                  <a:srgbClr val="FFFFFF"/>
                </a:solidFill>
                <a:latin typeface="Oracle Sans Tab"/>
                <a:ea typeface="Oracle Sans Tab"/>
                <a:cs typeface="Oracle Sans Tab"/>
              </a:defRPr>
            </a:pPr>
            <a:r>
              <a:rPr sz="1575" b="0">
                <a:solidFill>
                  <a:srgbClr val="FFFFFF"/>
                </a:solidFill>
                <a:latin typeface="Oracle Sans Tab"/>
                <a:ea typeface="Oracle Sans Tab"/>
                <a:cs typeface="Oracle Sans Tab"/>
              </a:rPr>
              <a:t>Next phase ›</a:t>
            </a:r>
          </a:p>
        </p:txBody>
      </p:sp>
    </p:spTree>
    <p:extLst>
      <p:ext uri="{BB962C8B-B14F-4D97-AF65-F5344CB8AC3E}">
        <ns4:creationId val="2532116061"/>
      </p:ext>
    </p:extLst>
  </p:cSld>
  <p:transition spd="fast" advClick="1">
    <p:fade/>
  </p:transition>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cxnSp>
        <p:nvCxnSpPr>
          <p:cNvPr id="45" name="">
            <a:extLst>
              <a:ext uri="{FF2B5EF4-FFF2-40B4-BE49-F238E27FC236}">
                <ns2:creationId id="{692DA77E-5A2E-47EF-9210-CFF10C0B5033}"/>
              </a:ext>
            </a:extLst>
          </p:cNvPr>
          <p:cNvCxnSpPr>
            <a:stCxn id="43" idx="0"/>
            <a:endCxn id="44" idx="2"/>
          </p:cNvCxnSpPr>
          <p:nvPr/>
        </p:nvCxnSpPr>
        <p:spPr>
          <a:xfrm flipV="1">
            <a:off x="8496300" y="4829175"/>
            <a:ext cx="0" cy="438150"/>
          </a:xfrm>
          <a:prstGeom prst="straightConnector1">
            <a:avLst/>
          </a:prstGeom>
          <a:ln w="16193">
            <a:solidFill>
              <a:srgbClr val="6B625C"/>
            </a:solidFill>
            <a:prstDash val="dash"/>
            <a:tailEnd type="triangle" w="med" len="med"/>
          </a:ln>
        </p:spPr>
      </p:cxnSp>
      <p:cxnSp>
        <p:nvCxnSpPr>
          <p:cNvPr id="41" name="">
            <a:extLst>
              <a:ext uri="{FF2B5EF4-FFF2-40B4-BE49-F238E27FC236}">
                <ns2:creationId id="{6E991946-066B-4519-831E-46E987EDD3CF}"/>
              </a:ext>
            </a:extLst>
          </p:cNvPr>
          <p:cNvCxnSpPr>
            <a:stCxn id="39" idx="3"/>
            <a:endCxn id="40" idx="1"/>
          </p:cNvCxnSpPr>
          <p:nvPr/>
        </p:nvCxnSpPr>
        <p:spPr>
          <a:xfrm>
            <a:off x="3343275" y="5543550"/>
            <a:ext cx="3886200" cy="0"/>
          </a:xfrm>
          <a:prstGeom prst="straightConnector1">
            <a:avLst/>
          </a:prstGeom>
          <a:ln w="16193">
            <a:solidFill>
              <a:srgbClr val="6B625C"/>
            </a:solidFill>
            <a:prstDash val="dash"/>
            <a:tailEnd type="triangle" w="med" len="med"/>
          </a:ln>
        </p:spPr>
      </p:cxnSp>
      <p:cxnSp>
        <p:nvCxnSpPr>
          <p:cNvPr id="34" name="">
            <a:extLst>
              <a:ext uri="{FF2B5EF4-FFF2-40B4-BE49-F238E27FC236}">
                <ns2:creationId id="{F9D1E0FA-78D1-4AD6-8E1C-26BF1B81A6A1}"/>
              </a:ext>
            </a:extLst>
          </p:cNvPr>
          <p:cNvCxnSpPr>
            <a:stCxn id="32" idx="3"/>
            <a:endCxn id="33" idx="1"/>
          </p:cNvCxnSpPr>
          <p:nvPr/>
        </p:nvCxnSpPr>
        <p:spPr>
          <a:xfrm>
            <a:off x="3343275" y="4619625"/>
            <a:ext cx="3886200" cy="0"/>
          </a:xfrm>
          <a:prstGeom prst="straightConnector1">
            <a:avLst/>
          </a:prstGeom>
          <a:ln w="28575">
            <a:solidFill>
              <a:srgbClr val="467553"/>
            </a:solidFill>
            <a:prstDash val="solid"/>
            <a:tailEnd type="triangle" w="med" len="med"/>
          </a:ln>
        </p:spPr>
      </p:cxnSp>
      <p:cxnSp>
        <p:nvCxnSpPr>
          <p:cNvPr id="31" name="">
            <a:extLst>
              <a:ext uri="{FF2B5EF4-FFF2-40B4-BE49-F238E27FC236}">
                <ns2:creationId id="{D9BF50B3-99C1-4EEE-ADFF-2A00DED8FE45}"/>
              </a:ext>
            </a:extLst>
          </p:cNvPr>
          <p:cNvCxnSpPr>
            <a:stCxn id="29" idx="1"/>
            <a:endCxn id="30" idx="3"/>
          </p:cNvCxnSpPr>
          <p:nvPr/>
        </p:nvCxnSpPr>
        <p:spPr>
          <a:xfrm flipH="1">
            <a:off x="3343275" y="4162425"/>
            <a:ext cx="3886200" cy="0"/>
          </a:xfrm>
          <a:prstGeom prst="straightConnector1">
            <a:avLst/>
          </a:prstGeom>
          <a:ln w="22860">
            <a:solidFill>
              <a:srgbClr val="2C6176"/>
            </a:solidFill>
            <a:prstDash val="solid"/>
            <a:tailEnd type="triangle" w="med" len="med"/>
          </a:ln>
        </p:spPr>
      </p:cxnSp>
      <p:cxnSp>
        <p:nvCxnSpPr>
          <p:cNvPr id="26" name="">
            <a:extLst>
              <a:ext uri="{FF2B5EF4-FFF2-40B4-BE49-F238E27FC236}">
                <ns2:creationId id="{96D816B0-531E-413F-BC15-4A1EB9BF12F4}"/>
              </a:ext>
            </a:extLst>
          </p:cNvPr>
          <p:cNvCxnSpPr>
            <a:stCxn id="24" idx="3"/>
            <a:endCxn id="25" idx="1"/>
          </p:cNvCxnSpPr>
          <p:nvPr/>
        </p:nvCxnSpPr>
        <p:spPr>
          <a:xfrm>
            <a:off x="3343275" y="3000375"/>
            <a:ext cx="3886200" cy="0"/>
          </a:xfrm>
          <a:prstGeom prst="straightConnector1">
            <a:avLst/>
          </a:prstGeom>
          <a:ln w="28575">
            <a:solidFill>
              <a:srgbClr val="467553"/>
            </a:solidFill>
            <a:prstDash val="solid"/>
            <a:tailEnd type="triangle" w="med" len="med"/>
          </a:ln>
        </p:spPr>
      </p:cxnSp>
      <p:cxnSp>
        <p:nvCxnSpPr>
          <p:cNvPr id="23" name="">
            <a:extLst>
              <a:ext uri="{FF2B5EF4-FFF2-40B4-BE49-F238E27FC236}">
                <ns2:creationId id="{4A9356A6-D2EB-469B-BE29-BC9FB843A448}"/>
              </a:ext>
            </a:extLst>
          </p:cNvPr>
          <p:cNvCxnSpPr>
            <a:stCxn id="21" idx="1"/>
            <a:endCxn id="22" idx="3"/>
          </p:cNvCxnSpPr>
          <p:nvPr/>
        </p:nvCxnSpPr>
        <p:spPr>
          <a:xfrm flipH="1">
            <a:off x="3343275" y="2543175"/>
            <a:ext cx="3886200" cy="0"/>
          </a:xfrm>
          <a:prstGeom prst="straightConnector1">
            <a:avLst/>
          </a:prstGeom>
          <a:ln w="22860">
            <a:solidFill>
              <a:srgbClr val="2C6176"/>
            </a:solidFill>
            <a:prstDash val="solid"/>
            <a:tailEnd type="triangle" w="med" len="med"/>
          </a:ln>
        </p:spPr>
      </p:cxnSp>
      <p:cxnSp>
        <p:nvCxnSpPr>
          <p:cNvPr id="20" name="">
            <a:extLst>
              <a:ext uri="{FF2B5EF4-FFF2-40B4-BE49-F238E27FC236}">
                <ns2:creationId id="{608CE055-BBA9-4F9B-BAA7-CF52F893D123}"/>
              </a:ext>
            </a:extLst>
          </p:cNvPr>
          <p:cNvCxnSpPr>
            <a:stCxn id="18" idx="1"/>
            <a:endCxn id="19" idx="3"/>
          </p:cNvCxnSpPr>
          <p:nvPr/>
        </p:nvCxnSpPr>
        <p:spPr>
          <a:xfrm flipH="1">
            <a:off x="9772650" y="3733800"/>
            <a:ext cx="504825" cy="0"/>
          </a:xfrm>
          <a:prstGeom prst="straightConnector1">
            <a:avLst/>
          </a:prstGeom>
          <a:ln w="19050">
            <a:solidFill>
              <a:srgbClr val="2C6176"/>
            </a:solidFill>
            <a:prstDash val="solid"/>
            <a:tailEnd type="triangle" w="med" len="med"/>
          </a:ln>
        </p:spPr>
      </p:cxnSp>
      <p:sp>
        <p:nvSpPr>
          <p:cNvPr id="6" name="Text Placeholder 5">
            <a:extLst>
              <a:ext uri="{FF2B5EF4-FFF2-40B4-BE49-F238E27FC236}">
                <ns2:creationId id="{7DCC20AB-A861-EF0B-716D-B516488480DE}"/>
              </a:ext>
            </a:extLst>
          </p:cNvPr>
          <p:cNvSpPr>
            <a:spLocks noGrp="1"/>
          </p:cNvSpPr>
          <p:nvPr>
            <p:ph type="body" idx="11"/>
          </p:nvPr>
        </p:nvSpPr>
        <p:spPr/>
        <p:txBody>
          <a:bodyPr lIns="0" tIns="0" rIns="0" bIns="0">
            <a:noAutofit/>
          </a:bodyPr>
          <a:lstStyle>
            <a:defPPr>
              <a:defRPr sz="2000">
                <a:solidFill>
                  <a:srgbClr val="312D2A"/>
                </a:solidFill>
                <a:latin typeface="Oracle Sans Tab"/>
                <a:ea typeface="Oracle Sans Tab"/>
                <a:cs typeface="Oracle Sans Tab"/>
              </a:defRPr>
            </a:defPPr>
          </a:lstStyle>
          <a:p>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Add the target, then verify a fresh transfer from it</a:t>
            </a:r>
            <a:endParaRPr/>
          </a:p>
        </p:txBody>
      </p:sp>
      <p:sp>
        <p:nvSpPr>
          <p:cNvPr id="5" name="Title 4">
            <a:extLst>
              <a:ext uri="{FF2B5EF4-FFF2-40B4-BE49-F238E27FC236}">
                <ns2:creationId id="{0A0188C5-9A9C-7F7C-D38B-8623022BA8A4}"/>
              </a:ext>
            </a:extLst>
          </p:cNvPr>
          <p:cNvSpPr>
            <a:spLocks noGrp="1"/>
          </p:cNvSpPr>
          <p:nvPr>
            <p:ph type="title" idx="0"/>
          </p:nvPr>
        </p:nvSpPr>
        <p:spPr/>
        <p:txBody>
          <a:bodyPr lIns="0" tIns="0" rIns="0" bIns="0" anchor="b">
            <a:noAutofit/>
          </a:bodyPr>
          <a:lstStyle>
            <a:defPPr>
              <a:defRPr sz="2400" b="1">
                <a:solidFill>
                  <a:srgbClr val="312D2A"/>
                </a:solidFill>
                <a:latin typeface="Oracle Sans Tab"/>
                <a:ea typeface="Oracle Sans Tab"/>
                <a:cs typeface="Oracle Sans Tab"/>
              </a:defRPr>
            </a:defPPr>
          </a:lstStyle>
          <a:p>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HLD phase 2: source and target</a:t>
            </a:r>
            <a:endParaRPr/>
          </a:p>
        </p:txBody>
      </p:sp>
      <p:sp>
        <p:nvSpPr>
          <p:cNvPr id="3" name="Footer Placeholder 2">
            <a:extLst>
              <a:ext uri="{FF2B5EF4-FFF2-40B4-BE49-F238E27FC236}">
                <ns2:creationId id="{4C70B9F6-B0F3-9ED9-FECE-444AC2468B27}"/>
              </a:ext>
            </a:extLst>
          </p:cNvPr>
          <p:cNvSpPr>
            <a:spLocks noGrp="1"/>
          </p:cNvSpPr>
          <p:nvPr>
            <p:ph type="ftr" idx="13"/>
          </p:nvPr>
        </p:nvSpPr>
        <p:spPr/>
        <p:txBody>
          <a:bodyPr lIns="0" tIns="0" rIns="0" bIns="0" anchor="ctr"/>
          <a:lstStyle>
            <a:defPPr>
              <a:defRPr sz="900">
                <a:solidFill>
                  <a:srgbClr val="8B8580"/>
                </a:solidFill>
                <a:latin typeface="Oracle Sans Tab"/>
                <a:ea typeface="Oracle Sans Tab"/>
                <a:cs typeface="Oracle Sans Tab"/>
              </a:defRPr>
            </a:defPPr>
          </a:lstStyle>
          <a:p>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a:ext uri="{FF2B5EF4-FFF2-40B4-BE49-F238E27FC236}">
                <ns2:creationId id="{D6084088-C3B5-30CC-7C65-6B1C87B1C5BF}"/>
              </a:ext>
            </a:extLst>
          </p:cNvPr>
          <p:cNvSpPr>
            <a:spLocks noGrp="1"/>
          </p:cNvSpPr>
          <p:nvPr>
            <p:ph type="sldNum" idx="14"/>
          </p:nvPr>
        </p:nvSpPr>
        <p:spPr/>
        <p:txBody>
          <a:bodyPr lIns="0" tIns="0" rIns="0" bIns="0" anchor="ctr"/>
          <a:lstStyle>
            <a:defPPr>
              <a:defRPr sz="900">
                <a:solidFill>
                  <a:srgbClr val="8B8580"/>
                </a:solidFill>
                <a:latin typeface="Oracle Sans Tab"/>
                <a:ea typeface="Oracle Sans Tab"/>
                <a:cs typeface="Oracle Sans Tab"/>
              </a:defRPr>
            </a:defPPr>
          </a:lstStyle>
          <a:p>
            <a:pPr>
              <a:defRPr sz="900">
                <a:solidFill>
                  <a:srgbClr val="8B8580"/>
                </a:solidFill>
                <a:latin typeface="Oracle Sans Tab"/>
                <a:ea typeface="Oracle Sans Tab"/>
                <a:cs typeface="Oracle Sans Tab"/>
              </a:defRPr>
            </a:pPr>
            <a:fld id="{D3D7D1C8-AE23-AA48-DF65-C742588DBE47}" type="slidenum">
              <a:rPr sz="900">
                <a:solidFill>
                  <a:srgbClr val="8B8580"/>
                </a:solidFill>
                <a:latin typeface="Oracle Sans Tab"/>
                <a:ea typeface="Oracle Sans Tab"/>
                <a:cs typeface="Oracle Sans Tab"/>
              </a:rPr>
              <a:t>7</a:t>
            </a:fld>
            <a:endParaRPr/>
          </a:p>
        </p:txBody>
      </p:sp>
      <p:sp>
        <p:nvSpPr>
          <p:cNvPr id="7" name="HLD-nav-5">
            <a:extLst>
              <a:ext uri="{FF2B5EF4-FFF2-40B4-BE49-F238E27FC236}">
                <ns2:creationId id="{68691CC9-C756-4831-A245-C03608B1C15C}"/>
              </a:ext>
            </a:extLst>
            <a:hlinkClick r:id="rIdHld11" action="ppaction://hlinksldjump" tooltip="Go to slide 5" history="1"/>
          </p:cNvPr>
          <p:cNvSpPr>
            <a:spLocks noGrp="1"/>
          </p:cNvSpPr>
          <p:nvPr/>
        </p:nvSpPr>
        <p:spPr>
          <a:xfrm>
            <a:off x="762000"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HLD overview</a:t>
            </a:r>
          </a:p>
        </p:txBody>
      </p:sp>
      <p:sp>
        <p:nvSpPr>
          <p:cNvPr id="8" name="HLD-nav-6">
            <a:extLst>
              <a:ext uri="{FF2B5EF4-FFF2-40B4-BE49-F238E27FC236}">
                <ns2:creationId id="{6E83AA21-3085-47A0-B899-CC96F8588E03}"/>
              </a:ext>
            </a:extLst>
            <a:hlinkClick r:id="rIdHld12" action="ppaction://hlinksldjump" tooltip="Go to slide 6" history="1"/>
          </p:cNvPr>
          <p:cNvSpPr>
            <a:spLocks noGrp="1"/>
          </p:cNvSpPr>
          <p:nvPr/>
        </p:nvSpPr>
        <p:spPr>
          <a:xfrm>
            <a:off x="3476625"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Phase 1 · source</a:t>
            </a:r>
          </a:p>
        </p:txBody>
      </p:sp>
      <p:sp>
        <p:nvSpPr>
          <p:cNvPr id="9" name="HLD-nav-7">
            <a:extLst>
              <a:ext uri="{FF2B5EF4-FFF2-40B4-BE49-F238E27FC236}">
                <ns2:creationId id="{A3581654-1AF2-4DD5-9B99-B49AE3594214}"/>
              </a:ext>
            </a:extLst>
            <a:hlinkClick r:id="rIdHld13" action="ppaction://hlinksldjump" tooltip="Go to slide 7" history="1"/>
          </p:cNvPr>
          <p:cNvSpPr>
            <a:spLocks noGrp="1"/>
          </p:cNvSpPr>
          <p:nvPr/>
        </p:nvSpPr>
        <p:spPr>
          <a:xfrm>
            <a:off x="6191250" y="1504950"/>
            <a:ext cx="2524125" cy="381000"/>
          </a:xfrm>
          <a:prstGeom prst="rect">
            <a:avLst/>
          </a:prstGeom>
          <a:solidFill>
            <a:srgbClr val="33553C"/>
          </a:solidFill>
          <a:ln w="13335">
            <a:solidFill>
              <a:srgbClr val="33553C"/>
            </a:solidFill>
          </a:ln>
        </p:spPr>
        <p:txBody>
          <a:bodyPr lIns="95250" tIns="76200" rIns="95250" bIns="76200" anchor="ctr">
            <a:noAutofit/>
          </a:bodyPr>
          <a:lstStyle>
            <a:defPPr algn="ctr">
              <a:defRPr sz="1650" b="0">
                <a:solidFill>
                  <a:srgbClr val="FFFFFF"/>
                </a:solidFill>
                <a:latin typeface="Oracle Sans Tab"/>
                <a:ea typeface="Oracle Sans Tab"/>
                <a:cs typeface="Oracle Sans Tab"/>
              </a:defRPr>
            </a:defPPr>
          </a:lstStyle>
          <a:p>
            <a:pPr algn="ctr">
              <a:defRPr sz="1650" b="0">
                <a:solidFill>
                  <a:srgbClr val="FFFFFF"/>
                </a:solidFill>
                <a:latin typeface="Oracle Sans Tab"/>
                <a:ea typeface="Oracle Sans Tab"/>
                <a:cs typeface="Oracle Sans Tab"/>
              </a:defRPr>
            </a:pPr>
            <a:r>
              <a:rPr sz="1650" b="0">
                <a:solidFill>
                  <a:srgbClr val="FFFFFF"/>
                </a:solidFill>
                <a:latin typeface="Oracle Sans Tab"/>
                <a:ea typeface="Oracle Sans Tab"/>
                <a:cs typeface="Oracle Sans Tab"/>
              </a:rPr>
              <a:t>Phase 2 · both</a:t>
            </a:r>
          </a:p>
        </p:txBody>
      </p:sp>
      <p:sp>
        <p:nvSpPr>
          <p:cNvPr id="10" name="HLD-nav-8">
            <a:extLst>
              <a:ext uri="{FF2B5EF4-FFF2-40B4-BE49-F238E27FC236}">
                <ns2:creationId id="{401EEBCC-19D5-4DF5-8114-E7EBC7A9535A}"/>
              </a:ext>
            </a:extLst>
            <a:hlinkClick r:id="rIdHld14" action="ppaction://hlinksldjump" tooltip="Go to slide 8" history="1"/>
          </p:cNvPr>
          <p:cNvSpPr>
            <a:spLocks noGrp="1"/>
          </p:cNvSpPr>
          <p:nvPr/>
        </p:nvSpPr>
        <p:spPr>
          <a:xfrm>
            <a:off x="8905875"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Phase 3 · target</a:t>
            </a:r>
          </a:p>
        </p:txBody>
      </p:sp>
      <p:sp>
        <p:nvSpPr>
          <p:cNvPr id="11" name="hld-click-guide">
            <a:extLst>
              <a:ext uri="{FF2B5EF4-FFF2-40B4-BE49-F238E27FC236}">
                <ns2:creationId id="{A373CC9B-5BAD-4FF2-8A87-E4EE44977DB2}"/>
              </a:ext>
            </a:extLst>
          </p:cNvPr>
          <p:cNvSpPr>
            <a:spLocks noGrp="1"/>
          </p:cNvSpPr>
          <p:nvPr/>
        </p:nvSpPr>
        <p:spPr>
          <a:xfrm>
            <a:off x="762000" y="1971675"/>
            <a:ext cx="10668000" cy="266700"/>
          </a:xfrm>
          <a:prstGeom prst="rect">
            <a:avLst/>
          </a:prstGeom>
          <a:noFill/>
          <a:ln w="0">
            <a:noFill/>
          </a:ln>
        </p:spPr>
        <p:txBody>
          <a:bodyPr lIns="0" tIns="0" rIns="0" bIns="0" anchor="t">
            <a:noAutofit/>
          </a:bodyPr>
          <a:lstStyle>
            <a:defPPr>
              <a:defRPr sz="1350" b="0">
                <a:solidFill>
                  <a:srgbClr val="6B625C"/>
                </a:solidFill>
                <a:latin typeface="Oracle Sans Tab"/>
                <a:ea typeface="Oracle Sans Tab"/>
                <a:cs typeface="Oracle Sans Tab"/>
              </a:defRPr>
            </a:defPPr>
          </a:lstStyle>
          <a:p>
            <a:pPr>
              <a:defRPr sz="1350" b="0">
                <a:solidFill>
                  <a:srgbClr val="6B625C"/>
                </a:solidFill>
                <a:latin typeface="Oracle Sans Tab"/>
                <a:ea typeface="Oracle Sans Tab"/>
                <a:cs typeface="Oracle Sans Tab"/>
              </a:defRPr>
            </a:pPr>
            <a:r>
              <a:rPr sz="1350" b="0">
                <a:solidFill>
                  <a:srgbClr val="6B625C"/>
                </a:solidFill>
                <a:latin typeface="Oracle Sans Tab"/>
                <a:ea typeface="Oracle Sans Tab"/>
                <a:cs typeface="Oracle Sans Tab"/>
              </a:rPr>
              <a:t>Click a phase tab or Next phase. Click the slide background to advance.</a:t>
            </a:r>
          </a:p>
        </p:txBody>
      </p:sp>
      <p:sp>
        <p:nvSpPr>
          <p:cNvPr id="12" name="HLD-source">
            <a:extLst>
              <a:ext uri="{FF2B5EF4-FFF2-40B4-BE49-F238E27FC236}">
                <ns2:creationId id="{14F0741E-9473-4E69-82A4-258D70EEB48E}"/>
              </a:ext>
            </a:extLst>
          </p:cNvPr>
          <p:cNvSpPr>
            <a:spLocks noGrp="1"/>
          </p:cNvSpPr>
          <p:nvPr/>
        </p:nvSpPr>
        <p:spPr>
          <a:xfrm>
            <a:off x="762000" y="2381250"/>
            <a:ext cx="2571750" cy="819150"/>
          </a:xfrm>
          <a:prstGeom prst="rect">
            <a:avLst/>
          </a:prstGeom>
          <a:solidFill>
            <a:srgbClr val="CBE9D6"/>
          </a:solidFill>
          <a:ln w="13335">
            <a:solidFill>
              <a:srgbClr val="467553"/>
            </a:solidFill>
          </a:ln>
        </p:spPr>
        <p:txBody>
          <a:bodyPr lIns="95250" tIns="76200" rIns="95250" bIns="76200" anchor="ctr">
            <a:noAutofit/>
          </a:bodyPr>
          <a:lstStyle>
            <a:defPPr algn="ctr">
              <a:defRPr sz="1725" b="0">
                <a:solidFill>
                  <a:srgbClr val="312D2A"/>
                </a:solidFill>
                <a:latin typeface="Oracle Sans Tab"/>
                <a:ea typeface="Oracle Sans Tab"/>
                <a:cs typeface="Oracle Sans Tab"/>
              </a:defRPr>
            </a:defPPr>
          </a:lstStyle>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Source upstream</a:t>
            </a:r>
          </a:p>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Configured · per-zone TSIG</a:t>
            </a:r>
          </a:p>
        </p:txBody>
      </p:sp>
      <p:sp>
        <p:nvSpPr>
          <p:cNvPr id="13" name="HLD-target">
            <a:extLst>
              <a:ext uri="{FF2B5EF4-FFF2-40B4-BE49-F238E27FC236}">
                <ns2:creationId id="{E60C4D71-F5C5-45E6-8606-0263642B0BAA}"/>
              </a:ext>
            </a:extLst>
          </p:cNvPr>
          <p:cNvSpPr>
            <a:spLocks noGrp="1"/>
          </p:cNvSpPr>
          <p:nvPr/>
        </p:nvSpPr>
        <p:spPr>
          <a:xfrm>
            <a:off x="762000" y="4000500"/>
            <a:ext cx="2571750" cy="819150"/>
          </a:xfrm>
          <a:prstGeom prst="rect">
            <a:avLst/>
          </a:prstGeom>
          <a:solidFill>
            <a:srgbClr val="CBE9D6"/>
          </a:solidFill>
          <a:ln w="13335">
            <a:solidFill>
              <a:srgbClr val="467553"/>
            </a:solidFill>
          </a:ln>
        </p:spPr>
        <p:txBody>
          <a:bodyPr lIns="95250" tIns="76200" rIns="95250" bIns="76200" anchor="ctr">
            <a:noAutofit/>
          </a:bodyPr>
          <a:lstStyle>
            <a:defPPr algn="ctr">
              <a:defRPr sz="1725" b="0">
                <a:solidFill>
                  <a:srgbClr val="312D2A"/>
                </a:solidFill>
                <a:latin typeface="Oracle Sans Tab"/>
                <a:ea typeface="Oracle Sans Tab"/>
                <a:cs typeface="Oracle Sans Tab"/>
              </a:defRPr>
            </a:defPPr>
          </a:lstStyle>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Target upstream</a:t>
            </a:r>
          </a:p>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Configured · per-zone TSIG</a:t>
            </a:r>
          </a:p>
        </p:txBody>
      </p:sp>
      <p:sp>
        <p:nvSpPr>
          <p:cNvPr id="14" name="HLD-oci">
            <a:extLst>
              <a:ext uri="{FF2B5EF4-FFF2-40B4-BE49-F238E27FC236}">
                <ns2:creationId id="{D39CB626-5685-44F9-A040-3F54B705220F}"/>
              </a:ext>
            </a:extLst>
          </p:cNvPr>
          <p:cNvSpPr>
            <a:spLocks noGrp="1"/>
          </p:cNvSpPr>
          <p:nvPr/>
        </p:nvSpPr>
        <p:spPr>
          <a:xfrm>
            <a:off x="7239000" y="2381250"/>
            <a:ext cx="2524125" cy="2438400"/>
          </a:xfrm>
          <a:prstGeom prst="rect">
            <a:avLst/>
          </a:prstGeom>
          <a:solidFill>
            <a:srgbClr val="E9F9EE"/>
          </a:solidFill>
          <a:ln w="13335">
            <a:solidFill>
              <a:srgbClr val="33553C"/>
            </a:solidFill>
          </a:ln>
        </p:spPr>
        <p:txBody>
          <a:bodyPr lIns="95250" tIns="76200" rIns="95250" bIns="76200" anchor="ctr">
            <a:noAutofit/>
          </a:bodyPr>
          <a:lstStyle>
            <a:defPPr algn="ctr">
              <a:defRPr sz="1800" b="0">
                <a:solidFill>
                  <a:srgbClr val="312D2A"/>
                </a:solidFill>
                <a:latin typeface="Oracle Sans Tab"/>
                <a:ea typeface="Oracle Sans Tab"/>
                <a:cs typeface="Oracle Sans Tab"/>
              </a:defRPr>
            </a:defPPr>
          </a:lstStyle>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OCI secondary DNS</a:t>
            </a:r>
          </a:p>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Public authoritative service</a:t>
            </a:r>
          </a:p>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Global zone service</a:t>
            </a:r>
          </a:p>
        </p:txBody>
      </p:sp>
      <p:sp>
        <p:nvSpPr>
          <p:cNvPr id="15" name="HLD-clients">
            <a:extLst>
              <a:ext uri="{FF2B5EF4-FFF2-40B4-BE49-F238E27FC236}">
                <ns2:creationId id="{70FF1E00-A6F9-4D2E-B52D-983DFD34802B}"/>
              </a:ext>
            </a:extLst>
          </p:cNvPr>
          <p:cNvSpPr>
            <a:spLocks noGrp="1"/>
          </p:cNvSpPr>
          <p:nvPr/>
        </p:nvSpPr>
        <p:spPr>
          <a:xfrm>
            <a:off x="10287000" y="3295650"/>
            <a:ext cx="1143000" cy="876300"/>
          </a:xfrm>
          <a:prstGeom prst="rect">
            <a:avLst/>
          </a:prstGeom>
          <a:solidFill>
            <a:srgbClr val="FCFBFA"/>
          </a:solidFill>
          <a:ln w="13335">
            <a:solidFill>
              <a:srgbClr val="D9D4CF"/>
            </a:solidFill>
          </a:ln>
        </p:spPr>
        <p:txBody>
          <a:bodyPr lIns="95250" tIns="76200" rIns="95250" bIns="76200" anchor="ctr">
            <a:noAutofit/>
          </a:bodyPr>
          <a:lstStyle>
            <a:defPPr algn="ctr">
              <a:defRPr sz="1500" b="0">
                <a:solidFill>
                  <a:srgbClr val="312D2A"/>
                </a:solidFill>
                <a:latin typeface="Oracle Sans Tab"/>
                <a:ea typeface="Oracle Sans Tab"/>
                <a:cs typeface="Oracle Sans Tab"/>
              </a:defRPr>
            </a:defPPr>
          </a:lstStyle>
          <a:p>
            <a:pPr algn="ctr">
              <a:defRPr sz="1500" b="0">
                <a:solidFill>
                  <a:srgbClr val="312D2A"/>
                </a:solidFill>
                <a:latin typeface="Oracle Sans Tab"/>
                <a:ea typeface="Oracle Sans Tab"/>
                <a:cs typeface="Oracle Sans Tab"/>
              </a:defRPr>
            </a:pPr>
            <a:r>
              <a:rPr sz="1500" b="0">
                <a:solidFill>
                  <a:srgbClr val="312D2A"/>
                </a:solidFill>
                <a:latin typeface="Oracle Sans Tab"/>
                <a:ea typeface="Oracle Sans Tab"/>
                <a:cs typeface="Oracle Sans Tab"/>
              </a:rPr>
              <a:t>Public DNS</a:t>
            </a:r>
          </a:p>
          <a:p>
            <a:pPr algn="ctr">
              <a:defRPr sz="1500" b="0">
                <a:solidFill>
                  <a:srgbClr val="312D2A"/>
                </a:solidFill>
                <a:latin typeface="Oracle Sans Tab"/>
                <a:ea typeface="Oracle Sans Tab"/>
                <a:cs typeface="Oracle Sans Tab"/>
              </a:defRPr>
            </a:pPr>
            <a:r>
              <a:rPr sz="1500" b="0">
                <a:solidFill>
                  <a:srgbClr val="312D2A"/>
                </a:solidFill>
                <a:latin typeface="Oracle Sans Tab"/>
                <a:ea typeface="Oracle Sans Tab"/>
                <a:cs typeface="Oracle Sans Tab"/>
              </a:rPr>
              <a:t>clients</a:t>
            </a:r>
          </a:p>
        </p:txBody>
      </p:sp>
      <p:sp>
        <p:nvSpPr>
          <p:cNvPr id="16" name="hld-query-label">
            <a:extLst>
              <a:ext uri="{FF2B5EF4-FFF2-40B4-BE49-F238E27FC236}">
                <ns2:creationId id="{B13C8F8D-037C-4017-8167-49A5DB9A3E89}"/>
              </a:ext>
            </a:extLst>
          </p:cNvPr>
          <p:cNvSpPr>
            <a:spLocks noGrp="1"/>
          </p:cNvSpPr>
          <p:nvPr/>
        </p:nvSpPr>
        <p:spPr>
          <a:xfrm>
            <a:off x="9906000" y="2733675"/>
            <a:ext cx="1524000" cy="285750"/>
          </a:xfrm>
          <a:prstGeom prst="rect">
            <a:avLst/>
          </a:prstGeom>
          <a:noFill/>
          <a:ln w="0">
            <a:noFill/>
          </a:ln>
        </p:spPr>
        <p:txBody>
          <a:bodyPr lIns="0" tIns="0" rIns="0" bIns="0" anchor="t">
            <a:noAutofit/>
          </a:bodyPr>
          <a:lstStyle>
            <a:defPPr>
              <a:defRPr sz="1350" b="1">
                <a:solidFill>
                  <a:srgbClr val="2C6176"/>
                </a:solidFill>
                <a:latin typeface="Oracle Sans Tab"/>
                <a:ea typeface="Oracle Sans Tab"/>
                <a:cs typeface="Oracle Sans Tab"/>
              </a:defRPr>
            </a:defPPr>
          </a:lstStyle>
          <a:p>
            <a:pPr>
              <a:defRPr sz="1350" b="1">
                <a:solidFill>
                  <a:srgbClr val="2C6176"/>
                </a:solidFill>
                <a:latin typeface="Oracle Sans Tab"/>
                <a:ea typeface="Oracle Sans Tab"/>
                <a:cs typeface="Oracle Sans Tab"/>
              </a:defRPr>
            </a:pPr>
            <a:r>
              <a:rPr sz="1350" b="1">
                <a:solidFill>
                  <a:srgbClr val="2C6176"/>
                </a:solidFill>
                <a:latin typeface="Oracle Sans Tab"/>
                <a:ea typeface="Oracle Sans Tab"/>
                <a:cs typeface="Oracle Sans Tab"/>
              </a:rPr>
              <a:t>DNS queries</a:t>
            </a:r>
          </a:p>
        </p:txBody>
      </p:sp>
      <p:sp>
        <p:nvSpPr>
          <p:cNvPr id="17" name="hld-query-port">
            <a:extLst>
              <a:ext uri="{FF2B5EF4-FFF2-40B4-BE49-F238E27FC236}">
                <ns2:creationId id="{8AE2A409-60AA-4921-855A-45AC061DFB77}"/>
              </a:ext>
            </a:extLst>
          </p:cNvPr>
          <p:cNvSpPr>
            <a:spLocks noGrp="1"/>
          </p:cNvSpPr>
          <p:nvPr/>
        </p:nvSpPr>
        <p:spPr>
          <a:xfrm>
            <a:off x="9906000" y="3000375"/>
            <a:ext cx="1524000" cy="266700"/>
          </a:xfrm>
          <a:prstGeom prst="rect">
            <a:avLst/>
          </a:prstGeom>
          <a:noFill/>
          <a:ln w="0">
            <a:noFill/>
          </a:ln>
        </p:spPr>
        <p:txBody>
          <a:bodyPr lIns="0" tIns="0" rIns="0" bIns="0" anchor="t">
            <a:noAutofit/>
          </a:bodyPr>
          <a:lstStyle>
            <a:defPPr>
              <a:defRPr sz="1350" b="0">
                <a:solidFill>
                  <a:srgbClr val="6B625C"/>
                </a:solidFill>
                <a:latin typeface="Oracle Sans Tab"/>
                <a:ea typeface="Oracle Sans Tab"/>
                <a:cs typeface="Oracle Sans Tab"/>
              </a:defRPr>
            </a:defPPr>
          </a:lstStyle>
          <a:p>
            <a:pPr>
              <a:defRPr sz="1350" b="0">
                <a:solidFill>
                  <a:srgbClr val="6B625C"/>
                </a:solidFill>
                <a:latin typeface="Oracle Sans Tab"/>
                <a:ea typeface="Oracle Sans Tab"/>
                <a:cs typeface="Oracle Sans Tab"/>
              </a:defRPr>
            </a:pPr>
            <a:r>
              <a:rPr sz="1350" b="0">
                <a:solidFill>
                  <a:srgbClr val="6B625C"/>
                </a:solidFill>
                <a:latin typeface="Oracle Sans Tab"/>
                <a:ea typeface="Oracle Sans Tab"/>
                <a:cs typeface="Oracle Sans Tab"/>
              </a:rPr>
              <a:t>UDP / TCP 53</a:t>
            </a:r>
          </a:p>
        </p:txBody>
      </p:sp>
      <p:sp>
        <p:nvSpPr>
          <p:cNvPr id="18" name="query-from">
            <a:extLst>
              <a:ext uri="{FF2B5EF4-FFF2-40B4-BE49-F238E27FC236}">
                <ns2:creationId id="{172325A8-AD32-4349-BEF6-4D9AD8552F85}"/>
              </a:ext>
            </a:extLst>
          </p:cNvPr>
          <p:cNvSpPr>
            <a:spLocks noGrp="1"/>
          </p:cNvSpPr>
          <p:nvPr/>
        </p:nvSpPr>
        <p:spPr>
          <a:xfrm>
            <a:off x="10277475" y="3724275"/>
            <a:ext cx="19050" cy="19050"/>
          </a:xfrm>
          <a:prstGeom prst="rect">
            <a:avLst/>
          </a:prstGeom>
          <a:noFill/>
          <a:ln w="0">
            <a:noFill/>
          </a:ln>
        </p:spPr>
      </p:sp>
      <p:sp>
        <p:nvSpPr>
          <p:cNvPr id="19" name="query-to">
            <a:extLst>
              <a:ext uri="{FF2B5EF4-FFF2-40B4-BE49-F238E27FC236}">
                <ns2:creationId id="{650053AB-870A-44FF-A353-3A381438FE7B}"/>
              </a:ext>
            </a:extLst>
          </p:cNvPr>
          <p:cNvSpPr>
            <a:spLocks noGrp="1"/>
          </p:cNvSpPr>
          <p:nvPr/>
        </p:nvSpPr>
        <p:spPr>
          <a:xfrm>
            <a:off x="9753600" y="3724275"/>
            <a:ext cx="19050" cy="19050"/>
          </a:xfrm>
          <a:prstGeom prst="rect">
            <a:avLst/>
          </a:prstGeom>
          <a:noFill/>
          <a:ln w="0">
            <a:noFill/>
          </a:ln>
        </p:spPr>
      </p:sp>
      <p:sp>
        <p:nvSpPr>
          <p:cNvPr id="21" name="source-request-from">
            <a:extLst>
              <a:ext uri="{FF2B5EF4-FFF2-40B4-BE49-F238E27FC236}">
                <ns2:creationId id="{C532DA56-8911-439E-9592-AF625711582E}"/>
              </a:ext>
            </a:extLst>
          </p:cNvPr>
          <p:cNvSpPr>
            <a:spLocks noGrp="1"/>
          </p:cNvSpPr>
          <p:nvPr/>
        </p:nvSpPr>
        <p:spPr>
          <a:xfrm>
            <a:off x="7229475" y="2533650"/>
            <a:ext cx="19050" cy="19050"/>
          </a:xfrm>
          <a:prstGeom prst="rect">
            <a:avLst/>
          </a:prstGeom>
          <a:noFill/>
          <a:ln w="0">
            <a:noFill/>
          </a:ln>
        </p:spPr>
      </p:sp>
      <p:sp>
        <p:nvSpPr>
          <p:cNvPr id="22" name="source-request-to">
            <a:extLst>
              <a:ext uri="{FF2B5EF4-FFF2-40B4-BE49-F238E27FC236}">
                <ns2:creationId id="{9F5E080B-868C-42CE-A292-65A43D6CB2AE}"/>
              </a:ext>
            </a:extLst>
          </p:cNvPr>
          <p:cNvSpPr>
            <a:spLocks noGrp="1"/>
          </p:cNvSpPr>
          <p:nvPr/>
        </p:nvSpPr>
        <p:spPr>
          <a:xfrm>
            <a:off x="3324225" y="2533650"/>
            <a:ext cx="19050" cy="19050"/>
          </a:xfrm>
          <a:prstGeom prst="rect">
            <a:avLst/>
          </a:prstGeom>
          <a:noFill/>
          <a:ln w="0">
            <a:noFill/>
          </a:ln>
        </p:spPr>
      </p:sp>
      <p:sp>
        <p:nvSpPr>
          <p:cNvPr id="24" name="source-data-from">
            <a:extLst>
              <a:ext uri="{FF2B5EF4-FFF2-40B4-BE49-F238E27FC236}">
                <ns2:creationId id="{C81683A6-A34F-45DA-A4EC-6A18F297D16C}"/>
              </a:ext>
            </a:extLst>
          </p:cNvPr>
          <p:cNvSpPr>
            <a:spLocks noGrp="1"/>
          </p:cNvSpPr>
          <p:nvPr/>
        </p:nvSpPr>
        <p:spPr>
          <a:xfrm>
            <a:off x="3324225" y="2990850"/>
            <a:ext cx="19050" cy="19050"/>
          </a:xfrm>
          <a:prstGeom prst="rect">
            <a:avLst/>
          </a:prstGeom>
          <a:noFill/>
          <a:ln w="0">
            <a:noFill/>
          </a:ln>
        </p:spPr>
      </p:sp>
      <p:sp>
        <p:nvSpPr>
          <p:cNvPr id="25" name="source-data-to">
            <a:extLst>
              <a:ext uri="{FF2B5EF4-FFF2-40B4-BE49-F238E27FC236}">
                <ns2:creationId id="{D5F106AC-1535-49CC-A77D-5AB7253B28EC}"/>
              </a:ext>
            </a:extLst>
          </p:cNvPr>
          <p:cNvSpPr>
            <a:spLocks noGrp="1"/>
          </p:cNvSpPr>
          <p:nvPr/>
        </p:nvSpPr>
        <p:spPr>
          <a:xfrm>
            <a:off x="7229475" y="2990850"/>
            <a:ext cx="19050" cy="19050"/>
          </a:xfrm>
          <a:prstGeom prst="rect">
            <a:avLst/>
          </a:prstGeom>
          <a:noFill/>
          <a:ln w="0">
            <a:noFill/>
          </a:ln>
        </p:spPr>
      </p:sp>
      <p:sp>
        <p:nvSpPr>
          <p:cNvPr id="27" name="source-request-label">
            <a:extLst>
              <a:ext uri="{FF2B5EF4-FFF2-40B4-BE49-F238E27FC236}">
                <ns2:creationId id="{5DA6F74E-9402-47D9-8EB7-6BD719536A2A}"/>
              </a:ext>
            </a:extLst>
          </p:cNvPr>
          <p:cNvSpPr>
            <a:spLocks noGrp="1"/>
          </p:cNvSpPr>
          <p:nvPr/>
        </p:nvSpPr>
        <p:spPr>
          <a:xfrm>
            <a:off x="3714750" y="2276475"/>
            <a:ext cx="3257550" cy="257175"/>
          </a:xfrm>
          <a:prstGeom prst="rect">
            <a:avLst/>
          </a:prstGeom>
          <a:noFill/>
          <a:ln w="0">
            <a:noFill/>
          </a:ln>
        </p:spPr>
        <p:txBody>
          <a:bodyPr lIns="0" tIns="0" rIns="0" bIns="0" anchor="t">
            <a:noAutofit/>
          </a:bodyPr>
          <a:lstStyle>
            <a:defPPr>
              <a:defRPr sz="1425" b="0">
                <a:solidFill>
                  <a:srgbClr val="2C6176"/>
                </a:solidFill>
                <a:latin typeface="Oracle Sans Tab"/>
                <a:ea typeface="Oracle Sans Tab"/>
                <a:cs typeface="Oracle Sans Tab"/>
              </a:defRPr>
            </a:defPPr>
          </a:lstStyle>
          <a:p>
            <a:pPr>
              <a:defRPr sz="1425" b="0">
                <a:solidFill>
                  <a:srgbClr val="2C6176"/>
                </a:solidFill>
                <a:latin typeface="Oracle Sans Tab"/>
                <a:ea typeface="Oracle Sans Tab"/>
                <a:cs typeface="Oracle Sans Tab"/>
              </a:defRPr>
            </a:pPr>
            <a:r>
              <a:rPr sz="1425" b="0">
                <a:solidFill>
                  <a:srgbClr val="2C6176"/>
                </a:solidFill>
                <a:latin typeface="Oracle Sans Tab"/>
                <a:ea typeface="Oracle Sans Tab"/>
                <a:cs typeface="Oracle Sans Tab"/>
              </a:rPr>
              <a:t>OCI transfer request · TCP 53</a:t>
            </a:r>
          </a:p>
        </p:txBody>
      </p:sp>
      <p:sp>
        <p:nvSpPr>
          <p:cNvPr id="28" name="source-data-label">
            <a:extLst>
              <a:ext uri="{FF2B5EF4-FFF2-40B4-BE49-F238E27FC236}">
                <ns2:creationId id="{10D070DF-2280-41B4-8EFE-F1A929A70AAD}"/>
              </a:ext>
            </a:extLst>
          </p:cNvPr>
          <p:cNvSpPr>
            <a:spLocks noGrp="1"/>
          </p:cNvSpPr>
          <p:nvPr/>
        </p:nvSpPr>
        <p:spPr>
          <a:xfrm>
            <a:off x="3714750" y="3048000"/>
            <a:ext cx="3257550" cy="266700"/>
          </a:xfrm>
          <a:prstGeom prst="rect">
            <a:avLst/>
          </a:prstGeom>
          <a:noFill/>
          <a:ln w="0">
            <a:noFill/>
          </a:ln>
        </p:spPr>
        <p:txBody>
          <a:bodyPr lIns="0" tIns="0" rIns="0" bIns="0" anchor="t">
            <a:noAutofit/>
          </a:bodyPr>
          <a:lstStyle>
            <a:defPPr>
              <a:defRPr sz="1425" b="0">
                <a:solidFill>
                  <a:srgbClr val="467553"/>
                </a:solidFill>
                <a:latin typeface="Oracle Sans Tab"/>
                <a:ea typeface="Oracle Sans Tab"/>
                <a:cs typeface="Oracle Sans Tab"/>
              </a:defRPr>
            </a:defPPr>
          </a:lstStyle>
          <a:p>
            <a:pPr>
              <a:defRPr sz="1425" b="0">
                <a:solidFill>
                  <a:srgbClr val="467553"/>
                </a:solidFill>
                <a:latin typeface="Oracle Sans Tab"/>
                <a:ea typeface="Oracle Sans Tab"/>
                <a:cs typeface="Oracle Sans Tab"/>
              </a:defRPr>
            </a:pPr>
            <a:r>
              <a:rPr sz="1425" b="0">
                <a:solidFill>
                  <a:srgbClr val="467553"/>
                </a:solidFill>
                <a:latin typeface="Oracle Sans Tab"/>
                <a:ea typeface="Oracle Sans Tab"/>
                <a:cs typeface="Oracle Sans Tab"/>
              </a:rPr>
              <a:t>Zone data · signed AXFR / IXFR</a:t>
            </a:r>
          </a:p>
        </p:txBody>
      </p:sp>
      <p:sp>
        <p:nvSpPr>
          <p:cNvPr id="29" name="target-request-from">
            <a:extLst>
              <a:ext uri="{FF2B5EF4-FFF2-40B4-BE49-F238E27FC236}">
                <ns2:creationId id="{B5524748-6358-4936-914E-ED0DD113A5CF}"/>
              </a:ext>
            </a:extLst>
          </p:cNvPr>
          <p:cNvSpPr>
            <a:spLocks noGrp="1"/>
          </p:cNvSpPr>
          <p:nvPr/>
        </p:nvSpPr>
        <p:spPr>
          <a:xfrm>
            <a:off x="7229475" y="4152900"/>
            <a:ext cx="19050" cy="19050"/>
          </a:xfrm>
          <a:prstGeom prst="rect">
            <a:avLst/>
          </a:prstGeom>
          <a:noFill/>
          <a:ln w="0">
            <a:noFill/>
          </a:ln>
        </p:spPr>
      </p:sp>
      <p:sp>
        <p:nvSpPr>
          <p:cNvPr id="30" name="target-request-to">
            <a:extLst>
              <a:ext uri="{FF2B5EF4-FFF2-40B4-BE49-F238E27FC236}">
                <ns2:creationId id="{9C468FB5-924A-47AE-9494-4ED4C987C3E8}"/>
              </a:ext>
            </a:extLst>
          </p:cNvPr>
          <p:cNvSpPr>
            <a:spLocks noGrp="1"/>
          </p:cNvSpPr>
          <p:nvPr/>
        </p:nvSpPr>
        <p:spPr>
          <a:xfrm>
            <a:off x="3324225" y="4152900"/>
            <a:ext cx="19050" cy="19050"/>
          </a:xfrm>
          <a:prstGeom prst="rect">
            <a:avLst/>
          </a:prstGeom>
          <a:noFill/>
          <a:ln w="0">
            <a:noFill/>
          </a:ln>
        </p:spPr>
      </p:sp>
      <p:sp>
        <p:nvSpPr>
          <p:cNvPr id="32" name="target-data-from">
            <a:extLst>
              <a:ext uri="{FF2B5EF4-FFF2-40B4-BE49-F238E27FC236}">
                <ns2:creationId id="{FEEE5FF1-AC15-4CA3-840D-A8E7148912F3}"/>
              </a:ext>
            </a:extLst>
          </p:cNvPr>
          <p:cNvSpPr>
            <a:spLocks noGrp="1"/>
          </p:cNvSpPr>
          <p:nvPr/>
        </p:nvSpPr>
        <p:spPr>
          <a:xfrm>
            <a:off x="3324225" y="4610100"/>
            <a:ext cx="19050" cy="19050"/>
          </a:xfrm>
          <a:prstGeom prst="rect">
            <a:avLst/>
          </a:prstGeom>
          <a:noFill/>
          <a:ln w="0">
            <a:noFill/>
          </a:ln>
        </p:spPr>
      </p:sp>
      <p:sp>
        <p:nvSpPr>
          <p:cNvPr id="33" name="target-data-to">
            <a:extLst>
              <a:ext uri="{FF2B5EF4-FFF2-40B4-BE49-F238E27FC236}">
                <ns2:creationId id="{52819126-3EEE-4B4B-A079-A5D71908D699}"/>
              </a:ext>
            </a:extLst>
          </p:cNvPr>
          <p:cNvSpPr>
            <a:spLocks noGrp="1"/>
          </p:cNvSpPr>
          <p:nvPr/>
        </p:nvSpPr>
        <p:spPr>
          <a:xfrm>
            <a:off x="7229475" y="4610100"/>
            <a:ext cx="19050" cy="19050"/>
          </a:xfrm>
          <a:prstGeom prst="rect">
            <a:avLst/>
          </a:prstGeom>
          <a:noFill/>
          <a:ln w="0">
            <a:noFill/>
          </a:ln>
        </p:spPr>
      </p:sp>
      <p:sp>
        <p:nvSpPr>
          <p:cNvPr id="35" name="target-request-label">
            <a:extLst>
              <a:ext uri="{FF2B5EF4-FFF2-40B4-BE49-F238E27FC236}">
                <ns2:creationId id="{5364724E-3D66-40E7-A98D-439F2DCE3457}"/>
              </a:ext>
            </a:extLst>
          </p:cNvPr>
          <p:cNvSpPr>
            <a:spLocks noGrp="1"/>
          </p:cNvSpPr>
          <p:nvPr/>
        </p:nvSpPr>
        <p:spPr>
          <a:xfrm>
            <a:off x="3714750" y="3895725"/>
            <a:ext cx="3257550" cy="257175"/>
          </a:xfrm>
          <a:prstGeom prst="rect">
            <a:avLst/>
          </a:prstGeom>
          <a:noFill/>
          <a:ln w="0">
            <a:noFill/>
          </a:ln>
        </p:spPr>
        <p:txBody>
          <a:bodyPr lIns="0" tIns="0" rIns="0" bIns="0" anchor="t">
            <a:noAutofit/>
          </a:bodyPr>
          <a:lstStyle>
            <a:defPPr>
              <a:defRPr sz="1425" b="0">
                <a:solidFill>
                  <a:srgbClr val="2C6176"/>
                </a:solidFill>
                <a:latin typeface="Oracle Sans Tab"/>
                <a:ea typeface="Oracle Sans Tab"/>
                <a:cs typeface="Oracle Sans Tab"/>
              </a:defRPr>
            </a:defPPr>
          </a:lstStyle>
          <a:p>
            <a:pPr>
              <a:defRPr sz="1425" b="0">
                <a:solidFill>
                  <a:srgbClr val="2C6176"/>
                </a:solidFill>
                <a:latin typeface="Oracle Sans Tab"/>
                <a:ea typeface="Oracle Sans Tab"/>
                <a:cs typeface="Oracle Sans Tab"/>
              </a:defRPr>
            </a:pPr>
            <a:r>
              <a:rPr sz="1425" b="0">
                <a:solidFill>
                  <a:srgbClr val="2C6176"/>
                </a:solidFill>
                <a:latin typeface="Oracle Sans Tab"/>
                <a:ea typeface="Oracle Sans Tab"/>
                <a:cs typeface="Oracle Sans Tab"/>
              </a:rPr>
              <a:t>OCI transfer request · TCP 53</a:t>
            </a:r>
          </a:p>
        </p:txBody>
      </p:sp>
      <p:sp>
        <p:nvSpPr>
          <p:cNvPr id="36" name="target-data-label">
            <a:extLst>
              <a:ext uri="{FF2B5EF4-FFF2-40B4-BE49-F238E27FC236}">
                <ns2:creationId id="{5CF4E56E-D745-4D32-9774-9B5B77B78DC9}"/>
              </a:ext>
            </a:extLst>
          </p:cNvPr>
          <p:cNvSpPr>
            <a:spLocks noGrp="1"/>
          </p:cNvSpPr>
          <p:nvPr/>
        </p:nvSpPr>
        <p:spPr>
          <a:xfrm>
            <a:off x="3714750" y="4667250"/>
            <a:ext cx="3257550" cy="266700"/>
          </a:xfrm>
          <a:prstGeom prst="rect">
            <a:avLst/>
          </a:prstGeom>
          <a:noFill/>
          <a:ln w="0">
            <a:noFill/>
          </a:ln>
        </p:spPr>
        <p:txBody>
          <a:bodyPr lIns="0" tIns="0" rIns="0" bIns="0" anchor="t">
            <a:noAutofit/>
          </a:bodyPr>
          <a:lstStyle>
            <a:defPPr>
              <a:defRPr sz="1425" b="0">
                <a:solidFill>
                  <a:srgbClr val="467553"/>
                </a:solidFill>
                <a:latin typeface="Oracle Sans Tab"/>
                <a:ea typeface="Oracle Sans Tab"/>
                <a:cs typeface="Oracle Sans Tab"/>
              </a:defRPr>
            </a:defPPr>
          </a:lstStyle>
          <a:p>
            <a:pPr>
              <a:defRPr sz="1425" b="0">
                <a:solidFill>
                  <a:srgbClr val="467553"/>
                </a:solidFill>
                <a:latin typeface="Oracle Sans Tab"/>
                <a:ea typeface="Oracle Sans Tab"/>
                <a:cs typeface="Oracle Sans Tab"/>
              </a:defRPr>
            </a:pPr>
            <a:r>
              <a:rPr sz="1425" b="0">
                <a:solidFill>
                  <a:srgbClr val="467553"/>
                </a:solidFill>
                <a:latin typeface="Oracle Sans Tab"/>
                <a:ea typeface="Oracle Sans Tab"/>
                <a:cs typeface="Oracle Sans Tab"/>
              </a:rPr>
              <a:t>Zone data · signed AXFR / IXFR</a:t>
            </a:r>
          </a:p>
        </p:txBody>
      </p:sp>
      <p:sp>
        <p:nvSpPr>
          <p:cNvPr id="37" name="HLD-operator">
            <a:extLst>
              <a:ext uri="{FF2B5EF4-FFF2-40B4-BE49-F238E27FC236}">
                <ns2:creationId id="{CF023DFF-F523-41C2-B0A1-C1DA5ABE676F}"/>
              </a:ext>
            </a:extLst>
          </p:cNvPr>
          <p:cNvSpPr>
            <a:spLocks noGrp="1"/>
          </p:cNvSpPr>
          <p:nvPr/>
        </p:nvSpPr>
        <p:spPr>
          <a:xfrm>
            <a:off x="762000" y="5276850"/>
            <a:ext cx="2571750" cy="533400"/>
          </a:xfrm>
          <a:prstGeom prst="rect">
            <a:avLst/>
          </a:prstGeom>
          <a:solidFill>
            <a:srgbClr val="FCFBFA"/>
          </a:solidFill>
          <a:ln w="13335">
            <a:solidFill>
              <a:srgbClr val="D9D4CF"/>
            </a:solidFill>
          </a:ln>
        </p:spPr>
        <p:txBody>
          <a:bodyPr lIns="95250" tIns="76200" rIns="95250" bIns="76200" anchor="ctr">
            <a:noAutofit/>
          </a:bodyPr>
          <a:lstStyle>
            <a:defPPr algn="ctr">
              <a:defRPr sz="1575" b="0">
                <a:solidFill>
                  <a:srgbClr val="312D2A"/>
                </a:solidFill>
                <a:latin typeface="Oracle Sans Tab"/>
                <a:ea typeface="Oracle Sans Tab"/>
                <a:cs typeface="Oracle Sans Tab"/>
              </a:defRPr>
            </a:defPPr>
          </a:lstStyle>
          <a:p>
            <a:pPr algn="ctr">
              <a:defRPr sz="1575" b="0">
                <a:solidFill>
                  <a:srgbClr val="312D2A"/>
                </a:solidFill>
                <a:latin typeface="Oracle Sans Tab"/>
                <a:ea typeface="Oracle Sans Tab"/>
                <a:cs typeface="Oracle Sans Tab"/>
              </a:defRPr>
            </a:pPr>
            <a:r>
              <a:rPr sz="1575" b="0">
                <a:solidFill>
                  <a:srgbClr val="312D2A"/>
                </a:solidFill>
                <a:latin typeface="Oracle Sans Tab"/>
                <a:ea typeface="Oracle Sans Tab"/>
                <a:cs typeface="Oracle Sans Tab"/>
              </a:rPr>
              <a:t>Operator · Python scripts</a:t>
            </a:r>
          </a:p>
        </p:txBody>
      </p:sp>
      <p:sp>
        <p:nvSpPr>
          <p:cNvPr id="38" name="HLD-api">
            <a:extLst>
              <a:ext uri="{FF2B5EF4-FFF2-40B4-BE49-F238E27FC236}">
                <ns2:creationId id="{3EE66D8B-A5E2-4E14-A76E-0E60DF228E4D}"/>
              </a:ext>
            </a:extLst>
          </p:cNvPr>
          <p:cNvSpPr>
            <a:spLocks noGrp="1"/>
          </p:cNvSpPr>
          <p:nvPr/>
        </p:nvSpPr>
        <p:spPr>
          <a:xfrm>
            <a:off x="7239000" y="5276850"/>
            <a:ext cx="2524125" cy="533400"/>
          </a:xfrm>
          <a:prstGeom prst="rect">
            <a:avLst/>
          </a:prstGeom>
          <a:solidFill>
            <a:srgbClr val="FCFBFA"/>
          </a:solidFill>
          <a:ln w="13335">
            <a:solidFill>
              <a:srgbClr val="D9D4CF"/>
            </a:solidFill>
          </a:ln>
        </p:spPr>
        <p:txBody>
          <a:bodyPr lIns="95250" tIns="76200" rIns="95250" bIns="76200" anchor="ctr">
            <a:noAutofit/>
          </a:bodyPr>
          <a:lstStyle>
            <a:defPPr algn="ctr">
              <a:defRPr sz="1575" b="0">
                <a:solidFill>
                  <a:srgbClr val="312D2A"/>
                </a:solidFill>
                <a:latin typeface="Oracle Sans Tab"/>
                <a:ea typeface="Oracle Sans Tab"/>
                <a:cs typeface="Oracle Sans Tab"/>
              </a:defRPr>
            </a:defPPr>
          </a:lstStyle>
          <a:p>
            <a:pPr algn="ctr">
              <a:defRPr sz="1575" b="0">
                <a:solidFill>
                  <a:srgbClr val="312D2A"/>
                </a:solidFill>
                <a:latin typeface="Oracle Sans Tab"/>
                <a:ea typeface="Oracle Sans Tab"/>
                <a:cs typeface="Oracle Sans Tab"/>
              </a:defRPr>
            </a:pPr>
            <a:r>
              <a:rPr sz="1575" b="0">
                <a:solidFill>
                  <a:srgbClr val="312D2A"/>
                </a:solidFill>
                <a:latin typeface="Oracle Sans Tab"/>
                <a:ea typeface="Oracle Sans Tab"/>
                <a:cs typeface="Oracle Sans Tab"/>
              </a:rPr>
              <a:t>OCI DNS API</a:t>
            </a:r>
          </a:p>
        </p:txBody>
      </p:sp>
      <p:sp>
        <p:nvSpPr>
          <p:cNvPr id="39" name="api-call-from">
            <a:extLst>
              <a:ext uri="{FF2B5EF4-FFF2-40B4-BE49-F238E27FC236}">
                <ns2:creationId id="{533BD957-3EA3-4E9A-B9C6-5E80DB39A8C5}"/>
              </a:ext>
            </a:extLst>
          </p:cNvPr>
          <p:cNvSpPr>
            <a:spLocks noGrp="1"/>
          </p:cNvSpPr>
          <p:nvPr/>
        </p:nvSpPr>
        <p:spPr>
          <a:xfrm>
            <a:off x="3324225" y="5534025"/>
            <a:ext cx="19050" cy="19050"/>
          </a:xfrm>
          <a:prstGeom prst="rect">
            <a:avLst/>
          </a:prstGeom>
          <a:noFill/>
          <a:ln w="0">
            <a:noFill/>
          </a:ln>
        </p:spPr>
      </p:sp>
      <p:sp>
        <p:nvSpPr>
          <p:cNvPr id="40" name="api-call-to">
            <a:extLst>
              <a:ext uri="{FF2B5EF4-FFF2-40B4-BE49-F238E27FC236}">
                <ns2:creationId id="{117AA4C1-C524-48CA-B6CE-1A518D4ED801}"/>
              </a:ext>
            </a:extLst>
          </p:cNvPr>
          <p:cNvSpPr>
            <a:spLocks noGrp="1"/>
          </p:cNvSpPr>
          <p:nvPr/>
        </p:nvSpPr>
        <p:spPr>
          <a:xfrm>
            <a:off x="7229475" y="5534025"/>
            <a:ext cx="19050" cy="19050"/>
          </a:xfrm>
          <a:prstGeom prst="rect">
            <a:avLst/>
          </a:prstGeom>
          <a:noFill/>
          <a:ln w="0">
            <a:noFill/>
          </a:ln>
        </p:spPr>
      </p:sp>
      <p:sp>
        <p:nvSpPr>
          <p:cNvPr id="42" name="hld-api-label">
            <a:extLst>
              <a:ext uri="{FF2B5EF4-FFF2-40B4-BE49-F238E27FC236}">
                <ns2:creationId id="{6E47D62E-9E1B-4E65-8470-D5C092B82B92}"/>
              </a:ext>
            </a:extLst>
          </p:cNvPr>
          <p:cNvSpPr>
            <a:spLocks noGrp="1"/>
          </p:cNvSpPr>
          <p:nvPr/>
        </p:nvSpPr>
        <p:spPr>
          <a:xfrm>
            <a:off x="3714750" y="5229225"/>
            <a:ext cx="3238500" cy="266700"/>
          </a:xfrm>
          <a:prstGeom prst="rect">
            <a:avLst/>
          </a:prstGeom>
          <a:noFill/>
          <a:ln w="0">
            <a:noFill/>
          </a:ln>
        </p:spPr>
        <p:txBody>
          <a:bodyPr lIns="0" tIns="0" rIns="0" bIns="0" anchor="t">
            <a:noAutofit/>
          </a:bodyPr>
          <a:lstStyle>
            <a:defPPr>
              <a:defRPr sz="1425" b="0">
                <a:solidFill>
                  <a:srgbClr val="6B625C"/>
                </a:solidFill>
                <a:latin typeface="Oracle Sans Tab"/>
                <a:ea typeface="Oracle Sans Tab"/>
                <a:cs typeface="Oracle Sans Tab"/>
              </a:defRPr>
            </a:defPPr>
          </a:lstStyle>
          <a:p>
            <a:pPr>
              <a:defRPr sz="1425" b="0">
                <a:solidFill>
                  <a:srgbClr val="6B625C"/>
                </a:solidFill>
                <a:latin typeface="Oracle Sans Tab"/>
                <a:ea typeface="Oracle Sans Tab"/>
                <a:cs typeface="Oracle Sans Tab"/>
              </a:defRPr>
            </a:pPr>
            <a:r>
              <a:rPr sz="1425" b="0">
                <a:solidFill>
                  <a:srgbClr val="6B625C"/>
                </a:solidFill>
                <a:latin typeface="Oracle Sans Tab"/>
                <a:ea typeface="Oracle Sans Tab"/>
                <a:cs typeface="Oracle Sans Tab"/>
              </a:rPr>
              <a:t>UpdateZone · HTTPS 443</a:t>
            </a:r>
          </a:p>
        </p:txBody>
      </p:sp>
      <p:sp>
        <p:nvSpPr>
          <p:cNvPr id="43" name="api-zone-state-from">
            <a:extLst>
              <a:ext uri="{FF2B5EF4-FFF2-40B4-BE49-F238E27FC236}">
                <ns2:creationId id="{C613A351-B72E-46DD-88E0-8C5C41A512DF}"/>
              </a:ext>
            </a:extLst>
          </p:cNvPr>
          <p:cNvSpPr>
            <a:spLocks noGrp="1"/>
          </p:cNvSpPr>
          <p:nvPr/>
        </p:nvSpPr>
        <p:spPr>
          <a:xfrm>
            <a:off x="8486775" y="5267325"/>
            <a:ext cx="19050" cy="19050"/>
          </a:xfrm>
          <a:prstGeom prst="rect">
            <a:avLst/>
          </a:prstGeom>
          <a:noFill/>
          <a:ln w="0">
            <a:noFill/>
          </a:ln>
        </p:spPr>
      </p:sp>
      <p:sp>
        <p:nvSpPr>
          <p:cNvPr id="44" name="api-zone-state-to">
            <a:extLst>
              <a:ext uri="{FF2B5EF4-FFF2-40B4-BE49-F238E27FC236}">
                <ns2:creationId id="{BFEA1876-697D-4A3F-BC9F-B6A291C76E2B}"/>
              </a:ext>
            </a:extLst>
          </p:cNvPr>
          <p:cNvSpPr>
            <a:spLocks noGrp="1"/>
          </p:cNvSpPr>
          <p:nvPr/>
        </p:nvSpPr>
        <p:spPr>
          <a:xfrm>
            <a:off x="8486775" y="4810125"/>
            <a:ext cx="19050" cy="19050"/>
          </a:xfrm>
          <a:prstGeom prst="rect">
            <a:avLst/>
          </a:prstGeom>
          <a:noFill/>
          <a:ln w="0">
            <a:noFill/>
          </a:ln>
        </p:spPr>
      </p:sp>
      <p:sp>
        <p:nvSpPr>
          <p:cNvPr id="46" name="hld-gate">
            <a:extLst>
              <a:ext uri="{FF2B5EF4-FFF2-40B4-BE49-F238E27FC236}">
                <ns2:creationId id="{3D765FB2-18DC-4DC8-9560-09676F5BA2F6}"/>
              </a:ext>
            </a:extLst>
          </p:cNvPr>
          <p:cNvSpPr>
            <a:spLocks noGrp="1"/>
          </p:cNvSpPr>
          <p:nvPr/>
        </p:nvSpPr>
        <p:spPr>
          <a:xfrm>
            <a:off x="762000" y="5981700"/>
            <a:ext cx="8572500" cy="304800"/>
          </a:xfrm>
          <a:prstGeom prst="rect">
            <a:avLst/>
          </a:prstGeom>
          <a:noFill/>
          <a:ln w="0">
            <a:noFill/>
          </a:ln>
        </p:spPr>
        <p:txBody>
          <a:bodyPr lIns="0" tIns="0" rIns="0" bIns="0" anchor="t">
            <a:noAutofit/>
          </a:bodyPr>
          <a:lstStyle>
            <a:defPPr>
              <a:defRPr sz="1350" b="1">
                <a:solidFill>
                  <a:srgbClr val="33553C"/>
                </a:solidFill>
                <a:latin typeface="Oracle Sans Tab"/>
                <a:ea typeface="Oracle Sans Tab"/>
                <a:cs typeface="Oracle Sans Tab"/>
              </a:defRPr>
            </a:defPPr>
          </a:lstStyle>
          <a:p>
            <a:pPr>
              <a:defRPr sz="1350" b="1">
                <a:solidFill>
                  <a:srgbClr val="33553C"/>
                </a:solidFill>
                <a:latin typeface="Oracle Sans Tab"/>
                <a:ea typeface="Oracle Sans Tab"/>
                <a:cs typeface="Oracle Sans Tab"/>
              </a:defRPr>
            </a:pPr>
            <a:r>
              <a:rPr sz="1350" b="1">
                <a:solidFill>
                  <a:srgbClr val="33553C"/>
                </a:solidFill>
                <a:latin typeface="Oracle Sans Tab"/>
                <a:ea typeface="Oracle Sans Tab"/>
                <a:cs typeface="Oracle Sans Tab"/>
              </a:rPr>
              <a:t>Gate: publish fresh data; target transfer logs prove OCI used the target during overlap.</a:t>
            </a:r>
          </a:p>
        </p:txBody>
      </p:sp>
      <p:sp>
        <p:nvSpPr>
          <p:cNvPr id="47" name="HLD-nav-8">
            <a:extLst>
              <a:ext uri="{FF2B5EF4-FFF2-40B4-BE49-F238E27FC236}">
                <ns2:creationId id="{D83D7596-2363-4117-A6CA-413578F54314}"/>
              </a:ext>
            </a:extLst>
            <a:hlinkClick r:id="rIdHld15" action="ppaction://hlinksldjump" tooltip="Go to slide 8" history="1"/>
          </p:cNvPr>
          <p:cNvSpPr>
            <a:spLocks noGrp="1"/>
          </p:cNvSpPr>
          <p:nvPr/>
        </p:nvSpPr>
        <p:spPr>
          <a:xfrm>
            <a:off x="9667875" y="5924550"/>
            <a:ext cx="1762125" cy="361950"/>
          </a:xfrm>
          <a:prstGeom prst="rect">
            <a:avLst/>
          </a:prstGeom>
          <a:solidFill>
            <a:srgbClr val="33553C"/>
          </a:solidFill>
          <a:ln w="13335">
            <a:solidFill>
              <a:srgbClr val="33553C"/>
            </a:solidFill>
          </a:ln>
        </p:spPr>
        <p:txBody>
          <a:bodyPr lIns="95250" tIns="76200" rIns="95250" bIns="76200" anchor="ctr">
            <a:noAutofit/>
          </a:bodyPr>
          <a:lstStyle>
            <a:defPPr algn="ctr">
              <a:defRPr sz="1575" b="0">
                <a:solidFill>
                  <a:srgbClr val="FFFFFF"/>
                </a:solidFill>
                <a:latin typeface="Oracle Sans Tab"/>
                <a:ea typeface="Oracle Sans Tab"/>
                <a:cs typeface="Oracle Sans Tab"/>
              </a:defRPr>
            </a:defPPr>
          </a:lstStyle>
          <a:p>
            <a:pPr algn="ctr">
              <a:defRPr sz="1575" b="0">
                <a:solidFill>
                  <a:srgbClr val="FFFFFF"/>
                </a:solidFill>
                <a:latin typeface="Oracle Sans Tab"/>
                <a:ea typeface="Oracle Sans Tab"/>
                <a:cs typeface="Oracle Sans Tab"/>
              </a:defRPr>
            </a:pPr>
            <a:r>
              <a:rPr sz="1575" b="0">
                <a:solidFill>
                  <a:srgbClr val="FFFFFF"/>
                </a:solidFill>
                <a:latin typeface="Oracle Sans Tab"/>
                <a:ea typeface="Oracle Sans Tab"/>
                <a:cs typeface="Oracle Sans Tab"/>
              </a:rPr>
              <a:t>Next phase ›</a:t>
            </a:r>
          </a:p>
        </p:txBody>
      </p:sp>
    </p:spTree>
    <p:extLst>
      <p:ext uri="{BB962C8B-B14F-4D97-AF65-F5344CB8AC3E}">
        <ns4:creationId val="2532116061"/>
      </p:ext>
    </p:extLst>
  </p:cSld>
  <p:transition spd="fast" advClick="1">
    <p:fade/>
  </p:transition>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cxnSp>
        <p:nvCxnSpPr>
          <p:cNvPr id="45" name="">
            <a:extLst>
              <a:ext uri="{FF2B5EF4-FFF2-40B4-BE49-F238E27FC236}">
                <ns2:creationId id="{05A359E9-E2B4-4D03-85E9-5F5D8873783C}"/>
              </a:ext>
            </a:extLst>
          </p:cNvPr>
          <p:cNvCxnSpPr>
            <a:stCxn id="43" idx="0"/>
            <a:endCxn id="44" idx="2"/>
          </p:cNvCxnSpPr>
          <p:nvPr/>
        </p:nvCxnSpPr>
        <p:spPr>
          <a:xfrm flipV="1">
            <a:off x="8496300" y="4829175"/>
            <a:ext cx="0" cy="438150"/>
          </a:xfrm>
          <a:prstGeom prst="straightConnector1">
            <a:avLst/>
          </a:prstGeom>
          <a:ln w="16193">
            <a:solidFill>
              <a:srgbClr val="6B625C"/>
            </a:solidFill>
            <a:prstDash val="dash"/>
            <a:tailEnd type="triangle" w="med" len="med"/>
          </a:ln>
        </p:spPr>
      </p:cxnSp>
      <p:cxnSp>
        <p:nvCxnSpPr>
          <p:cNvPr id="41" name="">
            <a:extLst>
              <a:ext uri="{FF2B5EF4-FFF2-40B4-BE49-F238E27FC236}">
                <ns2:creationId id="{BA1D3B4D-D3AE-4EFC-856B-A808E0B9E599}"/>
              </a:ext>
            </a:extLst>
          </p:cNvPr>
          <p:cNvCxnSpPr>
            <a:stCxn id="39" idx="3"/>
            <a:endCxn id="40" idx="1"/>
          </p:cNvCxnSpPr>
          <p:nvPr/>
        </p:nvCxnSpPr>
        <p:spPr>
          <a:xfrm>
            <a:off x="3343275" y="5543550"/>
            <a:ext cx="3886200" cy="0"/>
          </a:xfrm>
          <a:prstGeom prst="straightConnector1">
            <a:avLst/>
          </a:prstGeom>
          <a:ln w="16193">
            <a:solidFill>
              <a:srgbClr val="6B625C"/>
            </a:solidFill>
            <a:prstDash val="dash"/>
            <a:tailEnd type="triangle" w="med" len="med"/>
          </a:ln>
        </p:spPr>
      </p:cxnSp>
      <p:cxnSp>
        <p:nvCxnSpPr>
          <p:cNvPr id="34" name="">
            <a:extLst>
              <a:ext uri="{FF2B5EF4-FFF2-40B4-BE49-F238E27FC236}">
                <ns2:creationId id="{CBDE8E8E-1D92-440F-84FC-6E41E26172E8}"/>
              </a:ext>
            </a:extLst>
          </p:cNvPr>
          <p:cNvCxnSpPr>
            <a:stCxn id="32" idx="3"/>
            <a:endCxn id="33" idx="1"/>
          </p:cNvCxnSpPr>
          <p:nvPr/>
        </p:nvCxnSpPr>
        <p:spPr>
          <a:xfrm>
            <a:off x="3343275" y="4619625"/>
            <a:ext cx="3886200" cy="0"/>
          </a:xfrm>
          <a:prstGeom prst="straightConnector1">
            <a:avLst/>
          </a:prstGeom>
          <a:ln w="28575">
            <a:solidFill>
              <a:srgbClr val="467553"/>
            </a:solidFill>
            <a:prstDash val="solid"/>
            <a:tailEnd type="triangle" w="med" len="med"/>
          </a:ln>
        </p:spPr>
      </p:cxnSp>
      <p:cxnSp>
        <p:nvCxnSpPr>
          <p:cNvPr id="31" name="">
            <a:extLst>
              <a:ext uri="{FF2B5EF4-FFF2-40B4-BE49-F238E27FC236}">
                <ns2:creationId id="{1DBAA149-F857-4509-9284-A34F43A77EE6}"/>
              </a:ext>
            </a:extLst>
          </p:cNvPr>
          <p:cNvCxnSpPr>
            <a:stCxn id="29" idx="1"/>
            <a:endCxn id="30" idx="3"/>
          </p:cNvCxnSpPr>
          <p:nvPr/>
        </p:nvCxnSpPr>
        <p:spPr>
          <a:xfrm flipH="1">
            <a:off x="3343275" y="4162425"/>
            <a:ext cx="3886200" cy="0"/>
          </a:xfrm>
          <a:prstGeom prst="straightConnector1">
            <a:avLst/>
          </a:prstGeom>
          <a:ln w="22860">
            <a:solidFill>
              <a:srgbClr val="2C6176"/>
            </a:solidFill>
            <a:prstDash val="solid"/>
            <a:tailEnd type="triangle" w="med" len="med"/>
          </a:ln>
        </p:spPr>
      </p:cxnSp>
      <p:cxnSp>
        <p:nvCxnSpPr>
          <p:cNvPr id="26" name="">
            <a:extLst>
              <a:ext uri="{FF2B5EF4-FFF2-40B4-BE49-F238E27FC236}">
                <ns2:creationId id="{88918431-2282-42F7-B41B-F5DC2B704AD8}"/>
              </a:ext>
            </a:extLst>
          </p:cNvPr>
          <p:cNvCxnSpPr>
            <a:stCxn id="24" idx="3"/>
            <a:endCxn id="25" idx="1"/>
          </p:cNvCxnSpPr>
          <p:nvPr/>
        </p:nvCxnSpPr>
        <p:spPr>
          <a:xfrm>
            <a:off x="3343275" y="3000375"/>
            <a:ext cx="3886200" cy="0"/>
          </a:xfrm>
          <a:prstGeom prst="straightConnector1">
            <a:avLst/>
          </a:prstGeom>
          <a:ln w="12383">
            <a:solidFill>
              <a:srgbClr val="A9A29C"/>
            </a:solidFill>
            <a:prstDash val="dash"/>
            <a:tailEnd type="triangle" w="med" len="med"/>
          </a:ln>
        </p:spPr>
      </p:cxnSp>
      <p:cxnSp>
        <p:nvCxnSpPr>
          <p:cNvPr id="23" name="">
            <a:extLst>
              <a:ext uri="{FF2B5EF4-FFF2-40B4-BE49-F238E27FC236}">
                <ns2:creationId id="{A10BB0BE-3421-47B4-995E-FA49C987F86C}"/>
              </a:ext>
            </a:extLst>
          </p:cNvPr>
          <p:cNvCxnSpPr>
            <a:stCxn id="21" idx="1"/>
            <a:endCxn id="22" idx="3"/>
          </p:cNvCxnSpPr>
          <p:nvPr/>
        </p:nvCxnSpPr>
        <p:spPr>
          <a:xfrm flipH="1">
            <a:off x="3343275" y="2543175"/>
            <a:ext cx="3886200" cy="0"/>
          </a:xfrm>
          <a:prstGeom prst="straightConnector1">
            <a:avLst/>
          </a:prstGeom>
          <a:ln w="12383">
            <a:solidFill>
              <a:srgbClr val="A9A29C"/>
            </a:solidFill>
            <a:prstDash val="dash"/>
            <a:tailEnd type="triangle" w="med" len="med"/>
          </a:ln>
        </p:spPr>
      </p:cxnSp>
      <p:cxnSp>
        <p:nvCxnSpPr>
          <p:cNvPr id="20" name="">
            <a:extLst>
              <a:ext uri="{FF2B5EF4-FFF2-40B4-BE49-F238E27FC236}">
                <ns2:creationId id="{EA28AA56-7EFC-45EC-97F5-1D61586D83CA}"/>
              </a:ext>
            </a:extLst>
          </p:cNvPr>
          <p:cNvCxnSpPr>
            <a:stCxn id="18" idx="1"/>
            <a:endCxn id="19" idx="3"/>
          </p:cNvCxnSpPr>
          <p:nvPr/>
        </p:nvCxnSpPr>
        <p:spPr>
          <a:xfrm flipH="1">
            <a:off x="9772650" y="3733800"/>
            <a:ext cx="504825" cy="0"/>
          </a:xfrm>
          <a:prstGeom prst="straightConnector1">
            <a:avLst/>
          </a:prstGeom>
          <a:ln w="19050">
            <a:solidFill>
              <a:srgbClr val="2C6176"/>
            </a:solidFill>
            <a:prstDash val="solid"/>
            <a:tailEnd type="triangle" w="med" len="med"/>
          </a:ln>
        </p:spPr>
      </p:cxnSp>
      <p:sp>
        <p:nvSpPr>
          <p:cNvPr id="6" name="Text Placeholder 5">
            <a:extLst>
              <a:ext uri="{FF2B5EF4-FFF2-40B4-BE49-F238E27FC236}">
                <ns2:creationId id="{7DCC20AB-A861-EF0B-716D-B516488480DE}"/>
              </a:ext>
            </a:extLst>
          </p:cNvPr>
          <p:cNvSpPr>
            <a:spLocks noGrp="1"/>
          </p:cNvSpPr>
          <p:nvPr>
            <p:ph type="body" idx="11"/>
          </p:nvPr>
        </p:nvSpPr>
        <p:spPr/>
        <p:txBody>
          <a:bodyPr lIns="0" tIns="0" rIns="0" bIns="0">
            <a:noAutofit/>
          </a:bodyPr>
          <a:lstStyle>
            <a:defPPr>
              <a:defRPr sz="2000">
                <a:solidFill>
                  <a:srgbClr val="312D2A"/>
                </a:solidFill>
                <a:latin typeface="Oracle Sans Tab"/>
                <a:ea typeface="Oracle Sans Tab"/>
                <a:cs typeface="Oracle Sans Tab"/>
              </a:defRPr>
            </a:defPPr>
          </a:lstStyle>
          <a:p>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Remove the source, then verify another fresh transfer</a:t>
            </a:r>
            <a:endParaRPr/>
          </a:p>
        </p:txBody>
      </p:sp>
      <p:sp>
        <p:nvSpPr>
          <p:cNvPr id="5" name="Title 4">
            <a:extLst>
              <a:ext uri="{FF2B5EF4-FFF2-40B4-BE49-F238E27FC236}">
                <ns2:creationId id="{0A0188C5-9A9C-7F7C-D38B-8623022BA8A4}"/>
              </a:ext>
            </a:extLst>
          </p:cNvPr>
          <p:cNvSpPr>
            <a:spLocks noGrp="1"/>
          </p:cNvSpPr>
          <p:nvPr>
            <p:ph type="title" idx="0"/>
          </p:nvPr>
        </p:nvSpPr>
        <p:spPr/>
        <p:txBody>
          <a:bodyPr lIns="0" tIns="0" rIns="0" bIns="0" anchor="b">
            <a:noAutofit/>
          </a:bodyPr>
          <a:lstStyle>
            <a:defPPr>
              <a:defRPr sz="2400" b="1">
                <a:solidFill>
                  <a:srgbClr val="312D2A"/>
                </a:solidFill>
                <a:latin typeface="Oracle Sans Tab"/>
                <a:ea typeface="Oracle Sans Tab"/>
                <a:cs typeface="Oracle Sans Tab"/>
              </a:defRPr>
            </a:defPPr>
          </a:lstStyle>
          <a:p>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HLD phase 3: target upstream only</a:t>
            </a:r>
            <a:endParaRPr/>
          </a:p>
        </p:txBody>
      </p:sp>
      <p:sp>
        <p:nvSpPr>
          <p:cNvPr id="3" name="Footer Placeholder 2">
            <a:extLst>
              <a:ext uri="{FF2B5EF4-FFF2-40B4-BE49-F238E27FC236}">
                <ns2:creationId id="{4C70B9F6-B0F3-9ED9-FECE-444AC2468B27}"/>
              </a:ext>
            </a:extLst>
          </p:cNvPr>
          <p:cNvSpPr>
            <a:spLocks noGrp="1"/>
          </p:cNvSpPr>
          <p:nvPr>
            <p:ph type="ftr" idx="13"/>
          </p:nvPr>
        </p:nvSpPr>
        <p:spPr/>
        <p:txBody>
          <a:bodyPr lIns="0" tIns="0" rIns="0" bIns="0" anchor="ctr"/>
          <a:lstStyle>
            <a:defPPr>
              <a:defRPr sz="900">
                <a:solidFill>
                  <a:srgbClr val="8B8580"/>
                </a:solidFill>
                <a:latin typeface="Oracle Sans Tab"/>
                <a:ea typeface="Oracle Sans Tab"/>
                <a:cs typeface="Oracle Sans Tab"/>
              </a:defRPr>
            </a:defPPr>
          </a:lstStyle>
          <a:p>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a:ext uri="{FF2B5EF4-FFF2-40B4-BE49-F238E27FC236}">
                <ns2:creationId id="{D6084088-C3B5-30CC-7C65-6B1C87B1C5BF}"/>
              </a:ext>
            </a:extLst>
          </p:cNvPr>
          <p:cNvSpPr>
            <a:spLocks noGrp="1"/>
          </p:cNvSpPr>
          <p:nvPr>
            <p:ph type="sldNum" idx="14"/>
          </p:nvPr>
        </p:nvSpPr>
        <p:spPr/>
        <p:txBody>
          <a:bodyPr lIns="0" tIns="0" rIns="0" bIns="0" anchor="ctr"/>
          <a:lstStyle>
            <a:defPPr>
              <a:defRPr sz="900">
                <a:solidFill>
                  <a:srgbClr val="8B8580"/>
                </a:solidFill>
                <a:latin typeface="Oracle Sans Tab"/>
                <a:ea typeface="Oracle Sans Tab"/>
                <a:cs typeface="Oracle Sans Tab"/>
              </a:defRPr>
            </a:defPPr>
          </a:lstStyle>
          <a:p>
            <a:pPr>
              <a:defRPr sz="900">
                <a:solidFill>
                  <a:srgbClr val="8B8580"/>
                </a:solidFill>
                <a:latin typeface="Oracle Sans Tab"/>
                <a:ea typeface="Oracle Sans Tab"/>
                <a:cs typeface="Oracle Sans Tab"/>
              </a:defRPr>
            </a:pPr>
            <a:fld id="{BA58DA2A-B818-18A9-29C1-B697728D5BCE}" type="slidenum">
              <a:rPr sz="900">
                <a:solidFill>
                  <a:srgbClr val="8B8580"/>
                </a:solidFill>
                <a:latin typeface="Oracle Sans Tab"/>
                <a:ea typeface="Oracle Sans Tab"/>
                <a:cs typeface="Oracle Sans Tab"/>
              </a:rPr>
              <a:t>8</a:t>
            </a:fld>
            <a:endParaRPr/>
          </a:p>
        </p:txBody>
      </p:sp>
      <p:sp>
        <p:nvSpPr>
          <p:cNvPr id="7" name="HLD-nav-5">
            <a:extLst>
              <a:ext uri="{FF2B5EF4-FFF2-40B4-BE49-F238E27FC236}">
                <ns2:creationId id="{209E2F28-43BB-4A98-B3AD-F170FC7E82EE}"/>
              </a:ext>
            </a:extLst>
            <a:hlinkClick r:id="rIdHld16" action="ppaction://hlinksldjump" tooltip="Go to slide 5" history="1"/>
          </p:cNvPr>
          <p:cNvSpPr>
            <a:spLocks noGrp="1"/>
          </p:cNvSpPr>
          <p:nvPr/>
        </p:nvSpPr>
        <p:spPr>
          <a:xfrm>
            <a:off x="762000"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HLD overview</a:t>
            </a:r>
          </a:p>
        </p:txBody>
      </p:sp>
      <p:sp>
        <p:nvSpPr>
          <p:cNvPr id="8" name="HLD-nav-6">
            <a:extLst>
              <a:ext uri="{FF2B5EF4-FFF2-40B4-BE49-F238E27FC236}">
                <ns2:creationId id="{AAB1072A-32BF-4311-A618-D9A99E9531C1}"/>
              </a:ext>
            </a:extLst>
            <a:hlinkClick r:id="rIdHld17" action="ppaction://hlinksldjump" tooltip="Go to slide 6" history="1"/>
          </p:cNvPr>
          <p:cNvSpPr>
            <a:spLocks noGrp="1"/>
          </p:cNvSpPr>
          <p:nvPr/>
        </p:nvSpPr>
        <p:spPr>
          <a:xfrm>
            <a:off x="3476625"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Phase 1 · source</a:t>
            </a:r>
          </a:p>
        </p:txBody>
      </p:sp>
      <p:sp>
        <p:nvSpPr>
          <p:cNvPr id="9" name="HLD-nav-7">
            <a:extLst>
              <a:ext uri="{FF2B5EF4-FFF2-40B4-BE49-F238E27FC236}">
                <ns2:creationId id="{6C52D8B6-52B3-4BBC-99B9-721D6681D953}"/>
              </a:ext>
            </a:extLst>
            <a:hlinkClick r:id="rIdHld18" action="ppaction://hlinksldjump" tooltip="Go to slide 7" history="1"/>
          </p:cNvPr>
          <p:cNvSpPr>
            <a:spLocks noGrp="1"/>
          </p:cNvSpPr>
          <p:nvPr/>
        </p:nvSpPr>
        <p:spPr>
          <a:xfrm>
            <a:off x="6191250" y="1504950"/>
            <a:ext cx="2524125" cy="381000"/>
          </a:xfrm>
          <a:prstGeom prst="rect">
            <a:avLst/>
          </a:prstGeom>
          <a:solidFill>
            <a:srgbClr val="FCFBFA"/>
          </a:solidFill>
          <a:ln w="13335">
            <a:solidFill>
              <a:srgbClr val="D9D4CF"/>
            </a:solidFill>
          </a:ln>
        </p:spPr>
        <p:txBody>
          <a:bodyPr lIns="95250" tIns="76200" rIns="95250" bIns="76200" anchor="ctr">
            <a:noAutofit/>
          </a:bodyPr>
          <a:lstStyle>
            <a:defPPr algn="ctr">
              <a:defRPr sz="1650" b="0">
                <a:solidFill>
                  <a:srgbClr val="33553C"/>
                </a:solidFill>
                <a:latin typeface="Oracle Sans Tab"/>
                <a:ea typeface="Oracle Sans Tab"/>
                <a:cs typeface="Oracle Sans Tab"/>
              </a:defRPr>
            </a:defPPr>
          </a:lstStyle>
          <a:p>
            <a:pPr algn="ctr">
              <a:defRPr sz="1650" b="0">
                <a:solidFill>
                  <a:srgbClr val="33553C"/>
                </a:solidFill>
                <a:latin typeface="Oracle Sans Tab"/>
                <a:ea typeface="Oracle Sans Tab"/>
                <a:cs typeface="Oracle Sans Tab"/>
              </a:defRPr>
            </a:pPr>
            <a:r>
              <a:rPr sz="1650" b="0">
                <a:solidFill>
                  <a:srgbClr val="33553C"/>
                </a:solidFill>
                <a:latin typeface="Oracle Sans Tab"/>
                <a:ea typeface="Oracle Sans Tab"/>
                <a:cs typeface="Oracle Sans Tab"/>
              </a:rPr>
              <a:t>Phase 2 · both</a:t>
            </a:r>
          </a:p>
        </p:txBody>
      </p:sp>
      <p:sp>
        <p:nvSpPr>
          <p:cNvPr id="10" name="HLD-nav-8">
            <a:extLst>
              <a:ext uri="{FF2B5EF4-FFF2-40B4-BE49-F238E27FC236}">
                <ns2:creationId id="{CEC01507-8396-44CB-9047-C9F7AE9A462A}"/>
              </a:ext>
            </a:extLst>
            <a:hlinkClick r:id="rIdHld19" action="ppaction://hlinksldjump" tooltip="Go to slide 8" history="1"/>
          </p:cNvPr>
          <p:cNvSpPr>
            <a:spLocks noGrp="1"/>
          </p:cNvSpPr>
          <p:nvPr/>
        </p:nvSpPr>
        <p:spPr>
          <a:xfrm>
            <a:off x="8905875" y="1504950"/>
            <a:ext cx="2524125" cy="381000"/>
          </a:xfrm>
          <a:prstGeom prst="rect">
            <a:avLst/>
          </a:prstGeom>
          <a:solidFill>
            <a:srgbClr val="33553C"/>
          </a:solidFill>
          <a:ln w="13335">
            <a:solidFill>
              <a:srgbClr val="33553C"/>
            </a:solidFill>
          </a:ln>
        </p:spPr>
        <p:txBody>
          <a:bodyPr lIns="95250" tIns="76200" rIns="95250" bIns="76200" anchor="ctr">
            <a:noAutofit/>
          </a:bodyPr>
          <a:lstStyle>
            <a:defPPr algn="ctr">
              <a:defRPr sz="1650" b="0">
                <a:solidFill>
                  <a:srgbClr val="FFFFFF"/>
                </a:solidFill>
                <a:latin typeface="Oracle Sans Tab"/>
                <a:ea typeface="Oracle Sans Tab"/>
                <a:cs typeface="Oracle Sans Tab"/>
              </a:defRPr>
            </a:defPPr>
          </a:lstStyle>
          <a:p>
            <a:pPr algn="ctr">
              <a:defRPr sz="1650" b="0">
                <a:solidFill>
                  <a:srgbClr val="FFFFFF"/>
                </a:solidFill>
                <a:latin typeface="Oracle Sans Tab"/>
                <a:ea typeface="Oracle Sans Tab"/>
                <a:cs typeface="Oracle Sans Tab"/>
              </a:defRPr>
            </a:pPr>
            <a:r>
              <a:rPr sz="1650" b="0">
                <a:solidFill>
                  <a:srgbClr val="FFFFFF"/>
                </a:solidFill>
                <a:latin typeface="Oracle Sans Tab"/>
                <a:ea typeface="Oracle Sans Tab"/>
                <a:cs typeface="Oracle Sans Tab"/>
              </a:rPr>
              <a:t>Phase 3 · target</a:t>
            </a:r>
          </a:p>
        </p:txBody>
      </p:sp>
      <p:sp>
        <p:nvSpPr>
          <p:cNvPr id="11" name="hld-click-guide">
            <a:extLst>
              <a:ext uri="{FF2B5EF4-FFF2-40B4-BE49-F238E27FC236}">
                <ns2:creationId id="{80F7530B-0F44-4069-902B-4A8D640A8C90}"/>
              </a:ext>
            </a:extLst>
          </p:cNvPr>
          <p:cNvSpPr>
            <a:spLocks noGrp="1"/>
          </p:cNvSpPr>
          <p:nvPr/>
        </p:nvSpPr>
        <p:spPr>
          <a:xfrm>
            <a:off x="762000" y="1971675"/>
            <a:ext cx="10668000" cy="266700"/>
          </a:xfrm>
          <a:prstGeom prst="rect">
            <a:avLst/>
          </a:prstGeom>
          <a:noFill/>
          <a:ln w="0">
            <a:noFill/>
          </a:ln>
        </p:spPr>
        <p:txBody>
          <a:bodyPr lIns="0" tIns="0" rIns="0" bIns="0" anchor="t">
            <a:noAutofit/>
          </a:bodyPr>
          <a:lstStyle>
            <a:defPPr>
              <a:defRPr sz="1350" b="0">
                <a:solidFill>
                  <a:srgbClr val="6B625C"/>
                </a:solidFill>
                <a:latin typeface="Oracle Sans Tab"/>
                <a:ea typeface="Oracle Sans Tab"/>
                <a:cs typeface="Oracle Sans Tab"/>
              </a:defRPr>
            </a:defPPr>
          </a:lstStyle>
          <a:p>
            <a:pPr>
              <a:defRPr sz="1350" b="0">
                <a:solidFill>
                  <a:srgbClr val="6B625C"/>
                </a:solidFill>
                <a:latin typeface="Oracle Sans Tab"/>
                <a:ea typeface="Oracle Sans Tab"/>
                <a:cs typeface="Oracle Sans Tab"/>
              </a:defRPr>
            </a:pPr>
            <a:r>
              <a:rPr sz="1350" b="0">
                <a:solidFill>
                  <a:srgbClr val="6B625C"/>
                </a:solidFill>
                <a:latin typeface="Oracle Sans Tab"/>
                <a:ea typeface="Oracle Sans Tab"/>
                <a:cs typeface="Oracle Sans Tab"/>
              </a:rPr>
              <a:t>Click a phase tab or Next phase. Click the slide background to advance.</a:t>
            </a:r>
          </a:p>
        </p:txBody>
      </p:sp>
      <p:sp>
        <p:nvSpPr>
          <p:cNvPr id="12" name="HLD-source">
            <a:extLst>
              <a:ext uri="{FF2B5EF4-FFF2-40B4-BE49-F238E27FC236}">
                <ns2:creationId id="{6981300E-86F8-46BF-AAA5-0659B6DFC426}"/>
              </a:ext>
            </a:extLst>
          </p:cNvPr>
          <p:cNvSpPr>
            <a:spLocks noGrp="1"/>
          </p:cNvSpPr>
          <p:nvPr/>
        </p:nvSpPr>
        <p:spPr>
          <a:xfrm>
            <a:off x="762000" y="2381250"/>
            <a:ext cx="2571750" cy="819150"/>
          </a:xfrm>
          <a:prstGeom prst="rect">
            <a:avLst/>
          </a:prstGeom>
          <a:solidFill>
            <a:srgbClr val="F0EDEA"/>
          </a:solidFill>
          <a:ln w="13335">
            <a:solidFill>
              <a:srgbClr val="A9A29C"/>
            </a:solidFill>
          </a:ln>
        </p:spPr>
        <p:txBody>
          <a:bodyPr lIns="95250" tIns="76200" rIns="95250" bIns="76200" anchor="ctr">
            <a:noAutofit/>
          </a:bodyPr>
          <a:lstStyle>
            <a:defPPr algn="ctr">
              <a:defRPr sz="1725" b="0">
                <a:solidFill>
                  <a:srgbClr val="6B625C"/>
                </a:solidFill>
                <a:latin typeface="Oracle Sans Tab"/>
                <a:ea typeface="Oracle Sans Tab"/>
                <a:cs typeface="Oracle Sans Tab"/>
              </a:defRPr>
            </a:defPPr>
          </a:lstStyle>
          <a:p>
            <a:pPr algn="ctr">
              <a:defRPr sz="1725" b="0">
                <a:solidFill>
                  <a:srgbClr val="6B625C"/>
                </a:solidFill>
                <a:latin typeface="Oracle Sans Tab"/>
                <a:ea typeface="Oracle Sans Tab"/>
                <a:cs typeface="Oracle Sans Tab"/>
              </a:defRPr>
            </a:pPr>
            <a:r>
              <a:rPr sz="1725" b="0">
                <a:solidFill>
                  <a:srgbClr val="6B625C"/>
                </a:solidFill>
                <a:latin typeface="Oracle Sans Tab"/>
                <a:ea typeface="Oracle Sans Tab"/>
                <a:cs typeface="Oracle Sans Tab"/>
              </a:rPr>
              <a:t>Source upstream</a:t>
            </a:r>
          </a:p>
          <a:p>
            <a:pPr algn="ctr">
              <a:defRPr sz="1725" b="0">
                <a:solidFill>
                  <a:srgbClr val="6B625C"/>
                </a:solidFill>
                <a:latin typeface="Oracle Sans Tab"/>
                <a:ea typeface="Oracle Sans Tab"/>
                <a:cs typeface="Oracle Sans Tab"/>
              </a:defRPr>
            </a:pPr>
            <a:r>
              <a:rPr sz="1725" b="0">
                <a:solidFill>
                  <a:srgbClr val="6B625C"/>
                </a:solidFill>
                <a:latin typeface="Oracle Sans Tab"/>
                <a:ea typeface="Oracle Sans Tab"/>
                <a:cs typeface="Oracle Sans Tab"/>
              </a:rPr>
              <a:t>Removed from OCI</a:t>
            </a:r>
          </a:p>
        </p:txBody>
      </p:sp>
      <p:sp>
        <p:nvSpPr>
          <p:cNvPr id="13" name="HLD-target">
            <a:extLst>
              <a:ext uri="{FF2B5EF4-FFF2-40B4-BE49-F238E27FC236}">
                <ns2:creationId id="{920F9BB8-7307-47BA-8B64-161E12F235AD}"/>
              </a:ext>
            </a:extLst>
          </p:cNvPr>
          <p:cNvSpPr>
            <a:spLocks noGrp="1"/>
          </p:cNvSpPr>
          <p:nvPr/>
        </p:nvSpPr>
        <p:spPr>
          <a:xfrm>
            <a:off x="762000" y="4000500"/>
            <a:ext cx="2571750" cy="819150"/>
          </a:xfrm>
          <a:prstGeom prst="rect">
            <a:avLst/>
          </a:prstGeom>
          <a:solidFill>
            <a:srgbClr val="CBE9D6"/>
          </a:solidFill>
          <a:ln w="13335">
            <a:solidFill>
              <a:srgbClr val="467553"/>
            </a:solidFill>
          </a:ln>
        </p:spPr>
        <p:txBody>
          <a:bodyPr lIns="95250" tIns="76200" rIns="95250" bIns="76200" anchor="ctr">
            <a:noAutofit/>
          </a:bodyPr>
          <a:lstStyle>
            <a:defPPr algn="ctr">
              <a:defRPr sz="1725" b="0">
                <a:solidFill>
                  <a:srgbClr val="312D2A"/>
                </a:solidFill>
                <a:latin typeface="Oracle Sans Tab"/>
                <a:ea typeface="Oracle Sans Tab"/>
                <a:cs typeface="Oracle Sans Tab"/>
              </a:defRPr>
            </a:defPPr>
          </a:lstStyle>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Target upstream</a:t>
            </a:r>
          </a:p>
          <a:p>
            <a:pPr algn="ctr">
              <a:defRPr sz="1725" b="0">
                <a:solidFill>
                  <a:srgbClr val="312D2A"/>
                </a:solidFill>
                <a:latin typeface="Oracle Sans Tab"/>
                <a:ea typeface="Oracle Sans Tab"/>
                <a:cs typeface="Oracle Sans Tab"/>
              </a:defRPr>
            </a:pPr>
            <a:r>
              <a:rPr sz="1725" b="0">
                <a:solidFill>
                  <a:srgbClr val="312D2A"/>
                </a:solidFill>
                <a:latin typeface="Oracle Sans Tab"/>
                <a:ea typeface="Oracle Sans Tab"/>
                <a:cs typeface="Oracle Sans Tab"/>
              </a:rPr>
              <a:t>Configured · per-zone TSIG</a:t>
            </a:r>
          </a:p>
        </p:txBody>
      </p:sp>
      <p:sp>
        <p:nvSpPr>
          <p:cNvPr id="14" name="HLD-oci">
            <a:extLst>
              <a:ext uri="{FF2B5EF4-FFF2-40B4-BE49-F238E27FC236}">
                <ns2:creationId id="{BF775C13-DA7B-4E70-AACB-43F7AB100DE2}"/>
              </a:ext>
            </a:extLst>
          </p:cNvPr>
          <p:cNvSpPr>
            <a:spLocks noGrp="1"/>
          </p:cNvSpPr>
          <p:nvPr/>
        </p:nvSpPr>
        <p:spPr>
          <a:xfrm>
            <a:off x="7239000" y="2381250"/>
            <a:ext cx="2524125" cy="2438400"/>
          </a:xfrm>
          <a:prstGeom prst="rect">
            <a:avLst/>
          </a:prstGeom>
          <a:solidFill>
            <a:srgbClr val="E9F9EE"/>
          </a:solidFill>
          <a:ln w="13335">
            <a:solidFill>
              <a:srgbClr val="33553C"/>
            </a:solidFill>
          </a:ln>
        </p:spPr>
        <p:txBody>
          <a:bodyPr lIns="95250" tIns="76200" rIns="95250" bIns="76200" anchor="ctr">
            <a:noAutofit/>
          </a:bodyPr>
          <a:lstStyle>
            <a:defPPr algn="ctr">
              <a:defRPr sz="1800" b="0">
                <a:solidFill>
                  <a:srgbClr val="312D2A"/>
                </a:solidFill>
                <a:latin typeface="Oracle Sans Tab"/>
                <a:ea typeface="Oracle Sans Tab"/>
                <a:cs typeface="Oracle Sans Tab"/>
              </a:defRPr>
            </a:defPPr>
          </a:lstStyle>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OCI secondary DNS</a:t>
            </a:r>
          </a:p>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Public authoritative service</a:t>
            </a:r>
          </a:p>
          <a:p>
            <a:pPr algn="ct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Global zone service</a:t>
            </a:r>
          </a:p>
        </p:txBody>
      </p:sp>
      <p:sp>
        <p:nvSpPr>
          <p:cNvPr id="15" name="HLD-clients">
            <a:extLst>
              <a:ext uri="{FF2B5EF4-FFF2-40B4-BE49-F238E27FC236}">
                <ns2:creationId id="{69583F4A-CEFA-4B66-B337-913E5C89028B}"/>
              </a:ext>
            </a:extLst>
          </p:cNvPr>
          <p:cNvSpPr>
            <a:spLocks noGrp="1"/>
          </p:cNvSpPr>
          <p:nvPr/>
        </p:nvSpPr>
        <p:spPr>
          <a:xfrm>
            <a:off x="10287000" y="3295650"/>
            <a:ext cx="1143000" cy="876300"/>
          </a:xfrm>
          <a:prstGeom prst="rect">
            <a:avLst/>
          </a:prstGeom>
          <a:solidFill>
            <a:srgbClr val="FCFBFA"/>
          </a:solidFill>
          <a:ln w="13335">
            <a:solidFill>
              <a:srgbClr val="D9D4CF"/>
            </a:solidFill>
          </a:ln>
        </p:spPr>
        <p:txBody>
          <a:bodyPr lIns="95250" tIns="76200" rIns="95250" bIns="76200" anchor="ctr">
            <a:noAutofit/>
          </a:bodyPr>
          <a:lstStyle>
            <a:defPPr algn="ctr">
              <a:defRPr sz="1500" b="0">
                <a:solidFill>
                  <a:srgbClr val="312D2A"/>
                </a:solidFill>
                <a:latin typeface="Oracle Sans Tab"/>
                <a:ea typeface="Oracle Sans Tab"/>
                <a:cs typeface="Oracle Sans Tab"/>
              </a:defRPr>
            </a:defPPr>
          </a:lstStyle>
          <a:p>
            <a:pPr algn="ctr">
              <a:defRPr sz="1500" b="0">
                <a:solidFill>
                  <a:srgbClr val="312D2A"/>
                </a:solidFill>
                <a:latin typeface="Oracle Sans Tab"/>
                <a:ea typeface="Oracle Sans Tab"/>
                <a:cs typeface="Oracle Sans Tab"/>
              </a:defRPr>
            </a:pPr>
            <a:r>
              <a:rPr sz="1500" b="0">
                <a:solidFill>
                  <a:srgbClr val="312D2A"/>
                </a:solidFill>
                <a:latin typeface="Oracle Sans Tab"/>
                <a:ea typeface="Oracle Sans Tab"/>
                <a:cs typeface="Oracle Sans Tab"/>
              </a:rPr>
              <a:t>Public DNS</a:t>
            </a:r>
          </a:p>
          <a:p>
            <a:pPr algn="ctr">
              <a:defRPr sz="1500" b="0">
                <a:solidFill>
                  <a:srgbClr val="312D2A"/>
                </a:solidFill>
                <a:latin typeface="Oracle Sans Tab"/>
                <a:ea typeface="Oracle Sans Tab"/>
                <a:cs typeface="Oracle Sans Tab"/>
              </a:defRPr>
            </a:pPr>
            <a:r>
              <a:rPr sz="1500" b="0">
                <a:solidFill>
                  <a:srgbClr val="312D2A"/>
                </a:solidFill>
                <a:latin typeface="Oracle Sans Tab"/>
                <a:ea typeface="Oracle Sans Tab"/>
                <a:cs typeface="Oracle Sans Tab"/>
              </a:rPr>
              <a:t>clients</a:t>
            </a:r>
          </a:p>
        </p:txBody>
      </p:sp>
      <p:sp>
        <p:nvSpPr>
          <p:cNvPr id="16" name="hld-query-label">
            <a:extLst>
              <a:ext uri="{FF2B5EF4-FFF2-40B4-BE49-F238E27FC236}">
                <ns2:creationId id="{CF38E487-EFB3-499F-9494-8232ABB3CFAA}"/>
              </a:ext>
            </a:extLst>
          </p:cNvPr>
          <p:cNvSpPr>
            <a:spLocks noGrp="1"/>
          </p:cNvSpPr>
          <p:nvPr/>
        </p:nvSpPr>
        <p:spPr>
          <a:xfrm>
            <a:off x="9906000" y="2733675"/>
            <a:ext cx="1524000" cy="285750"/>
          </a:xfrm>
          <a:prstGeom prst="rect">
            <a:avLst/>
          </a:prstGeom>
          <a:noFill/>
          <a:ln w="0">
            <a:noFill/>
          </a:ln>
        </p:spPr>
        <p:txBody>
          <a:bodyPr lIns="0" tIns="0" rIns="0" bIns="0" anchor="t">
            <a:noAutofit/>
          </a:bodyPr>
          <a:lstStyle>
            <a:defPPr>
              <a:defRPr sz="1350" b="1">
                <a:solidFill>
                  <a:srgbClr val="2C6176"/>
                </a:solidFill>
                <a:latin typeface="Oracle Sans Tab"/>
                <a:ea typeface="Oracle Sans Tab"/>
                <a:cs typeface="Oracle Sans Tab"/>
              </a:defRPr>
            </a:defPPr>
          </a:lstStyle>
          <a:p>
            <a:pPr>
              <a:defRPr sz="1350" b="1">
                <a:solidFill>
                  <a:srgbClr val="2C6176"/>
                </a:solidFill>
                <a:latin typeface="Oracle Sans Tab"/>
                <a:ea typeface="Oracle Sans Tab"/>
                <a:cs typeface="Oracle Sans Tab"/>
              </a:defRPr>
            </a:pPr>
            <a:r>
              <a:rPr sz="1350" b="1">
                <a:solidFill>
                  <a:srgbClr val="2C6176"/>
                </a:solidFill>
                <a:latin typeface="Oracle Sans Tab"/>
                <a:ea typeface="Oracle Sans Tab"/>
                <a:cs typeface="Oracle Sans Tab"/>
              </a:rPr>
              <a:t>DNS queries</a:t>
            </a:r>
          </a:p>
        </p:txBody>
      </p:sp>
      <p:sp>
        <p:nvSpPr>
          <p:cNvPr id="17" name="hld-query-port">
            <a:extLst>
              <a:ext uri="{FF2B5EF4-FFF2-40B4-BE49-F238E27FC236}">
                <ns2:creationId id="{730C9293-86D2-441D-9C70-469DD7FA7AF8}"/>
              </a:ext>
            </a:extLst>
          </p:cNvPr>
          <p:cNvSpPr>
            <a:spLocks noGrp="1"/>
          </p:cNvSpPr>
          <p:nvPr/>
        </p:nvSpPr>
        <p:spPr>
          <a:xfrm>
            <a:off x="9906000" y="3000375"/>
            <a:ext cx="1524000" cy="266700"/>
          </a:xfrm>
          <a:prstGeom prst="rect">
            <a:avLst/>
          </a:prstGeom>
          <a:noFill/>
          <a:ln w="0">
            <a:noFill/>
          </a:ln>
        </p:spPr>
        <p:txBody>
          <a:bodyPr lIns="0" tIns="0" rIns="0" bIns="0" anchor="t">
            <a:noAutofit/>
          </a:bodyPr>
          <a:lstStyle>
            <a:defPPr>
              <a:defRPr sz="1350" b="0">
                <a:solidFill>
                  <a:srgbClr val="6B625C"/>
                </a:solidFill>
                <a:latin typeface="Oracle Sans Tab"/>
                <a:ea typeface="Oracle Sans Tab"/>
                <a:cs typeface="Oracle Sans Tab"/>
              </a:defRPr>
            </a:defPPr>
          </a:lstStyle>
          <a:p>
            <a:pPr>
              <a:defRPr sz="1350" b="0">
                <a:solidFill>
                  <a:srgbClr val="6B625C"/>
                </a:solidFill>
                <a:latin typeface="Oracle Sans Tab"/>
                <a:ea typeface="Oracle Sans Tab"/>
                <a:cs typeface="Oracle Sans Tab"/>
              </a:defRPr>
            </a:pPr>
            <a:r>
              <a:rPr sz="1350" b="0">
                <a:solidFill>
                  <a:srgbClr val="6B625C"/>
                </a:solidFill>
                <a:latin typeface="Oracle Sans Tab"/>
                <a:ea typeface="Oracle Sans Tab"/>
                <a:cs typeface="Oracle Sans Tab"/>
              </a:rPr>
              <a:t>UDP / TCP 53</a:t>
            </a:r>
          </a:p>
        </p:txBody>
      </p:sp>
      <p:sp>
        <p:nvSpPr>
          <p:cNvPr id="18" name="query-from">
            <a:extLst>
              <a:ext uri="{FF2B5EF4-FFF2-40B4-BE49-F238E27FC236}">
                <ns2:creationId id="{BF10CC06-8417-4A6A-BB70-B3507B0190D5}"/>
              </a:ext>
            </a:extLst>
          </p:cNvPr>
          <p:cNvSpPr>
            <a:spLocks noGrp="1"/>
          </p:cNvSpPr>
          <p:nvPr/>
        </p:nvSpPr>
        <p:spPr>
          <a:xfrm>
            <a:off x="10277475" y="3724275"/>
            <a:ext cx="19050" cy="19050"/>
          </a:xfrm>
          <a:prstGeom prst="rect">
            <a:avLst/>
          </a:prstGeom>
          <a:noFill/>
          <a:ln w="0">
            <a:noFill/>
          </a:ln>
        </p:spPr>
      </p:sp>
      <p:sp>
        <p:nvSpPr>
          <p:cNvPr id="19" name="query-to">
            <a:extLst>
              <a:ext uri="{FF2B5EF4-FFF2-40B4-BE49-F238E27FC236}">
                <ns2:creationId id="{8EADEFF4-060A-4979-9DDF-D86E1F06AA6A}"/>
              </a:ext>
            </a:extLst>
          </p:cNvPr>
          <p:cNvSpPr>
            <a:spLocks noGrp="1"/>
          </p:cNvSpPr>
          <p:nvPr/>
        </p:nvSpPr>
        <p:spPr>
          <a:xfrm>
            <a:off x="9753600" y="3724275"/>
            <a:ext cx="19050" cy="19050"/>
          </a:xfrm>
          <a:prstGeom prst="rect">
            <a:avLst/>
          </a:prstGeom>
          <a:noFill/>
          <a:ln w="0">
            <a:noFill/>
          </a:ln>
        </p:spPr>
      </p:sp>
      <p:sp>
        <p:nvSpPr>
          <p:cNvPr id="21" name="source-request-from">
            <a:extLst>
              <a:ext uri="{FF2B5EF4-FFF2-40B4-BE49-F238E27FC236}">
                <ns2:creationId id="{02EB3CCA-D7AA-44C7-8682-84771C08D101}"/>
              </a:ext>
            </a:extLst>
          </p:cNvPr>
          <p:cNvSpPr>
            <a:spLocks noGrp="1"/>
          </p:cNvSpPr>
          <p:nvPr/>
        </p:nvSpPr>
        <p:spPr>
          <a:xfrm>
            <a:off x="7229475" y="2533650"/>
            <a:ext cx="19050" cy="19050"/>
          </a:xfrm>
          <a:prstGeom prst="rect">
            <a:avLst/>
          </a:prstGeom>
          <a:noFill/>
          <a:ln w="0">
            <a:noFill/>
          </a:ln>
        </p:spPr>
      </p:sp>
      <p:sp>
        <p:nvSpPr>
          <p:cNvPr id="22" name="source-request-to">
            <a:extLst>
              <a:ext uri="{FF2B5EF4-FFF2-40B4-BE49-F238E27FC236}">
                <ns2:creationId id="{DBCD4DD2-3135-426B-A0B2-3EA841015636}"/>
              </a:ext>
            </a:extLst>
          </p:cNvPr>
          <p:cNvSpPr>
            <a:spLocks noGrp="1"/>
          </p:cNvSpPr>
          <p:nvPr/>
        </p:nvSpPr>
        <p:spPr>
          <a:xfrm>
            <a:off x="3324225" y="2533650"/>
            <a:ext cx="19050" cy="19050"/>
          </a:xfrm>
          <a:prstGeom prst="rect">
            <a:avLst/>
          </a:prstGeom>
          <a:noFill/>
          <a:ln w="0">
            <a:noFill/>
          </a:ln>
        </p:spPr>
      </p:sp>
      <p:sp>
        <p:nvSpPr>
          <p:cNvPr id="24" name="source-data-from">
            <a:extLst>
              <a:ext uri="{FF2B5EF4-FFF2-40B4-BE49-F238E27FC236}">
                <ns2:creationId id="{365B8298-F36E-4D03-A811-827CD3B3B4CB}"/>
              </a:ext>
            </a:extLst>
          </p:cNvPr>
          <p:cNvSpPr>
            <a:spLocks noGrp="1"/>
          </p:cNvSpPr>
          <p:nvPr/>
        </p:nvSpPr>
        <p:spPr>
          <a:xfrm>
            <a:off x="3324225" y="2990850"/>
            <a:ext cx="19050" cy="19050"/>
          </a:xfrm>
          <a:prstGeom prst="rect">
            <a:avLst/>
          </a:prstGeom>
          <a:noFill/>
          <a:ln w="0">
            <a:noFill/>
          </a:ln>
        </p:spPr>
      </p:sp>
      <p:sp>
        <p:nvSpPr>
          <p:cNvPr id="25" name="source-data-to">
            <a:extLst>
              <a:ext uri="{FF2B5EF4-FFF2-40B4-BE49-F238E27FC236}">
                <ns2:creationId id="{8CDFAFDF-7178-45D6-8661-B66B7225E78A}"/>
              </a:ext>
            </a:extLst>
          </p:cNvPr>
          <p:cNvSpPr>
            <a:spLocks noGrp="1"/>
          </p:cNvSpPr>
          <p:nvPr/>
        </p:nvSpPr>
        <p:spPr>
          <a:xfrm>
            <a:off x="7229475" y="2990850"/>
            <a:ext cx="19050" cy="19050"/>
          </a:xfrm>
          <a:prstGeom prst="rect">
            <a:avLst/>
          </a:prstGeom>
          <a:noFill/>
          <a:ln w="0">
            <a:noFill/>
          </a:ln>
        </p:spPr>
      </p:sp>
      <p:sp>
        <p:nvSpPr>
          <p:cNvPr id="27" name="source-request-label">
            <a:extLst>
              <a:ext uri="{FF2B5EF4-FFF2-40B4-BE49-F238E27FC236}">
                <ns2:creationId id="{1CF05646-5053-4D87-8AA8-828856AF5C40}"/>
              </a:ext>
            </a:extLst>
          </p:cNvPr>
          <p:cNvSpPr>
            <a:spLocks noGrp="1"/>
          </p:cNvSpPr>
          <p:nvPr/>
        </p:nvSpPr>
        <p:spPr>
          <a:xfrm>
            <a:off x="3714750" y="2276475"/>
            <a:ext cx="3257550" cy="257175"/>
          </a:xfrm>
          <a:prstGeom prst="rect">
            <a:avLst/>
          </a:prstGeom>
          <a:noFill/>
          <a:ln w="0">
            <a:noFill/>
          </a:ln>
        </p:spPr>
        <p:txBody>
          <a:bodyPr lIns="0" tIns="0" rIns="0" bIns="0" anchor="t">
            <a:noAutofit/>
          </a:bodyPr>
          <a:lstStyle>
            <a:defPPr>
              <a:defRPr sz="1425" b="0">
                <a:solidFill>
                  <a:srgbClr val="A9A29C"/>
                </a:solidFill>
                <a:latin typeface="Oracle Sans Tab"/>
                <a:ea typeface="Oracle Sans Tab"/>
                <a:cs typeface="Oracle Sans Tab"/>
              </a:defRPr>
            </a:defPPr>
          </a:lstStyle>
          <a:p>
            <a:pPr>
              <a:defRPr sz="1425" b="0">
                <a:solidFill>
                  <a:srgbClr val="A9A29C"/>
                </a:solidFill>
                <a:latin typeface="Oracle Sans Tab"/>
                <a:ea typeface="Oracle Sans Tab"/>
                <a:cs typeface="Oracle Sans Tab"/>
              </a:defRPr>
            </a:pPr>
            <a:r>
              <a:rPr sz="1425" b="0">
                <a:solidFill>
                  <a:srgbClr val="A9A29C"/>
                </a:solidFill>
                <a:latin typeface="Oracle Sans Tab"/>
                <a:ea typeface="Oracle Sans Tab"/>
                <a:cs typeface="Oracle Sans Tab"/>
              </a:rPr>
              <a:t>No OCI transfer path</a:t>
            </a:r>
          </a:p>
        </p:txBody>
      </p:sp>
      <p:sp>
        <p:nvSpPr>
          <p:cNvPr id="28" name="source-data-label">
            <a:extLst>
              <a:ext uri="{FF2B5EF4-FFF2-40B4-BE49-F238E27FC236}">
                <ns2:creationId id="{94CDCFDF-1247-4F92-B5FE-E5DC4E4B1FDF}"/>
              </a:ext>
            </a:extLst>
          </p:cNvPr>
          <p:cNvSpPr>
            <a:spLocks noGrp="1"/>
          </p:cNvSpPr>
          <p:nvPr/>
        </p:nvSpPr>
        <p:spPr>
          <a:xfrm>
            <a:off x="3714750" y="3048000"/>
            <a:ext cx="3257550" cy="266700"/>
          </a:xfrm>
          <a:prstGeom prst="rect">
            <a:avLst/>
          </a:prstGeom>
          <a:noFill/>
          <a:ln w="0">
            <a:noFill/>
          </a:ln>
        </p:spPr>
        <p:txBody>
          <a:bodyPr lIns="0" tIns="0" rIns="0" bIns="0" anchor="t">
            <a:noAutofit/>
          </a:bodyPr>
          <a:lstStyle>
            <a:defPPr>
              <a:defRPr sz="1425" b="0">
                <a:solidFill>
                  <a:srgbClr val="A9A29C"/>
                </a:solidFill>
                <a:latin typeface="Oracle Sans Tab"/>
                <a:ea typeface="Oracle Sans Tab"/>
                <a:cs typeface="Oracle Sans Tab"/>
              </a:defRPr>
            </a:defPPr>
          </a:lstStyle>
          <a:p>
            <a:pPr>
              <a:defRPr sz="1425" b="0">
                <a:solidFill>
                  <a:srgbClr val="A9A29C"/>
                </a:solidFill>
                <a:latin typeface="Oracle Sans Tab"/>
                <a:ea typeface="Oracle Sans Tab"/>
                <a:cs typeface="Oracle Sans Tab"/>
              </a:defRPr>
            </a:pPr>
            <a:r>
              <a:rPr sz="1425" b="0">
                <a:solidFill>
                  <a:srgbClr val="A9A29C"/>
                </a:solidFill>
                <a:latin typeface="Oracle Sans Tab"/>
                <a:ea typeface="Oracle Sans Tab"/>
                <a:cs typeface="Oracle Sans Tab"/>
              </a:rPr>
              <a:t>IP absent from upstream list</a:t>
            </a:r>
          </a:p>
        </p:txBody>
      </p:sp>
      <p:sp>
        <p:nvSpPr>
          <p:cNvPr id="29" name="target-request-from">
            <a:extLst>
              <a:ext uri="{FF2B5EF4-FFF2-40B4-BE49-F238E27FC236}">
                <ns2:creationId id="{9F75D4B0-D948-4AC0-9B2F-CAA28E561490}"/>
              </a:ext>
            </a:extLst>
          </p:cNvPr>
          <p:cNvSpPr>
            <a:spLocks noGrp="1"/>
          </p:cNvSpPr>
          <p:nvPr/>
        </p:nvSpPr>
        <p:spPr>
          <a:xfrm>
            <a:off x="7229475" y="4152900"/>
            <a:ext cx="19050" cy="19050"/>
          </a:xfrm>
          <a:prstGeom prst="rect">
            <a:avLst/>
          </a:prstGeom>
          <a:noFill/>
          <a:ln w="0">
            <a:noFill/>
          </a:ln>
        </p:spPr>
      </p:sp>
      <p:sp>
        <p:nvSpPr>
          <p:cNvPr id="30" name="target-request-to">
            <a:extLst>
              <a:ext uri="{FF2B5EF4-FFF2-40B4-BE49-F238E27FC236}">
                <ns2:creationId id="{BD2C2868-B97A-4E3A-A66F-3E90DFFDB05D}"/>
              </a:ext>
            </a:extLst>
          </p:cNvPr>
          <p:cNvSpPr>
            <a:spLocks noGrp="1"/>
          </p:cNvSpPr>
          <p:nvPr/>
        </p:nvSpPr>
        <p:spPr>
          <a:xfrm>
            <a:off x="3324225" y="4152900"/>
            <a:ext cx="19050" cy="19050"/>
          </a:xfrm>
          <a:prstGeom prst="rect">
            <a:avLst/>
          </a:prstGeom>
          <a:noFill/>
          <a:ln w="0">
            <a:noFill/>
          </a:ln>
        </p:spPr>
      </p:sp>
      <p:sp>
        <p:nvSpPr>
          <p:cNvPr id="32" name="target-data-from">
            <a:extLst>
              <a:ext uri="{FF2B5EF4-FFF2-40B4-BE49-F238E27FC236}">
                <ns2:creationId id="{D643CB7F-965D-4516-9376-EC7E7BB7C890}"/>
              </a:ext>
            </a:extLst>
          </p:cNvPr>
          <p:cNvSpPr>
            <a:spLocks noGrp="1"/>
          </p:cNvSpPr>
          <p:nvPr/>
        </p:nvSpPr>
        <p:spPr>
          <a:xfrm>
            <a:off x="3324225" y="4610100"/>
            <a:ext cx="19050" cy="19050"/>
          </a:xfrm>
          <a:prstGeom prst="rect">
            <a:avLst/>
          </a:prstGeom>
          <a:noFill/>
          <a:ln w="0">
            <a:noFill/>
          </a:ln>
        </p:spPr>
      </p:sp>
      <p:sp>
        <p:nvSpPr>
          <p:cNvPr id="33" name="target-data-to">
            <a:extLst>
              <a:ext uri="{FF2B5EF4-FFF2-40B4-BE49-F238E27FC236}">
                <ns2:creationId id="{BF80EDD1-3A08-4A2E-8D44-6C46F1EA48EC}"/>
              </a:ext>
            </a:extLst>
          </p:cNvPr>
          <p:cNvSpPr>
            <a:spLocks noGrp="1"/>
          </p:cNvSpPr>
          <p:nvPr/>
        </p:nvSpPr>
        <p:spPr>
          <a:xfrm>
            <a:off x="7229475" y="4610100"/>
            <a:ext cx="19050" cy="19050"/>
          </a:xfrm>
          <a:prstGeom prst="rect">
            <a:avLst/>
          </a:prstGeom>
          <a:noFill/>
          <a:ln w="0">
            <a:noFill/>
          </a:ln>
        </p:spPr>
      </p:sp>
      <p:sp>
        <p:nvSpPr>
          <p:cNvPr id="35" name="target-request-label">
            <a:extLst>
              <a:ext uri="{FF2B5EF4-FFF2-40B4-BE49-F238E27FC236}">
                <ns2:creationId id="{75249530-C74A-4B68-974A-280131F137B9}"/>
              </a:ext>
            </a:extLst>
          </p:cNvPr>
          <p:cNvSpPr>
            <a:spLocks noGrp="1"/>
          </p:cNvSpPr>
          <p:nvPr/>
        </p:nvSpPr>
        <p:spPr>
          <a:xfrm>
            <a:off x="3714750" y="3895725"/>
            <a:ext cx="3257550" cy="257175"/>
          </a:xfrm>
          <a:prstGeom prst="rect">
            <a:avLst/>
          </a:prstGeom>
          <a:noFill/>
          <a:ln w="0">
            <a:noFill/>
          </a:ln>
        </p:spPr>
        <p:txBody>
          <a:bodyPr lIns="0" tIns="0" rIns="0" bIns="0" anchor="t">
            <a:noAutofit/>
          </a:bodyPr>
          <a:lstStyle>
            <a:defPPr>
              <a:defRPr sz="1425" b="0">
                <a:solidFill>
                  <a:srgbClr val="2C6176"/>
                </a:solidFill>
                <a:latin typeface="Oracle Sans Tab"/>
                <a:ea typeface="Oracle Sans Tab"/>
                <a:cs typeface="Oracle Sans Tab"/>
              </a:defRPr>
            </a:defPPr>
          </a:lstStyle>
          <a:p>
            <a:pPr>
              <a:defRPr sz="1425" b="0">
                <a:solidFill>
                  <a:srgbClr val="2C6176"/>
                </a:solidFill>
                <a:latin typeface="Oracle Sans Tab"/>
                <a:ea typeface="Oracle Sans Tab"/>
                <a:cs typeface="Oracle Sans Tab"/>
              </a:defRPr>
            </a:pPr>
            <a:r>
              <a:rPr sz="1425" b="0">
                <a:solidFill>
                  <a:srgbClr val="2C6176"/>
                </a:solidFill>
                <a:latin typeface="Oracle Sans Tab"/>
                <a:ea typeface="Oracle Sans Tab"/>
                <a:cs typeface="Oracle Sans Tab"/>
              </a:rPr>
              <a:t>OCI transfer request · TCP 53</a:t>
            </a:r>
          </a:p>
        </p:txBody>
      </p:sp>
      <p:sp>
        <p:nvSpPr>
          <p:cNvPr id="36" name="target-data-label">
            <a:extLst>
              <a:ext uri="{FF2B5EF4-FFF2-40B4-BE49-F238E27FC236}">
                <ns2:creationId id="{86ECE56A-A323-49B2-9660-DAB88180EE09}"/>
              </a:ext>
            </a:extLst>
          </p:cNvPr>
          <p:cNvSpPr>
            <a:spLocks noGrp="1"/>
          </p:cNvSpPr>
          <p:nvPr/>
        </p:nvSpPr>
        <p:spPr>
          <a:xfrm>
            <a:off x="3714750" y="4667250"/>
            <a:ext cx="3257550" cy="266700"/>
          </a:xfrm>
          <a:prstGeom prst="rect">
            <a:avLst/>
          </a:prstGeom>
          <a:noFill/>
          <a:ln w="0">
            <a:noFill/>
          </a:ln>
        </p:spPr>
        <p:txBody>
          <a:bodyPr lIns="0" tIns="0" rIns="0" bIns="0" anchor="t">
            <a:noAutofit/>
          </a:bodyPr>
          <a:lstStyle>
            <a:defPPr>
              <a:defRPr sz="1425" b="0">
                <a:solidFill>
                  <a:srgbClr val="467553"/>
                </a:solidFill>
                <a:latin typeface="Oracle Sans Tab"/>
                <a:ea typeface="Oracle Sans Tab"/>
                <a:cs typeface="Oracle Sans Tab"/>
              </a:defRPr>
            </a:defPPr>
          </a:lstStyle>
          <a:p>
            <a:pPr>
              <a:defRPr sz="1425" b="0">
                <a:solidFill>
                  <a:srgbClr val="467553"/>
                </a:solidFill>
                <a:latin typeface="Oracle Sans Tab"/>
                <a:ea typeface="Oracle Sans Tab"/>
                <a:cs typeface="Oracle Sans Tab"/>
              </a:defRPr>
            </a:pPr>
            <a:r>
              <a:rPr sz="1425" b="0">
                <a:solidFill>
                  <a:srgbClr val="467553"/>
                </a:solidFill>
                <a:latin typeface="Oracle Sans Tab"/>
                <a:ea typeface="Oracle Sans Tab"/>
                <a:cs typeface="Oracle Sans Tab"/>
              </a:rPr>
              <a:t>Zone data · signed AXFR / IXFR</a:t>
            </a:r>
          </a:p>
        </p:txBody>
      </p:sp>
      <p:sp>
        <p:nvSpPr>
          <p:cNvPr id="37" name="HLD-operator">
            <a:extLst>
              <a:ext uri="{FF2B5EF4-FFF2-40B4-BE49-F238E27FC236}">
                <ns2:creationId id="{6C0F85D2-9497-4D12-9DA5-99E1CF27468C}"/>
              </a:ext>
            </a:extLst>
          </p:cNvPr>
          <p:cNvSpPr>
            <a:spLocks noGrp="1"/>
          </p:cNvSpPr>
          <p:nvPr/>
        </p:nvSpPr>
        <p:spPr>
          <a:xfrm>
            <a:off x="762000" y="5276850"/>
            <a:ext cx="2571750" cy="533400"/>
          </a:xfrm>
          <a:prstGeom prst="rect">
            <a:avLst/>
          </a:prstGeom>
          <a:solidFill>
            <a:srgbClr val="FCFBFA"/>
          </a:solidFill>
          <a:ln w="13335">
            <a:solidFill>
              <a:srgbClr val="D9D4CF"/>
            </a:solidFill>
          </a:ln>
        </p:spPr>
        <p:txBody>
          <a:bodyPr lIns="95250" tIns="76200" rIns="95250" bIns="76200" anchor="ctr">
            <a:noAutofit/>
          </a:bodyPr>
          <a:lstStyle>
            <a:defPPr algn="ctr">
              <a:defRPr sz="1575" b="0">
                <a:solidFill>
                  <a:srgbClr val="312D2A"/>
                </a:solidFill>
                <a:latin typeface="Oracle Sans Tab"/>
                <a:ea typeface="Oracle Sans Tab"/>
                <a:cs typeface="Oracle Sans Tab"/>
              </a:defRPr>
            </a:defPPr>
          </a:lstStyle>
          <a:p>
            <a:pPr algn="ctr">
              <a:defRPr sz="1575" b="0">
                <a:solidFill>
                  <a:srgbClr val="312D2A"/>
                </a:solidFill>
                <a:latin typeface="Oracle Sans Tab"/>
                <a:ea typeface="Oracle Sans Tab"/>
                <a:cs typeface="Oracle Sans Tab"/>
              </a:defRPr>
            </a:pPr>
            <a:r>
              <a:rPr sz="1575" b="0">
                <a:solidFill>
                  <a:srgbClr val="312D2A"/>
                </a:solidFill>
                <a:latin typeface="Oracle Sans Tab"/>
                <a:ea typeface="Oracle Sans Tab"/>
                <a:cs typeface="Oracle Sans Tab"/>
              </a:rPr>
              <a:t>Operator · Python scripts</a:t>
            </a:r>
          </a:p>
        </p:txBody>
      </p:sp>
      <p:sp>
        <p:nvSpPr>
          <p:cNvPr id="38" name="HLD-api">
            <a:extLst>
              <a:ext uri="{FF2B5EF4-FFF2-40B4-BE49-F238E27FC236}">
                <ns2:creationId id="{D979071A-FEDF-4190-B12F-C4F674F8E41C}"/>
              </a:ext>
            </a:extLst>
          </p:cNvPr>
          <p:cNvSpPr>
            <a:spLocks noGrp="1"/>
          </p:cNvSpPr>
          <p:nvPr/>
        </p:nvSpPr>
        <p:spPr>
          <a:xfrm>
            <a:off x="7239000" y="5276850"/>
            <a:ext cx="2524125" cy="533400"/>
          </a:xfrm>
          <a:prstGeom prst="rect">
            <a:avLst/>
          </a:prstGeom>
          <a:solidFill>
            <a:srgbClr val="FCFBFA"/>
          </a:solidFill>
          <a:ln w="13335">
            <a:solidFill>
              <a:srgbClr val="D9D4CF"/>
            </a:solidFill>
          </a:ln>
        </p:spPr>
        <p:txBody>
          <a:bodyPr lIns="95250" tIns="76200" rIns="95250" bIns="76200" anchor="ctr">
            <a:noAutofit/>
          </a:bodyPr>
          <a:lstStyle>
            <a:defPPr algn="ctr">
              <a:defRPr sz="1575" b="0">
                <a:solidFill>
                  <a:srgbClr val="312D2A"/>
                </a:solidFill>
                <a:latin typeface="Oracle Sans Tab"/>
                <a:ea typeface="Oracle Sans Tab"/>
                <a:cs typeface="Oracle Sans Tab"/>
              </a:defRPr>
            </a:defPPr>
          </a:lstStyle>
          <a:p>
            <a:pPr algn="ctr">
              <a:defRPr sz="1575" b="0">
                <a:solidFill>
                  <a:srgbClr val="312D2A"/>
                </a:solidFill>
                <a:latin typeface="Oracle Sans Tab"/>
                <a:ea typeface="Oracle Sans Tab"/>
                <a:cs typeface="Oracle Sans Tab"/>
              </a:defRPr>
            </a:pPr>
            <a:r>
              <a:rPr sz="1575" b="0">
                <a:solidFill>
                  <a:srgbClr val="312D2A"/>
                </a:solidFill>
                <a:latin typeface="Oracle Sans Tab"/>
                <a:ea typeface="Oracle Sans Tab"/>
                <a:cs typeface="Oracle Sans Tab"/>
              </a:rPr>
              <a:t>OCI DNS API</a:t>
            </a:r>
          </a:p>
        </p:txBody>
      </p:sp>
      <p:sp>
        <p:nvSpPr>
          <p:cNvPr id="39" name="api-call-from">
            <a:extLst>
              <a:ext uri="{FF2B5EF4-FFF2-40B4-BE49-F238E27FC236}">
                <ns2:creationId id="{BA1EE013-518C-4216-AC63-1449B4553083}"/>
              </a:ext>
            </a:extLst>
          </p:cNvPr>
          <p:cNvSpPr>
            <a:spLocks noGrp="1"/>
          </p:cNvSpPr>
          <p:nvPr/>
        </p:nvSpPr>
        <p:spPr>
          <a:xfrm>
            <a:off x="3324225" y="5534025"/>
            <a:ext cx="19050" cy="19050"/>
          </a:xfrm>
          <a:prstGeom prst="rect">
            <a:avLst/>
          </a:prstGeom>
          <a:noFill/>
          <a:ln w="0">
            <a:noFill/>
          </a:ln>
        </p:spPr>
      </p:sp>
      <p:sp>
        <p:nvSpPr>
          <p:cNvPr id="40" name="api-call-to">
            <a:extLst>
              <a:ext uri="{FF2B5EF4-FFF2-40B4-BE49-F238E27FC236}">
                <ns2:creationId id="{2B080FC0-2980-4025-880E-F1ED9107EAFE}"/>
              </a:ext>
            </a:extLst>
          </p:cNvPr>
          <p:cNvSpPr>
            <a:spLocks noGrp="1"/>
          </p:cNvSpPr>
          <p:nvPr/>
        </p:nvSpPr>
        <p:spPr>
          <a:xfrm>
            <a:off x="7229475" y="5534025"/>
            <a:ext cx="19050" cy="19050"/>
          </a:xfrm>
          <a:prstGeom prst="rect">
            <a:avLst/>
          </a:prstGeom>
          <a:noFill/>
          <a:ln w="0">
            <a:noFill/>
          </a:ln>
        </p:spPr>
      </p:sp>
      <p:sp>
        <p:nvSpPr>
          <p:cNvPr id="42" name="hld-api-label">
            <a:extLst>
              <a:ext uri="{FF2B5EF4-FFF2-40B4-BE49-F238E27FC236}">
                <ns2:creationId id="{20D65CB2-301F-4C4A-AA17-AEAF350A6E8B}"/>
              </a:ext>
            </a:extLst>
          </p:cNvPr>
          <p:cNvSpPr>
            <a:spLocks noGrp="1"/>
          </p:cNvSpPr>
          <p:nvPr/>
        </p:nvSpPr>
        <p:spPr>
          <a:xfrm>
            <a:off x="3714750" y="5229225"/>
            <a:ext cx="3238500" cy="266700"/>
          </a:xfrm>
          <a:prstGeom prst="rect">
            <a:avLst/>
          </a:prstGeom>
          <a:noFill/>
          <a:ln w="0">
            <a:noFill/>
          </a:ln>
        </p:spPr>
        <p:txBody>
          <a:bodyPr lIns="0" tIns="0" rIns="0" bIns="0" anchor="t">
            <a:noAutofit/>
          </a:bodyPr>
          <a:lstStyle>
            <a:defPPr>
              <a:defRPr sz="1425" b="0">
                <a:solidFill>
                  <a:srgbClr val="6B625C"/>
                </a:solidFill>
                <a:latin typeface="Oracle Sans Tab"/>
                <a:ea typeface="Oracle Sans Tab"/>
                <a:cs typeface="Oracle Sans Tab"/>
              </a:defRPr>
            </a:defPPr>
          </a:lstStyle>
          <a:p>
            <a:pPr>
              <a:defRPr sz="1425" b="0">
                <a:solidFill>
                  <a:srgbClr val="6B625C"/>
                </a:solidFill>
                <a:latin typeface="Oracle Sans Tab"/>
                <a:ea typeface="Oracle Sans Tab"/>
                <a:cs typeface="Oracle Sans Tab"/>
              </a:defRPr>
            </a:pPr>
            <a:r>
              <a:rPr sz="1425" b="0">
                <a:solidFill>
                  <a:srgbClr val="6B625C"/>
                </a:solidFill>
                <a:latin typeface="Oracle Sans Tab"/>
                <a:ea typeface="Oracle Sans Tab"/>
                <a:cs typeface="Oracle Sans Tab"/>
              </a:rPr>
              <a:t>UpdateZone · HTTPS 443</a:t>
            </a:r>
          </a:p>
        </p:txBody>
      </p:sp>
      <p:sp>
        <p:nvSpPr>
          <p:cNvPr id="43" name="api-zone-state-from">
            <a:extLst>
              <a:ext uri="{FF2B5EF4-FFF2-40B4-BE49-F238E27FC236}">
                <ns2:creationId id="{8F6191C3-F4EB-492B-8C8A-CE24A46E3EAA}"/>
              </a:ext>
            </a:extLst>
          </p:cNvPr>
          <p:cNvSpPr>
            <a:spLocks noGrp="1"/>
          </p:cNvSpPr>
          <p:nvPr/>
        </p:nvSpPr>
        <p:spPr>
          <a:xfrm>
            <a:off x="8486775" y="5267325"/>
            <a:ext cx="19050" cy="19050"/>
          </a:xfrm>
          <a:prstGeom prst="rect">
            <a:avLst/>
          </a:prstGeom>
          <a:noFill/>
          <a:ln w="0">
            <a:noFill/>
          </a:ln>
        </p:spPr>
      </p:sp>
      <p:sp>
        <p:nvSpPr>
          <p:cNvPr id="44" name="api-zone-state-to">
            <a:extLst>
              <a:ext uri="{FF2B5EF4-FFF2-40B4-BE49-F238E27FC236}">
                <ns2:creationId id="{0ABC9077-FD0F-4F99-AEA6-E9F7B7CC1029}"/>
              </a:ext>
            </a:extLst>
          </p:cNvPr>
          <p:cNvSpPr>
            <a:spLocks noGrp="1"/>
          </p:cNvSpPr>
          <p:nvPr/>
        </p:nvSpPr>
        <p:spPr>
          <a:xfrm>
            <a:off x="8486775" y="4810125"/>
            <a:ext cx="19050" cy="19050"/>
          </a:xfrm>
          <a:prstGeom prst="rect">
            <a:avLst/>
          </a:prstGeom>
          <a:noFill/>
          <a:ln w="0">
            <a:noFill/>
          </a:ln>
        </p:spPr>
      </p:sp>
      <p:sp>
        <p:nvSpPr>
          <p:cNvPr id="46" name="hld-gate">
            <a:extLst>
              <a:ext uri="{FF2B5EF4-FFF2-40B4-BE49-F238E27FC236}">
                <ns2:creationId id="{B99F9EC4-A4CF-4DA0-B5A6-D7C2353D0647}"/>
              </a:ext>
            </a:extLst>
          </p:cNvPr>
          <p:cNvSpPr>
            <a:spLocks noGrp="1"/>
          </p:cNvSpPr>
          <p:nvPr/>
        </p:nvSpPr>
        <p:spPr>
          <a:xfrm>
            <a:off x="762000" y="5981700"/>
            <a:ext cx="8572500" cy="304800"/>
          </a:xfrm>
          <a:prstGeom prst="rect">
            <a:avLst/>
          </a:prstGeom>
          <a:noFill/>
          <a:ln w="0">
            <a:noFill/>
          </a:ln>
        </p:spPr>
        <p:txBody>
          <a:bodyPr lIns="0" tIns="0" rIns="0" bIns="0" anchor="t">
            <a:noAutofit/>
          </a:bodyPr>
          <a:lstStyle>
            <a:defPPr>
              <a:defRPr sz="1350" b="1">
                <a:solidFill>
                  <a:srgbClr val="33553C"/>
                </a:solidFill>
                <a:latin typeface="Oracle Sans Tab"/>
                <a:ea typeface="Oracle Sans Tab"/>
                <a:cs typeface="Oracle Sans Tab"/>
              </a:defRPr>
            </a:defPPr>
          </a:lstStyle>
          <a:p>
            <a:pPr>
              <a:defRPr sz="1350" b="1">
                <a:solidFill>
                  <a:srgbClr val="33553C"/>
                </a:solidFill>
                <a:latin typeface="Oracle Sans Tab"/>
                <a:ea typeface="Oracle Sans Tab"/>
                <a:cs typeface="Oracle Sans Tab"/>
              </a:defRPr>
            </a:pPr>
            <a:r>
              <a:rPr sz="1350" b="1">
                <a:solidFill>
                  <a:srgbClr val="33553C"/>
                </a:solidFill>
                <a:latin typeface="Oracle Sans Tab"/>
                <a:ea typeface="Oracle Sans Tab"/>
                <a:cs typeface="Oracle Sans Tab"/>
              </a:rPr>
              <a:t>Gate: publish another fresh update; verify target-only settings and completed target transfers.</a:t>
            </a:r>
          </a:p>
        </p:txBody>
      </p:sp>
      <p:sp>
        <p:nvSpPr>
          <p:cNvPr id="47" name="HLD-nav-9">
            <a:extLst>
              <a:ext uri="{FF2B5EF4-FFF2-40B4-BE49-F238E27FC236}">
                <ns2:creationId id="{52EB77CC-0571-47D0-82CA-C39828D5DC5B}"/>
              </a:ext>
            </a:extLst>
            <a:hlinkClick r:id="rIdHld20" action="ppaction://hlinksldjump" tooltip="Go to slide 9" history="1"/>
          </p:cNvPr>
          <p:cNvSpPr>
            <a:spLocks noGrp="1"/>
          </p:cNvSpPr>
          <p:nvPr/>
        </p:nvSpPr>
        <p:spPr>
          <a:xfrm>
            <a:off x="9667875" y="5924550"/>
            <a:ext cx="1762125" cy="361950"/>
          </a:xfrm>
          <a:prstGeom prst="rect">
            <a:avLst/>
          </a:prstGeom>
          <a:solidFill>
            <a:srgbClr val="33553C"/>
          </a:solidFill>
          <a:ln w="13335">
            <a:solidFill>
              <a:srgbClr val="33553C"/>
            </a:solidFill>
          </a:ln>
        </p:spPr>
        <p:txBody>
          <a:bodyPr lIns="95250" tIns="76200" rIns="95250" bIns="76200" anchor="ctr">
            <a:noAutofit/>
          </a:bodyPr>
          <a:lstStyle>
            <a:defPPr algn="ctr">
              <a:defRPr sz="1575" b="0">
                <a:solidFill>
                  <a:srgbClr val="FFFFFF"/>
                </a:solidFill>
                <a:latin typeface="Oracle Sans Tab"/>
                <a:ea typeface="Oracle Sans Tab"/>
                <a:cs typeface="Oracle Sans Tab"/>
              </a:defRPr>
            </a:defPPr>
          </a:lstStyle>
          <a:p>
            <a:pPr algn="ctr">
              <a:defRPr sz="1575" b="0">
                <a:solidFill>
                  <a:srgbClr val="FFFFFF"/>
                </a:solidFill>
                <a:latin typeface="Oracle Sans Tab"/>
                <a:ea typeface="Oracle Sans Tab"/>
                <a:cs typeface="Oracle Sans Tab"/>
              </a:defRPr>
            </a:pPr>
            <a:r>
              <a:rPr sz="1575" b="0">
                <a:solidFill>
                  <a:srgbClr val="FFFFFF"/>
                </a:solidFill>
                <a:latin typeface="Oracle Sans Tab"/>
                <a:ea typeface="Oracle Sans Tab"/>
                <a:cs typeface="Oracle Sans Tab"/>
              </a:rPr>
              <a:t>Continue ›</a:t>
            </a:r>
          </a:p>
        </p:txBody>
      </p:sp>
    </p:spTree>
    <p:extLst>
      <p:ext uri="{BB962C8B-B14F-4D97-AF65-F5344CB8AC3E}">
        <ns4:creationId val="2532116061"/>
      </p:ext>
    </p:extLst>
  </p:cSld>
  <p:transition spd="fast" advClick="1">
    <p:fade/>
  </p:transition>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Readiness before the first update</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Customer prerequisites</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388657AE-30A1-5A7A-6A7F-315D84436430}" type="slidenum">
              <a:rPr sz="900">
                <a:solidFill>
                  <a:srgbClr val="8B8580"/>
                </a:solidFill>
                <a:latin typeface="Oracle Sans Tab"/>
                <a:ea typeface="Oracle Sans Tab"/>
                <a:cs typeface="Oracle Sans Tab"/>
              </a:rPr>
              <a:t>9</a:t>
            </a:fld>
            <a:endParaRPr/>
          </a:p>
        </p:txBody>
      </p:sp>
      <p:sp>
        <p:nvSpPr>
          <p:cNvPr id="7" name="label-0">
            <a:extLst xmlns:a="http://schemas.openxmlformats.org/drawingml/2006/main">
              <a:ext uri="{FF2B5EF4-FFF2-40B4-BE49-F238E27FC236}">
                <a16:creationId xmlns:a16="http://schemas.microsoft.com/office/drawing/2014/main" id="{7394E690-03FA-4ACE-B009-7C8763EE0D05}"/>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OCI scope</a:t>
            </a:r>
          </a:p>
        </p:txBody>
      </p:sp>
      <p:sp>
        <p:nvSpPr>
          <p:cNvPr id="8" name="body-0">
            <a:extLst xmlns:a="http://schemas.openxmlformats.org/drawingml/2006/main">
              <a:ext uri="{FF2B5EF4-FFF2-40B4-BE49-F238E27FC236}">
                <a16:creationId xmlns:a16="http://schemas.microsoft.com/office/drawing/2014/main" id="{2ECCF08E-336D-414A-AD77-E16E8F6CD7D7}"/>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ACTIVE public secondary zones in the intended compartment and region.</a:t>
            </a:r>
          </a:p>
        </p:txBody>
      </p:sp>
      <p:sp>
        <p:nvSpPr>
          <p:cNvPr id="9" name="label-1">
            <a:extLst xmlns:a="http://schemas.openxmlformats.org/drawingml/2006/main">
              <a:ext uri="{FF2B5EF4-FFF2-40B4-BE49-F238E27FC236}">
                <a16:creationId xmlns:a16="http://schemas.microsoft.com/office/drawing/2014/main" id="{0F8D4CAD-1C9F-4BFF-81E1-8487E4955B28}"/>
              </a:ext>
            </a:extLst>
          </p:cNvPr>
          <p:cNvSpPr>
            <a:spLocks xmlns:a="http://schemas.openxmlformats.org/drawingml/2006/main" noGrp="1"/>
          </p:cNvSpPr>
          <p:nvPr/>
        </p:nvSpPr>
        <p:spPr>
          <a:xfrm xmlns:a="http://schemas.openxmlformats.org/drawingml/2006/main">
            <a:off x="762000" y="2705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Target readiness</a:t>
            </a:r>
          </a:p>
        </p:txBody>
      </p:sp>
      <p:sp>
        <p:nvSpPr>
          <p:cNvPr id="10" name="body-1">
            <a:extLst xmlns:a="http://schemas.openxmlformats.org/drawingml/2006/main">
              <a:ext uri="{FF2B5EF4-FFF2-40B4-BE49-F238E27FC236}">
                <a16:creationId xmlns:a16="http://schemas.microsoft.com/office/drawing/2014/main" id="{EB908D9D-23E3-4DFF-A2E3-4233FBCF8C0C}"/>
              </a:ext>
            </a:extLst>
          </p:cNvPr>
          <p:cNvSpPr>
            <a:spLocks xmlns:a="http://schemas.openxmlformats.org/drawingml/2006/main" noGrp="1"/>
          </p:cNvSpPr>
          <p:nvPr/>
        </p:nvSpPr>
        <p:spPr>
          <a:xfrm xmlns:a="http://schemas.openxmlformats.org/drawingml/2006/main">
            <a:off x="3448050" y="2705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Matching records, SOA serials and per-zone TSIG material.</a:t>
            </a:r>
          </a:p>
        </p:txBody>
      </p:sp>
      <p:sp>
        <p:nvSpPr>
          <p:cNvPr id="11" name="label-2">
            <a:extLst xmlns:a="http://schemas.openxmlformats.org/drawingml/2006/main">
              <a:ext uri="{FF2B5EF4-FFF2-40B4-BE49-F238E27FC236}">
                <a16:creationId xmlns:a16="http://schemas.microsoft.com/office/drawing/2014/main" id="{53FA3F16-7460-454D-BE7A-05A488E13C86}"/>
              </a:ext>
            </a:extLst>
          </p:cNvPr>
          <p:cNvSpPr>
            <a:spLocks xmlns:a="http://schemas.openxmlformats.org/drawingml/2006/main" noGrp="1"/>
          </p:cNvSpPr>
          <p:nvPr/>
        </p:nvSpPr>
        <p:spPr>
          <a:xfrm xmlns:a="http://schemas.openxmlformats.org/drawingml/2006/main">
            <a:off x="762000" y="3657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Operator access</a:t>
            </a:r>
          </a:p>
        </p:txBody>
      </p:sp>
      <p:sp>
        <p:nvSpPr>
          <p:cNvPr id="12" name="body-2">
            <a:extLst xmlns:a="http://schemas.openxmlformats.org/drawingml/2006/main">
              <a:ext uri="{FF2B5EF4-FFF2-40B4-BE49-F238E27FC236}">
                <a16:creationId xmlns:a16="http://schemas.microsoft.com/office/drawing/2014/main" id="{B99ED050-4D7E-412B-BAEC-214D606B8CF6}"/>
              </a:ext>
            </a:extLst>
          </p:cNvPr>
          <p:cNvSpPr>
            <a:spLocks xmlns:a="http://schemas.openxmlformats.org/drawingml/2006/main" noGrp="1"/>
          </p:cNvSpPr>
          <p:nvPr/>
        </p:nvSpPr>
        <p:spPr>
          <a:xfrm xmlns:a="http://schemas.openxmlformats.org/drawingml/2006/main">
            <a:off x="3448050" y="3657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Python 3.11, an API-key profile and DNS zone/key permissions.</a:t>
            </a:r>
          </a:p>
        </p:txBody>
      </p:sp>
      <p:sp>
        <p:nvSpPr>
          <p:cNvPr id="13" name="label-3">
            <a:extLst xmlns:a="http://schemas.openxmlformats.org/drawingml/2006/main">
              <a:ext uri="{FF2B5EF4-FFF2-40B4-BE49-F238E27FC236}">
                <a16:creationId xmlns:a16="http://schemas.microsoft.com/office/drawing/2014/main" id="{3D010159-ABD2-44C1-89D5-B524037DEDEE}"/>
              </a:ext>
            </a:extLst>
          </p:cNvPr>
          <p:cNvSpPr>
            <a:spLocks xmlns:a="http://schemas.openxmlformats.org/drawingml/2006/main" noGrp="1"/>
          </p:cNvSpPr>
          <p:nvPr/>
        </p:nvSpPr>
        <p:spPr>
          <a:xfrm xmlns:a="http://schemas.openxmlformats.org/drawingml/2006/main">
            <a:off x="762000" y="4610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Change control</a:t>
            </a:r>
          </a:p>
        </p:txBody>
      </p:sp>
      <p:sp>
        <p:nvSpPr>
          <p:cNvPr id="14" name="body-3">
            <a:extLst xmlns:a="http://schemas.openxmlformats.org/drawingml/2006/main">
              <a:ext uri="{FF2B5EF4-FFF2-40B4-BE49-F238E27FC236}">
                <a16:creationId xmlns:a16="http://schemas.microsoft.com/office/drawing/2014/main" id="{7ABA03E7-6A81-4AB7-9000-81D4061708F9}"/>
              </a:ext>
            </a:extLst>
          </p:cNvPr>
          <p:cNvSpPr>
            <a:spLocks xmlns:a="http://schemas.openxmlformats.org/drawingml/2006/main" noGrp="1"/>
          </p:cNvSpPr>
          <p:nvPr/>
        </p:nvSpPr>
        <p:spPr>
          <a:xfrm xmlns:a="http://schemas.openxmlformats.org/drawingml/2006/main">
            <a:off x="3448050" y="4610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Reviewed selection, backups and a pause on concurrent updates.</a:t>
            </a:r>
          </a:p>
        </p:txBody>
      </p:sp>
    </p:spTree>
    <p:extLst>
      <p:ext uri="{BB962C8B-B14F-4D97-AF65-F5344CB8AC3E}">
        <p14:creationId xmlns:p14="http://schemas.microsoft.com/office/powerpoint/2010/main" val="253211606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Both OCI and the operator need the required DNS paths</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Network access</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DB7BEEEC-A170-5376-2B6E-CB54687B0CB1}" type="slidenum">
              <a:rPr sz="900">
                <a:solidFill>
                  <a:srgbClr val="8B8580"/>
                </a:solidFill>
                <a:latin typeface="Oracle Sans Tab"/>
                <a:ea typeface="Oracle Sans Tab"/>
                <a:cs typeface="Oracle Sans Tab"/>
              </a:rPr>
              <a:t>10</a:t>
            </a:fld>
            <a:endParaRPr/>
          </a:p>
        </p:txBody>
      </p:sp>
      <p:graphicFrame>
        <p:nvGraphicFramePr>
          <p:cNvPr id="7" name="">
            <a:extLst xmlns:a="http://schemas.openxmlformats.org/drawingml/2006/main">
              <a:ext uri="{FF2B5EF4-FFF2-40B4-BE49-F238E27FC236}">
                <a16:creationId xmlns:a16="http://schemas.microsoft.com/office/drawing/2014/main" id="{D95800BD-ABFE-47DB-A1D6-93A4C7CE05D0}"/>
              </a:ext>
            </a:extLst>
          </p:cNvPr>
          <p:cNvGraphicFramePr/>
          <p:nvPr/>
        </p:nvGraphicFramePr>
        <p:xfrm>
          <a:off xmlns:a="http://schemas.openxmlformats.org/drawingml/2006/main" x="762000" y="1714500"/>
          <a:ext xmlns:a="http://schemas.openxmlformats.org/drawingml/2006/main" cx="10668000" cy="4000500"/>
        </p:xfrm>
        <a:graphic xmlns:a="http://schemas.openxmlformats.org/drawingml/2006/main">
          <a:graphicData uri="http://schemas.openxmlformats.org/drawingml/2006/table">
            <a:tbl>
              <a:tblPr/>
              <a:tblGrid>
                <a:gridCol w="2857500"/>
                <a:gridCol w="3333750"/>
                <a:gridCol w="4476750"/>
              </a:tblGrid>
              <a:tr h="666750">
                <a:tc>
                  <a:txBody>
                    <a:bodyPr>
                      <a:noAutofit/>
                    </a:bodyPr>
                    <a:lstStyle/>
                    <a:p>
                      <a:r>
                        <a:rPr sz="1800" b="1">
                          <a:solidFill>
                            <a:srgbClr val="312D2A"/>
                          </a:solidFill>
                          <a:latin typeface="Oracle Sans Tab"/>
                          <a:ea typeface="Oracle Sans Tab"/>
                          <a:cs typeface="Oracle Sans Tab"/>
                        </a:rPr>
                        <a:t>From</a:t>
                      </a:r>
                    </a:p>
                  </a:txBody>
                  <a:tcPr marL="91440" marR="91440" marT="45720" marB="45720">
                    <a:lnL w="6668">
                      <a:solidFill>
                        <a:srgbClr val="D9D4CF"/>
                      </a:solidFill>
                      <a:prstDash val="solid"/>
                    </a:lnL>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c>
                  <a:txBody>
                    <a:bodyPr>
                      <a:noAutofit/>
                    </a:bodyPr>
                    <a:lstStyle/>
                    <a:p>
                      <a:r>
                        <a:rPr sz="1800" b="1">
                          <a:solidFill>
                            <a:srgbClr val="312D2A"/>
                          </a:solidFill>
                          <a:latin typeface="Oracle Sans Tab"/>
                          <a:ea typeface="Oracle Sans Tab"/>
                          <a:cs typeface="Oracle Sans Tab"/>
                        </a:rPr>
                        <a:t>To</a:t>
                      </a:r>
                    </a:p>
                  </a:txBody>
                  <a:tcPr marL="91440" marR="91440" marT="45720" marB="45720">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c>
                  <a:txBody>
                    <a:bodyPr>
                      <a:noAutofit/>
                    </a:bodyPr>
                    <a:lstStyle/>
                    <a:p>
                      <a:r>
                        <a:rPr sz="1800" b="1">
                          <a:solidFill>
                            <a:srgbClr val="312D2A"/>
                          </a:solidFill>
                          <a:latin typeface="Oracle Sans Tab"/>
                          <a:ea typeface="Oracle Sans Tab"/>
                          <a:cs typeface="Oracle Sans Tab"/>
                        </a:rPr>
                        <a:t>Purpose</a:t>
                      </a:r>
                    </a:p>
                  </a:txBody>
                  <a:tcPr marL="91440" marR="91440" marT="45720" marB="45720">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r>
              <a:tr h="666750">
                <a:tc>
                  <a:txBody>
                    <a:bodyPr>
                      <a:noAutofit/>
                    </a:bodyPr>
                    <a:lstStyle/>
                    <a:p>
                      <a:r>
                        <a:rPr sz="1800" b="0">
                          <a:solidFill>
                            <a:srgbClr val="312D2A"/>
                          </a:solidFill>
                          <a:latin typeface="Oracle Sans Tab"/>
                          <a:ea typeface="Oracle Sans Tab"/>
                          <a:cs typeface="Oracle Sans Tab"/>
                        </a:rPr>
                        <a:t>Operator</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OCI DNS API</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HTTPS 443</a:t>
                      </a:r>
                    </a:p>
                  </a:txBody>
                  <a:tcPr marL="91440" marR="91440" marT="45720" marB="45720">
                    <a:lnR w="6668">
                      <a:solidFill>
                        <a:srgbClr val="D9D4CF"/>
                      </a:solidFill>
                      <a:prstDash val="solid"/>
                    </a:lnR>
                    <a:lnB w="6668">
                      <a:solidFill>
                        <a:srgbClr val="D9D4CF"/>
                      </a:solidFill>
                      <a:prstDash val="solid"/>
                    </a:lnB>
                    <a:solidFill>
                      <a:srgbClr val="FCFBFA"/>
                    </a:solidFill>
                  </a:tcPr>
                </a:tc>
              </a:tr>
              <a:tr h="666750">
                <a:tc>
                  <a:txBody>
                    <a:bodyPr>
                      <a:noAutofit/>
                    </a:bodyPr>
                    <a:lstStyle/>
                    <a:p>
                      <a:r>
                        <a:rPr sz="1800" b="0">
                          <a:solidFill>
                            <a:srgbClr val="312D2A"/>
                          </a:solidFill>
                          <a:latin typeface="Oracle Sans Tab"/>
                          <a:ea typeface="Oracle Sans Tab"/>
                          <a:cs typeface="Oracle Sans Tab"/>
                        </a:rPr>
                        <a:t>Operator</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Target upstream</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TCP 53 for signed AXFR</a:t>
                      </a:r>
                    </a:p>
                  </a:txBody>
                  <a:tcPr marL="91440" marR="91440" marT="45720" marB="45720">
                    <a:lnR w="6668">
                      <a:solidFill>
                        <a:srgbClr val="D9D4CF"/>
                      </a:solidFill>
                      <a:prstDash val="solid"/>
                    </a:lnR>
                    <a:lnB w="6668">
                      <a:solidFill>
                        <a:srgbClr val="D9D4CF"/>
                      </a:solidFill>
                      <a:prstDash val="solid"/>
                    </a:lnB>
                    <a:solidFill>
                      <a:srgbClr val="FCFBFA"/>
                    </a:solidFill>
                  </a:tcPr>
                </a:tc>
              </a:tr>
              <a:tr h="666750">
                <a:tc>
                  <a:txBody>
                    <a:bodyPr>
                      <a:noAutofit/>
                    </a:bodyPr>
                    <a:lstStyle/>
                    <a:p>
                      <a:r>
                        <a:rPr sz="1800" b="0">
                          <a:solidFill>
                            <a:srgbClr val="312D2A"/>
                          </a:solidFill>
                          <a:latin typeface="Oracle Sans Tab"/>
                          <a:ea typeface="Oracle Sans Tab"/>
                          <a:cs typeface="Oracle Sans Tab"/>
                        </a:rPr>
                        <a:t>Operator</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OCI nameservers</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UDP/TCP 53 for SOA and TXT</a:t>
                      </a:r>
                    </a:p>
                  </a:txBody>
                  <a:tcPr marL="91440" marR="91440" marT="45720" marB="45720">
                    <a:lnR w="6668">
                      <a:solidFill>
                        <a:srgbClr val="D9D4CF"/>
                      </a:solidFill>
                      <a:prstDash val="solid"/>
                    </a:lnR>
                    <a:lnB w="6668">
                      <a:solidFill>
                        <a:srgbClr val="D9D4CF"/>
                      </a:solidFill>
                      <a:prstDash val="solid"/>
                    </a:lnB>
                    <a:solidFill>
                      <a:srgbClr val="FCFBFA"/>
                    </a:solidFill>
                  </a:tcPr>
                </a:tc>
              </a:tr>
              <a:tr h="666750">
                <a:tc>
                  <a:txBody>
                    <a:bodyPr>
                      <a:noAutofit/>
                    </a:bodyPr>
                    <a:lstStyle/>
                    <a:p>
                      <a:r>
                        <a:rPr sz="1800" b="0">
                          <a:solidFill>
                            <a:srgbClr val="312D2A"/>
                          </a:solidFill>
                          <a:latin typeface="Oracle Sans Tab"/>
                          <a:ea typeface="Oracle Sans Tab"/>
                          <a:cs typeface="Oracle Sans Tab"/>
                        </a:rPr>
                        <a:t>OCI transfer servers</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Upstream servers</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DNS refresh and zone transfers</a:t>
                      </a:r>
                    </a:p>
                  </a:txBody>
                  <a:tcPr marL="91440" marR="91440" marT="45720" marB="45720">
                    <a:lnR w="6668">
                      <a:solidFill>
                        <a:srgbClr val="D9D4CF"/>
                      </a:solidFill>
                      <a:prstDash val="solid"/>
                    </a:lnR>
                    <a:lnB w="6668">
                      <a:solidFill>
                        <a:srgbClr val="D9D4CF"/>
                      </a:solidFill>
                      <a:prstDash val="solid"/>
                    </a:lnB>
                    <a:solidFill>
                      <a:srgbClr val="FCFBFA"/>
                    </a:solidFill>
                  </a:tcPr>
                </a:tc>
              </a:tr>
              <a:tr h="666750">
                <a:tc>
                  <a:txBody>
                    <a:bodyPr>
                      <a:noAutofit/>
                    </a:bodyPr>
                    <a:lstStyle/>
                    <a:p>
                      <a:r>
                        <a:rPr sz="1800" b="0">
                          <a:solidFill>
                            <a:srgbClr val="312D2A"/>
                          </a:solidFill>
                          <a:latin typeface="Oracle Sans Tab"/>
                          <a:ea typeface="Oracle Sans Tab"/>
                          <a:cs typeface="Oracle Sans Tab"/>
                        </a:rPr>
                        <a:t>Upstream servers</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OCI transfer servers</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Signed NOTIFY on UDP 53</a:t>
                      </a:r>
                    </a:p>
                  </a:txBody>
                  <a:tcPr marL="91440" marR="91440" marT="45720" marB="45720">
                    <a:lnR w="6668">
                      <a:solidFill>
                        <a:srgbClr val="D9D4CF"/>
                      </a:solidFill>
                      <a:prstDash val="solid"/>
                    </a:lnR>
                    <a:lnB w="6668">
                      <a:solidFill>
                        <a:srgbClr val="D9D4CF"/>
                      </a:solidFill>
                      <a:prstDash val="solid"/>
                    </a:lnB>
                    <a:solidFill>
                      <a:srgbClr val="FCFBFA"/>
                    </a:solidFill>
                  </a:tcPr>
                </a:tc>
              </a:tr>
            </a:tbl>
          </a:graphicData>
        </a:graphic>
      </p:graphicFrame>
    </p:spTree>
    <p:extLst>
      <p:ext uri="{BB962C8B-B14F-4D97-AF65-F5344CB8AC3E}">
        <p14:creationId xmlns:p14="http://schemas.microsoft.com/office/powerpoint/2010/main" val="25321160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Separate credentials serve separate purposes</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Authentication and TSIG</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30394428-F1DC-E5F6-DB0C-7DE31F3D8A23}" type="slidenum">
              <a:rPr sz="900">
                <a:solidFill>
                  <a:srgbClr val="8B8580"/>
                </a:solidFill>
                <a:latin typeface="Oracle Sans Tab"/>
                <a:ea typeface="Oracle Sans Tab"/>
                <a:cs typeface="Oracle Sans Tab"/>
              </a:rPr>
              <a:t>11</a:t>
            </a:fld>
            <a:endParaRPr/>
          </a:p>
        </p:txBody>
      </p:sp>
      <p:graphicFrame>
        <p:nvGraphicFramePr>
          <p:cNvPr id="7" name="">
            <a:extLst xmlns:a="http://schemas.openxmlformats.org/drawingml/2006/main">
              <a:ext uri="{FF2B5EF4-FFF2-40B4-BE49-F238E27FC236}">
                <a16:creationId xmlns:a16="http://schemas.microsoft.com/office/drawing/2014/main" id="{B965383B-4CA6-4687-ABCB-F6B759C75868}"/>
              </a:ext>
            </a:extLst>
          </p:cNvPr>
          <p:cNvGraphicFramePr/>
          <p:nvPr/>
        </p:nvGraphicFramePr>
        <p:xfrm>
          <a:off xmlns:a="http://schemas.openxmlformats.org/drawingml/2006/main" x="762000" y="1714500"/>
          <a:ext xmlns:a="http://schemas.openxmlformats.org/drawingml/2006/main" cx="10668000" cy="3124200"/>
        </p:xfrm>
        <a:graphic xmlns:a="http://schemas.openxmlformats.org/drawingml/2006/main">
          <a:graphicData uri="http://schemas.openxmlformats.org/drawingml/2006/table">
            <a:tbl>
              <a:tblPr/>
              <a:tblGrid>
                <a:gridCol w="2571750"/>
                <a:gridCol w="4095750"/>
                <a:gridCol w="4000500"/>
              </a:tblGrid>
              <a:tr h="781050">
                <a:tc>
                  <a:txBody>
                    <a:bodyPr>
                      <a:noAutofit/>
                    </a:bodyPr>
                    <a:lstStyle/>
                    <a:p>
                      <a:r>
                        <a:rPr sz="2000" b="1">
                          <a:solidFill>
                            <a:srgbClr val="312D2A"/>
                          </a:solidFill>
                          <a:latin typeface="Oracle Sans Tab"/>
                          <a:ea typeface="Oracle Sans Tab"/>
                          <a:cs typeface="Oracle Sans Tab"/>
                        </a:rPr>
                        <a:t>Credential</a:t>
                      </a:r>
                    </a:p>
                  </a:txBody>
                  <a:tcPr marL="91440" marR="91440" marT="45720" marB="45720">
                    <a:lnL w="6668">
                      <a:solidFill>
                        <a:srgbClr val="D9D4CF"/>
                      </a:solidFill>
                      <a:prstDash val="solid"/>
                    </a:lnL>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c>
                  <a:txBody>
                    <a:bodyPr>
                      <a:noAutofit/>
                    </a:bodyPr>
                    <a:lstStyle/>
                    <a:p>
                      <a:r>
                        <a:rPr sz="2000" b="1">
                          <a:solidFill>
                            <a:srgbClr val="312D2A"/>
                          </a:solidFill>
                          <a:latin typeface="Oracle Sans Tab"/>
                          <a:ea typeface="Oracle Sans Tab"/>
                          <a:cs typeface="Oracle Sans Tab"/>
                        </a:rPr>
                        <a:t>Purpose</a:t>
                      </a:r>
                    </a:p>
                  </a:txBody>
                  <a:tcPr marL="91440" marR="91440" marT="45720" marB="45720">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c>
                  <a:txBody>
                    <a:bodyPr>
                      <a:noAutofit/>
                    </a:bodyPr>
                    <a:lstStyle/>
                    <a:p>
                      <a:r>
                        <a:rPr sz="2000" b="1">
                          <a:solidFill>
                            <a:srgbClr val="312D2A"/>
                          </a:solidFill>
                          <a:latin typeface="Oracle Sans Tab"/>
                          <a:ea typeface="Oracle Sans Tab"/>
                          <a:cs typeface="Oracle Sans Tab"/>
                        </a:rPr>
                        <a:t>Handling</a:t>
                      </a:r>
                    </a:p>
                  </a:txBody>
                  <a:tcPr marL="91440" marR="91440" marT="45720" marB="45720">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r>
              <a:tr h="781050">
                <a:tc>
                  <a:txBody>
                    <a:bodyPr>
                      <a:noAutofit/>
                    </a:bodyPr>
                    <a:lstStyle/>
                    <a:p>
                      <a:r>
                        <a:rPr sz="2000" b="0">
                          <a:solidFill>
                            <a:srgbClr val="312D2A"/>
                          </a:solidFill>
                          <a:latin typeface="Oracle Sans Tab"/>
                          <a:ea typeface="Oracle Sans Tab"/>
                          <a:cs typeface="Oracle Sans Tab"/>
                        </a:rPr>
                        <a:t>API private key</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OCI HTTPS authentication</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Operator storage outside Git</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TSIG key</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Authenticated zone transfers</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Matching material on both upstreams</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SSH key, if used</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Server administration and logs</a:t>
                      </a:r>
                    </a:p>
                  </a:txBody>
                  <a:tcPr marL="91440" marR="91440" marT="45720" marB="45720">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Separate from the API key</a:t>
                      </a:r>
                    </a:p>
                  </a:txBody>
                  <a:tcPr marL="91440" marR="91440" marT="45720" marB="45720">
                    <a:lnR w="6668">
                      <a:solidFill>
                        <a:srgbClr val="D9D4CF"/>
                      </a:solidFill>
                      <a:prstDash val="solid"/>
                    </a:lnR>
                    <a:lnB w="6668">
                      <a:solidFill>
                        <a:srgbClr val="D9D4CF"/>
                      </a:solidFill>
                      <a:prstDash val="solid"/>
                    </a:lnB>
                    <a:solidFill>
                      <a:srgbClr val="FCFBFA"/>
                    </a:solidFill>
                  </a:tcPr>
                </a:tc>
              </a:tr>
            </a:tbl>
          </a:graphicData>
        </a:graphic>
      </p:graphicFrame>
    </p:spTree>
    <p:extLst>
      <p:ext uri="{BB962C8B-B14F-4D97-AF65-F5344CB8AC3E}">
        <p14:creationId xmlns:p14="http://schemas.microsoft.com/office/powerpoint/2010/main" val="253211606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A Python virtual environment keeps dependencies together</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Operator setup</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4DB16885-0D3F-A391-B669-3211DB3B26E8}" type="slidenum">
              <a:rPr sz="900">
                <a:solidFill>
                  <a:srgbClr val="8B8580"/>
                </a:solidFill>
                <a:latin typeface="Oracle Sans Tab"/>
                <a:ea typeface="Oracle Sans Tab"/>
                <a:cs typeface="Oracle Sans Tab"/>
              </a:rPr>
              <a:t>12</a:t>
            </a:fld>
            <a:endParaRPr/>
          </a:p>
        </p:txBody>
      </p:sp>
      <p:sp>
        <p:nvSpPr>
          <p:cNvPr id="7" name="mac-label">
            <a:extLst xmlns:a="http://schemas.openxmlformats.org/drawingml/2006/main">
              <a:ext uri="{FF2B5EF4-FFF2-40B4-BE49-F238E27FC236}">
                <a16:creationId xmlns:a16="http://schemas.microsoft.com/office/drawing/2014/main" id="{799F48F0-4811-4394-9BC2-AAEC00499092}"/>
              </a:ext>
            </a:extLst>
          </p:cNvPr>
          <p:cNvSpPr>
            <a:spLocks xmlns:a="http://schemas.openxmlformats.org/drawingml/2006/main" noGrp="1"/>
          </p:cNvSpPr>
          <p:nvPr/>
        </p:nvSpPr>
        <p:spPr>
          <a:xfrm xmlns:a="http://schemas.openxmlformats.org/drawingml/2006/main">
            <a:off x="762000" y="17621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Mac and Linux</a:t>
            </a:r>
          </a:p>
        </p:txBody>
      </p:sp>
      <p:sp>
        <p:nvSpPr>
          <p:cNvPr id="8" name="windows-label">
            <a:extLst xmlns:a="http://schemas.openxmlformats.org/drawingml/2006/main">
              <a:ext uri="{FF2B5EF4-FFF2-40B4-BE49-F238E27FC236}">
                <a16:creationId xmlns:a16="http://schemas.microsoft.com/office/drawing/2014/main" id="{812BB43E-990B-41C8-ADFD-9309CDC04204}"/>
              </a:ext>
            </a:extLst>
          </p:cNvPr>
          <p:cNvSpPr>
            <a:spLocks xmlns:a="http://schemas.openxmlformats.org/drawingml/2006/main" noGrp="1"/>
          </p:cNvSpPr>
          <p:nvPr/>
        </p:nvSpPr>
        <p:spPr>
          <a:xfrm xmlns:a="http://schemas.openxmlformats.org/drawingml/2006/main">
            <a:off x="6572250" y="17621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Windows PowerShell</a:t>
            </a:r>
          </a:p>
        </p:txBody>
      </p:sp>
      <p:sp>
        <p:nvSpPr>
          <p:cNvPr id="9" name="mac-setup">
            <a:extLst xmlns:a="http://schemas.openxmlformats.org/drawingml/2006/main">
              <a:ext uri="{FF2B5EF4-FFF2-40B4-BE49-F238E27FC236}">
                <a16:creationId xmlns:a16="http://schemas.microsoft.com/office/drawing/2014/main" id="{EF2DBD5A-4FF3-4F42-ADC1-7060C78D14C9}"/>
              </a:ext>
            </a:extLst>
          </p:cNvPr>
          <p:cNvSpPr>
            <a:spLocks xmlns:a="http://schemas.openxmlformats.org/drawingml/2006/main" noGrp="1"/>
          </p:cNvSpPr>
          <p:nvPr/>
        </p:nvSpPr>
        <p:spPr>
          <a:xfrm xmlns:a="http://schemas.openxmlformats.org/drawingml/2006/main">
            <a:off x="762000" y="2428875"/>
            <a:ext cx="51911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2D2A"/>
                </a:solidFill>
                <a:latin typeface="Oracle Sans Tab"/>
                <a:ea typeface="Oracle Sans Tab"/>
                <a:cs typeface="Oracle Sans Tab"/>
              </a:defRPr>
            </a:defPPr>
          </a:lstStyle>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python3.11 -m venv .venv</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source .venv/bin/activate</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python -m pip install \</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-r requirements.txt</a:t>
            </a:r>
          </a:p>
        </p:txBody>
      </p:sp>
      <p:sp>
        <p:nvSpPr>
          <p:cNvPr id="10" name="windows-setup">
            <a:extLst xmlns:a="http://schemas.openxmlformats.org/drawingml/2006/main">
              <a:ext uri="{FF2B5EF4-FFF2-40B4-BE49-F238E27FC236}">
                <a16:creationId xmlns:a16="http://schemas.microsoft.com/office/drawing/2014/main" id="{A07C26CE-D7AE-46E5-B1DB-EE84A193B619}"/>
              </a:ext>
            </a:extLst>
          </p:cNvPr>
          <p:cNvSpPr>
            <a:spLocks xmlns:a="http://schemas.openxmlformats.org/drawingml/2006/main" noGrp="1"/>
          </p:cNvSpPr>
          <p:nvPr/>
        </p:nvSpPr>
        <p:spPr>
          <a:xfrm xmlns:a="http://schemas.openxmlformats.org/drawingml/2006/main">
            <a:off x="6572250" y="242887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2D2A"/>
                </a:solidFill>
                <a:latin typeface="Oracle Sans Tab"/>
                <a:ea typeface="Oracle Sans Tab"/>
                <a:cs typeface="Oracle Sans Tab"/>
              </a:defRPr>
            </a:defPPr>
          </a:lstStyle>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py -3.11 -m venv .venv</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$Py = ".\.venv\Scripts\python.exe"</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&amp; $Py -m pip install `</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-r requirements.txt</a:t>
            </a:r>
          </a:p>
        </p:txBody>
      </p:sp>
      <p:sp>
        <p:nvSpPr>
          <p:cNvPr id="11" name="setup-note">
            <a:extLst xmlns:a="http://schemas.openxmlformats.org/drawingml/2006/main">
              <a:ext uri="{FF2B5EF4-FFF2-40B4-BE49-F238E27FC236}">
                <a16:creationId xmlns:a16="http://schemas.microsoft.com/office/drawing/2014/main" id="{3E0625D0-AEEC-4205-8E89-8BECE66780A1}"/>
              </a:ext>
            </a:extLst>
          </p:cNvPr>
          <p:cNvSpPr>
            <a:spLocks xmlns:a="http://schemas.openxmlformats.org/drawingml/2006/main" noGrp="1"/>
          </p:cNvSpPr>
          <p:nvPr/>
        </p:nvSpPr>
        <p:spPr>
          <a:xfrm xmlns:a="http://schemas.openxmlformats.org/drawingml/2006/main">
            <a:off x="762000" y="50958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6B625C"/>
                </a:solidFill>
                <a:latin typeface="Oracle Sans Tab"/>
                <a:ea typeface="Oracle Sans Tab"/>
                <a:cs typeface="Oracle Sans Tab"/>
              </a:defRPr>
            </a:defPPr>
          </a:lstStyle>
          <a:p xmlns:a="http://schemas.openxmlformats.org/drawingml/2006/main">
            <a:pPr>
              <a:defRPr sz="2000" b="0">
                <a:solidFill>
                  <a:srgbClr val="6B625C"/>
                </a:solidFill>
                <a:latin typeface="Oracle Sans Tab"/>
                <a:ea typeface="Oracle Sans Tab"/>
                <a:cs typeface="Oracle Sans Tab"/>
              </a:defRPr>
            </a:pPr>
            <a:r>
              <a:rPr sz="2000" b="0">
                <a:solidFill>
                  <a:srgbClr val="6B625C"/>
                </a:solidFill>
                <a:latin typeface="Oracle Sans Tab"/>
                <a:ea typeface="Oracle Sans Tab"/>
                <a:cs typeface="Oracle Sans Tab"/>
              </a:rPr>
              <a:t>The Python SDK reads the selected OCI API-key profile.</a:t>
            </a:r>
          </a:p>
        </p:txBody>
      </p:sp>
    </p:spTree>
    <p:extLst>
      <p:ext uri="{BB962C8B-B14F-4D97-AF65-F5344CB8AC3E}">
        <p14:creationId xmlns:p14="http://schemas.microsoft.com/office/powerpoint/2010/main" val="253211606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The scripts use the selected API-key profile</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OCI profile setup</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2DD23107-4986-8758-3A93-3D74F35908CC}" type="slidenum">
              <a:rPr sz="900">
                <a:solidFill>
                  <a:srgbClr val="8B8580"/>
                </a:solidFill>
                <a:latin typeface="Oracle Sans Tab"/>
                <a:ea typeface="Oracle Sans Tab"/>
                <a:cs typeface="Oracle Sans Tab"/>
              </a:rPr>
              <a:t>13</a:t>
            </a:fld>
            <a:endParaRPr/>
          </a:p>
        </p:txBody>
      </p:sp>
      <p:sp>
        <p:nvSpPr>
          <p:cNvPr id="7" name="command">
            <a:extLst xmlns:a="http://schemas.openxmlformats.org/drawingml/2006/main">
              <a:ext uri="{FF2B5EF4-FFF2-40B4-BE49-F238E27FC236}">
                <a16:creationId xmlns:a16="http://schemas.microsoft.com/office/drawing/2014/main" id="{D6869820-FF60-4FE9-883D-AEBDD0E6110C}"/>
              </a:ext>
            </a:extLst>
          </p:cNvPr>
          <p:cNvSpPr>
            <a:spLocks xmlns:a="http://schemas.openxmlformats.org/drawingml/2006/main" noGrp="1"/>
          </p:cNvSpPr>
          <p:nvPr/>
        </p:nvSpPr>
        <p:spPr>
          <a:xfrm xmlns:a="http://schemas.openxmlformats.org/drawingml/2006/main">
            <a:off x="762000" y="1762125"/>
            <a:ext cx="106680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oci setup config</a:t>
            </a:r>
          </a:p>
          <a:p xmlns:a="http://schemas.openxmlformats.org/drawingml/2006/main">
            <a:r>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[DEFAULT]</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user=YOUR_USER_OCID</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tenancy=YOUR_TENANCY_OCID</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fingerprint=YOUR_PUBLIC_KEY_FINGERPRINT</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key_file=/absolute/path/to/private_key.pem</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region=YOUR_DNS_MANAGEMENT_REGION</a:t>
            </a:r>
          </a:p>
        </p:txBody>
      </p:sp>
      <p:sp>
        <p:nvSpPr>
          <p:cNvPr id="8" name="command-result">
            <a:extLst xmlns:a="http://schemas.openxmlformats.org/drawingml/2006/main">
              <a:ext uri="{FF2B5EF4-FFF2-40B4-BE49-F238E27FC236}">
                <a16:creationId xmlns:a16="http://schemas.microsoft.com/office/drawing/2014/main" id="{0D97C66A-578B-4D74-B444-A5360082C855}"/>
              </a:ext>
            </a:extLst>
          </p:cNvPr>
          <p:cNvSpPr>
            <a:spLocks xmlns:a="http://schemas.openxmlformats.org/drawingml/2006/main" noGrp="1"/>
          </p:cNvSpPr>
          <p:nvPr/>
        </p:nvSpPr>
        <p:spPr>
          <a:xfrm xmlns:a="http://schemas.openxmlformats.org/drawingml/2006/main">
            <a:off x="762000" y="53625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Register the matching public key and verify IAM access.</a:t>
            </a:r>
          </a:p>
        </p:txBody>
      </p:sp>
    </p:spTree>
    <p:extLst>
      <p:ext uri="{BB962C8B-B14F-4D97-AF65-F5344CB8AC3E}">
        <p14:creationId xmlns:p14="http://schemas.microsoft.com/office/powerpoint/2010/main" val="253211606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One non-secret JSON file supplies reusable inputs</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Migration configuration</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327921A4-25C4-3DB4-06B1-32693CEE2241}" type="slidenum">
              <a:rPr sz="900">
                <a:solidFill>
                  <a:srgbClr val="8B8580"/>
                </a:solidFill>
                <a:latin typeface="Oracle Sans Tab"/>
                <a:ea typeface="Oracle Sans Tab"/>
                <a:cs typeface="Oracle Sans Tab"/>
              </a:rPr>
              <a:t>14</a:t>
            </a:fld>
            <a:endParaRPr/>
          </a:p>
        </p:txBody>
      </p:sp>
      <p:sp>
        <p:nvSpPr>
          <p:cNvPr id="7" name="command">
            <a:extLst xmlns:a="http://schemas.openxmlformats.org/drawingml/2006/main">
              <a:ext uri="{FF2B5EF4-FFF2-40B4-BE49-F238E27FC236}">
                <a16:creationId xmlns:a16="http://schemas.microsoft.com/office/drawing/2014/main" id="{ED7D3F4F-E31B-4320-B83E-69D52E8D2C6A}"/>
              </a:ext>
            </a:extLst>
          </p:cNvPr>
          <p:cNvSpPr>
            <a:spLocks xmlns:a="http://schemas.openxmlformats.org/drawingml/2006/main" noGrp="1"/>
          </p:cNvSpPr>
          <p:nvPr/>
        </p:nvSpPr>
        <p:spPr>
          <a:xfrm xmlns:a="http://schemas.openxmlformats.org/drawingml/2006/main">
            <a:off x="762000" y="1762125"/>
            <a:ext cx="106680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2D2A"/>
                </a:solidFill>
                <a:latin typeface="Oracle Sans Tab"/>
                <a:ea typeface="Oracle Sans Tab"/>
                <a:cs typeface="Oracle Sans Tab"/>
              </a:defRPr>
            </a:defPPr>
          </a:lstStyle>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"compartment_id": "YOUR_COMPARTMENT_OCID",</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"profile": "DEFAULT",</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"region": "YOUR_DNS_MANAGEMENT_REGION",</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"source_ip": "192.0.2.10",</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"target_ip": "192.0.2.20",</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"zone_ids_file": "zone-ids.txt",</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"name_prefix": "example",</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"expected_count": 2,</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  "output_dir": "results"</a:t>
            </a:r>
          </a:p>
          <a:p xmlns:a="http://schemas.openxmlformats.org/drawingml/2006/main">
            <a:pPr>
              <a:defRPr sz="1800" b="0">
                <a:solidFill>
                  <a:srgbClr val="312D2A"/>
                </a:solidFill>
                <a:latin typeface="Oracle Sans Tab"/>
                <a:ea typeface="Oracle Sans Tab"/>
                <a:cs typeface="Oracle Sans Tab"/>
              </a:defRPr>
            </a:pPr>
            <a:r>
              <a:rPr sz="1800" b="0">
                <a:solidFill>
                  <a:srgbClr val="312D2A"/>
                </a:solidFill>
                <a:latin typeface="Oracle Sans Tab"/>
                <a:ea typeface="Oracle Sans Tab"/>
                <a:cs typeface="Oracle Sans Tab"/>
              </a:rPr>
              <a:t>}</a:t>
            </a:r>
          </a:p>
        </p:txBody>
      </p:sp>
      <p:sp>
        <p:nvSpPr>
          <p:cNvPr id="8" name="command-result">
            <a:extLst xmlns:a="http://schemas.openxmlformats.org/drawingml/2006/main">
              <a:ext uri="{FF2B5EF4-FFF2-40B4-BE49-F238E27FC236}">
                <a16:creationId xmlns:a16="http://schemas.microsoft.com/office/drawing/2014/main" id="{228CFBC7-3430-4043-987F-68EFFB1314AA}"/>
              </a:ext>
            </a:extLst>
          </p:cNvPr>
          <p:cNvSpPr>
            <a:spLocks xmlns:a="http://schemas.openxmlformats.org/drawingml/2006/main" noGrp="1"/>
          </p:cNvSpPr>
          <p:nvPr/>
        </p:nvSpPr>
        <p:spPr>
          <a:xfrm xmlns:a="http://schemas.openxmlformats.org/drawingml/2006/main">
            <a:off x="762000" y="53625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Copy examples/migration.example.json to local/migration.json.</a:t>
            </a:r>
          </a:p>
        </p:txBody>
      </p:sp>
    </p:spTree>
    <p:extLst>
      <p:ext uri="{BB962C8B-B14F-4D97-AF65-F5344CB8AC3E}">
        <p14:creationId xmlns:p14="http://schemas.microsoft.com/office/powerpoint/2010/main" val="253211606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Export the selected zone OCIDs for manual review</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Phase 1: zone selection</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EA83FA91-883A-0168-8075-96CEB9DCA3C2}" type="slidenum">
              <a:rPr sz="900">
                <a:solidFill>
                  <a:srgbClr val="8B8580"/>
                </a:solidFill>
                <a:latin typeface="Oracle Sans Tab"/>
                <a:ea typeface="Oracle Sans Tab"/>
                <a:cs typeface="Oracle Sans Tab"/>
              </a:rPr>
              <a:t>15</a:t>
            </a:fld>
            <a:endParaRPr/>
          </a:p>
        </p:txBody>
      </p:sp>
      <p:sp>
        <p:nvSpPr>
          <p:cNvPr id="7" name="command">
            <a:extLst xmlns:a="http://schemas.openxmlformats.org/drawingml/2006/main">
              <a:ext uri="{FF2B5EF4-FFF2-40B4-BE49-F238E27FC236}">
                <a16:creationId xmlns:a16="http://schemas.microsoft.com/office/drawing/2014/main" id="{BB16499E-892B-47C8-AF2C-13B0B0398C10}"/>
              </a:ext>
            </a:extLst>
          </p:cNvPr>
          <p:cNvSpPr>
            <a:spLocks xmlns:a="http://schemas.openxmlformats.org/drawingml/2006/main" noGrp="1"/>
          </p:cNvSpPr>
          <p:nvPr/>
        </p:nvSpPr>
        <p:spPr>
          <a:xfrm xmlns:a="http://schemas.openxmlformats.org/drawingml/2006/main">
            <a:off x="762000" y="1762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python scripts/phase1_export_zones.py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  --config local/migration.json</a:t>
            </a:r>
          </a:p>
        </p:txBody>
      </p:sp>
      <p:sp>
        <p:nvSpPr>
          <p:cNvPr id="8" name="command-result">
            <a:extLst xmlns:a="http://schemas.openxmlformats.org/drawingml/2006/main">
              <a:ext uri="{FF2B5EF4-FFF2-40B4-BE49-F238E27FC236}">
                <a16:creationId xmlns:a16="http://schemas.microsoft.com/office/drawing/2014/main" id="{88AAFD61-749F-4659-AEDA-34F097984973}"/>
              </a:ext>
            </a:extLst>
          </p:cNvPr>
          <p:cNvSpPr>
            <a:spLocks xmlns:a="http://schemas.openxmlformats.org/drawingml/2006/main" noGrp="1"/>
          </p:cNvSpPr>
          <p:nvPr/>
        </p:nvSpPr>
        <p:spPr>
          <a:xfrm xmlns:a="http://schemas.openxmlformats.org/drawingml/2006/main">
            <a:off x="762000" y="3676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The export writes an OCID file and a separate inventory.</a:t>
            </a:r>
          </a:p>
        </p:txBody>
      </p:sp>
      <p:sp>
        <p:nvSpPr>
          <p:cNvPr id="9" name="label-0">
            <a:extLst xmlns:a="http://schemas.openxmlformats.org/drawingml/2006/main">
              <a:ext uri="{FF2B5EF4-FFF2-40B4-BE49-F238E27FC236}">
                <a16:creationId xmlns:a16="http://schemas.microsoft.com/office/drawing/2014/main" id="{66815A34-EA81-4B0D-8E3E-B69F11EDB73C}"/>
              </a:ext>
            </a:extLst>
          </p:cNvPr>
          <p:cNvSpPr>
            <a:spLocks xmlns:a="http://schemas.openxmlformats.org/drawingml/2006/main" noGrp="1"/>
          </p:cNvSpPr>
          <p:nvPr/>
        </p:nvSpPr>
        <p:spPr>
          <a:xfrm xmlns:a="http://schemas.openxmlformats.org/drawingml/2006/main">
            <a:off x="762000" y="4429125"/>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Selection options</a:t>
            </a:r>
          </a:p>
        </p:txBody>
      </p:sp>
      <p:sp>
        <p:nvSpPr>
          <p:cNvPr id="10" name="body-0">
            <a:extLst xmlns:a="http://schemas.openxmlformats.org/drawingml/2006/main">
              <a:ext uri="{FF2B5EF4-FFF2-40B4-BE49-F238E27FC236}">
                <a16:creationId xmlns:a16="http://schemas.microsoft.com/office/drawing/2014/main" id="{B9306B9C-5E4D-4205-8DB9-331B3A1B560C}"/>
              </a:ext>
            </a:extLst>
          </p:cNvPr>
          <p:cNvSpPr>
            <a:spLocks xmlns:a="http://schemas.openxmlformats.org/drawingml/2006/main" noGrp="1"/>
          </p:cNvSpPr>
          <p:nvPr/>
        </p:nvSpPr>
        <p:spPr>
          <a:xfrm xmlns:a="http://schemas.openxmlformats.org/drawingml/2006/main">
            <a:off x="3448050" y="4429125"/>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Literal prefix or exact names from a text file</a:t>
            </a:r>
          </a:p>
        </p:txBody>
      </p:sp>
      <p:sp>
        <p:nvSpPr>
          <p:cNvPr id="11" name="label-1">
            <a:extLst xmlns:a="http://schemas.openxmlformats.org/drawingml/2006/main">
              <a:ext uri="{FF2B5EF4-FFF2-40B4-BE49-F238E27FC236}">
                <a16:creationId xmlns:a16="http://schemas.microsoft.com/office/drawing/2014/main" id="{4133E1DC-D785-42EC-B8BE-0754C2DA6871}"/>
              </a:ext>
            </a:extLst>
          </p:cNvPr>
          <p:cNvSpPr>
            <a:spLocks xmlns:a="http://schemas.openxmlformats.org/drawingml/2006/main" noGrp="1"/>
          </p:cNvSpPr>
          <p:nvPr/>
        </p:nvSpPr>
        <p:spPr>
          <a:xfrm xmlns:a="http://schemas.openxmlformats.org/drawingml/2006/main">
            <a:off x="762000" y="5267325"/>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Read-only behavior</a:t>
            </a:r>
          </a:p>
        </p:txBody>
      </p:sp>
      <p:sp>
        <p:nvSpPr>
          <p:cNvPr id="12" name="body-1">
            <a:extLst xmlns:a="http://schemas.openxmlformats.org/drawingml/2006/main">
              <a:ext uri="{FF2B5EF4-FFF2-40B4-BE49-F238E27FC236}">
                <a16:creationId xmlns:a16="http://schemas.microsoft.com/office/drawing/2014/main" id="{1658A843-B4E8-463B-90DF-21D6E753A909}"/>
              </a:ext>
            </a:extLst>
          </p:cNvPr>
          <p:cNvSpPr>
            <a:spLocks xmlns:a="http://schemas.openxmlformats.org/drawingml/2006/main" noGrp="1"/>
          </p:cNvSpPr>
          <p:nvPr/>
        </p:nvSpPr>
        <p:spPr>
          <a:xfrm xmlns:a="http://schemas.openxmlformats.org/drawingml/2006/main">
            <a:off x="3448050" y="5267325"/>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Missing names and count mismatches stop export</a:t>
            </a:r>
          </a:p>
        </p:txBody>
      </p:sp>
    </p:spTree>
    <p:extLst>
      <p:ext uri="{BB962C8B-B14F-4D97-AF65-F5344CB8AC3E}">
        <p14:creationId xmlns:p14="http://schemas.microsoft.com/office/powerpoint/2010/main" val="253211606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The reviewed file controls the later batch operations</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Phase 1: review gate</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DC9C7607-4BA3-B4DC-A00F-2E67A9FCFF7E}" type="slidenum">
              <a:rPr sz="900">
                <a:solidFill>
                  <a:srgbClr val="8B8580"/>
                </a:solidFill>
                <a:latin typeface="Oracle Sans Tab"/>
                <a:ea typeface="Oracle Sans Tab"/>
                <a:cs typeface="Oracle Sans Tab"/>
              </a:rPr>
              <a:t>16</a:t>
            </a:fld>
            <a:endParaRPr/>
          </a:p>
        </p:txBody>
      </p:sp>
      <p:sp>
        <p:nvSpPr>
          <p:cNvPr id="7" name="label-0">
            <a:extLst xmlns:a="http://schemas.openxmlformats.org/drawingml/2006/main">
              <a:ext uri="{FF2B5EF4-FFF2-40B4-BE49-F238E27FC236}">
                <a16:creationId xmlns:a16="http://schemas.microsoft.com/office/drawing/2014/main" id="{9BA91302-6F79-49B8-8E5D-6D344BF8AF5C}"/>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Zone identity</a:t>
            </a:r>
          </a:p>
        </p:txBody>
      </p:sp>
      <p:sp>
        <p:nvSpPr>
          <p:cNvPr id="8" name="body-0">
            <a:extLst xmlns:a="http://schemas.openxmlformats.org/drawingml/2006/main">
              <a:ext uri="{FF2B5EF4-FFF2-40B4-BE49-F238E27FC236}">
                <a16:creationId xmlns:a16="http://schemas.microsoft.com/office/drawing/2014/main" id="{73B6DF04-9DF0-4954-94A9-A642908BD910}"/>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Exact customer zone names and OCIDs match the intended change.</a:t>
            </a:r>
          </a:p>
        </p:txBody>
      </p:sp>
      <p:sp>
        <p:nvSpPr>
          <p:cNvPr id="9" name="label-1">
            <a:extLst xmlns:a="http://schemas.openxmlformats.org/drawingml/2006/main">
              <a:ext uri="{FF2B5EF4-FFF2-40B4-BE49-F238E27FC236}">
                <a16:creationId xmlns:a16="http://schemas.microsoft.com/office/drawing/2014/main" id="{3CE7EDE1-A495-4B13-8A64-1126865EF183}"/>
              </a:ext>
            </a:extLst>
          </p:cNvPr>
          <p:cNvSpPr>
            <a:spLocks xmlns:a="http://schemas.openxmlformats.org/drawingml/2006/main" noGrp="1"/>
          </p:cNvSpPr>
          <p:nvPr/>
        </p:nvSpPr>
        <p:spPr>
          <a:xfrm xmlns:a="http://schemas.openxmlformats.org/drawingml/2006/main">
            <a:off x="762000" y="2705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Scope and state</a:t>
            </a:r>
          </a:p>
        </p:txBody>
      </p:sp>
      <p:sp>
        <p:nvSpPr>
          <p:cNvPr id="10" name="body-1">
            <a:extLst xmlns:a="http://schemas.openxmlformats.org/drawingml/2006/main">
              <a:ext uri="{FF2B5EF4-FFF2-40B4-BE49-F238E27FC236}">
                <a16:creationId xmlns:a16="http://schemas.microsoft.com/office/drawing/2014/main" id="{ECF54F2A-4C20-4173-8D66-EC97BE7EB4D1}"/>
              </a:ext>
            </a:extLst>
          </p:cNvPr>
          <p:cNvSpPr>
            <a:spLocks xmlns:a="http://schemas.openxmlformats.org/drawingml/2006/main" noGrp="1"/>
          </p:cNvSpPr>
          <p:nvPr/>
        </p:nvSpPr>
        <p:spPr>
          <a:xfrm xmlns:a="http://schemas.openxmlformats.org/drawingml/2006/main">
            <a:off x="3448050" y="2705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Every selected zone is ACTIVE, GLOBAL and SECONDARY.</a:t>
            </a:r>
          </a:p>
        </p:txBody>
      </p:sp>
      <p:sp>
        <p:nvSpPr>
          <p:cNvPr id="11" name="label-2">
            <a:extLst xmlns:a="http://schemas.openxmlformats.org/drawingml/2006/main">
              <a:ext uri="{FF2B5EF4-FFF2-40B4-BE49-F238E27FC236}">
                <a16:creationId xmlns:a16="http://schemas.microsoft.com/office/drawing/2014/main" id="{49758B9B-5F2C-4ADE-988D-1AC049380F75}"/>
              </a:ext>
            </a:extLst>
          </p:cNvPr>
          <p:cNvSpPr>
            <a:spLocks xmlns:a="http://schemas.openxmlformats.org/drawingml/2006/main" noGrp="1"/>
          </p:cNvSpPr>
          <p:nvPr/>
        </p:nvSpPr>
        <p:spPr>
          <a:xfrm xmlns:a="http://schemas.openxmlformats.org/drawingml/2006/main">
            <a:off x="762000" y="3657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Source and target</a:t>
            </a:r>
          </a:p>
        </p:txBody>
      </p:sp>
      <p:sp>
        <p:nvSpPr>
          <p:cNvPr id="12" name="body-2">
            <a:extLst xmlns:a="http://schemas.openxmlformats.org/drawingml/2006/main">
              <a:ext uri="{FF2B5EF4-FFF2-40B4-BE49-F238E27FC236}">
                <a16:creationId xmlns:a16="http://schemas.microsoft.com/office/drawing/2014/main" id="{117CB9A3-E065-4761-93BB-032888E275EB}"/>
              </a:ext>
            </a:extLst>
          </p:cNvPr>
          <p:cNvSpPr>
            <a:spLocks xmlns:a="http://schemas.openxmlformats.org/drawingml/2006/main" noGrp="1"/>
          </p:cNvSpPr>
          <p:nvPr/>
        </p:nvSpPr>
        <p:spPr>
          <a:xfrm xmlns:a="http://schemas.openxmlformats.org/drawingml/2006/main">
            <a:off x="3448050" y="3657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Source is signed, and target records and keys are ready.</a:t>
            </a:r>
          </a:p>
        </p:txBody>
      </p:sp>
      <p:sp>
        <p:nvSpPr>
          <p:cNvPr id="13" name="label-3">
            <a:extLst xmlns:a="http://schemas.openxmlformats.org/drawingml/2006/main">
              <a:ext uri="{FF2B5EF4-FFF2-40B4-BE49-F238E27FC236}">
                <a16:creationId xmlns:a16="http://schemas.microsoft.com/office/drawing/2014/main" id="{55496BEF-8E47-4B87-BCAE-2DA66DE01C57}"/>
              </a:ext>
            </a:extLst>
          </p:cNvPr>
          <p:cNvSpPr>
            <a:spLocks xmlns:a="http://schemas.openxmlformats.org/drawingml/2006/main" noGrp="1"/>
          </p:cNvSpPr>
          <p:nvPr/>
        </p:nvSpPr>
        <p:spPr>
          <a:xfrm xmlns:a="http://schemas.openxmlformats.org/drawingml/2006/main">
            <a:off x="762000" y="4610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Selection integrity</a:t>
            </a:r>
          </a:p>
        </p:txBody>
      </p:sp>
      <p:sp>
        <p:nvSpPr>
          <p:cNvPr id="14" name="body-3">
            <a:extLst xmlns:a="http://schemas.openxmlformats.org/drawingml/2006/main">
              <a:ext uri="{FF2B5EF4-FFF2-40B4-BE49-F238E27FC236}">
                <a16:creationId xmlns:a16="http://schemas.microsoft.com/office/drawing/2014/main" id="{9406163F-917A-430B-9A7A-2452E6AEFA34}"/>
              </a:ext>
            </a:extLst>
          </p:cNvPr>
          <p:cNvSpPr>
            <a:spLocks xmlns:a="http://schemas.openxmlformats.org/drawingml/2006/main" noGrp="1"/>
          </p:cNvSpPr>
          <p:nvPr/>
        </p:nvSpPr>
        <p:spPr>
          <a:xfrm xmlns:a="http://schemas.openxmlformats.org/drawingml/2006/main">
            <a:off x="3448050" y="4610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The expected count matches, with one unique OCID per line.</a:t>
            </a:r>
          </a:p>
        </p:txBody>
      </p:sp>
    </p:spTree>
    <p:extLst>
      <p:ext uri="{BB962C8B-B14F-4D97-AF65-F5344CB8AC3E}">
        <p14:creationId xmlns:p14="http://schemas.microsoft.com/office/powerpoint/2010/main" val="253211606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The target joins the source during the overlap window</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Phase 2: preview and apply</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90F7333B-44AC-F7E9-D49D-FE92F45E0477}" type="slidenum">
              <a:rPr sz="900">
                <a:solidFill>
                  <a:srgbClr val="8B8580"/>
                </a:solidFill>
                <a:latin typeface="Oracle Sans Tab"/>
                <a:ea typeface="Oracle Sans Tab"/>
                <a:cs typeface="Oracle Sans Tab"/>
              </a:rPr>
              <a:t>17</a:t>
            </a:fld>
            <a:endParaRPr/>
          </a:p>
        </p:txBody>
      </p:sp>
      <p:sp>
        <p:nvSpPr>
          <p:cNvPr id="7" name="preview-label">
            <a:extLst xmlns:a="http://schemas.openxmlformats.org/drawingml/2006/main">
              <a:ext uri="{FF2B5EF4-FFF2-40B4-BE49-F238E27FC236}">
                <a16:creationId xmlns:a16="http://schemas.microsoft.com/office/drawing/2014/main" id="{284D5CA3-5B0E-45C5-BA82-72ECBFF17070}"/>
              </a:ext>
            </a:extLst>
          </p:cNvPr>
          <p:cNvSpPr>
            <a:spLocks xmlns:a="http://schemas.openxmlformats.org/drawingml/2006/main" noGrp="1"/>
          </p:cNvSpPr>
          <p:nvPr/>
        </p:nvSpPr>
        <p:spPr>
          <a:xfrm xmlns:a="http://schemas.openxmlformats.org/drawingml/2006/main">
            <a:off x="762000" y="17240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Preview</a:t>
            </a:r>
          </a:p>
        </p:txBody>
      </p:sp>
      <p:sp>
        <p:nvSpPr>
          <p:cNvPr id="8" name="command">
            <a:extLst xmlns:a="http://schemas.openxmlformats.org/drawingml/2006/main">
              <a:ext uri="{FF2B5EF4-FFF2-40B4-BE49-F238E27FC236}">
                <a16:creationId xmlns:a16="http://schemas.microsoft.com/office/drawing/2014/main" id="{8577F146-474B-4E9C-B246-9C17AC724AB6}"/>
              </a:ext>
            </a:extLst>
          </p:cNvPr>
          <p:cNvSpPr>
            <a:spLocks xmlns:a="http://schemas.openxmlformats.org/drawingml/2006/main" noGrp="1"/>
          </p:cNvSpPr>
          <p:nvPr/>
        </p:nvSpPr>
        <p:spPr>
          <a:xfrm xmlns:a="http://schemas.openxmlformats.org/drawingml/2006/main">
            <a:off x="762000" y="22098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python scripts/phase2_add_upstream.py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  --config local/migration.json</a:t>
            </a:r>
          </a:p>
        </p:txBody>
      </p:sp>
      <p:sp>
        <p:nvSpPr>
          <p:cNvPr id="9" name="apply-label">
            <a:extLst xmlns:a="http://schemas.openxmlformats.org/drawingml/2006/main">
              <a:ext uri="{FF2B5EF4-FFF2-40B4-BE49-F238E27FC236}">
                <a16:creationId xmlns:a16="http://schemas.microsoft.com/office/drawing/2014/main" id="{5D20E9EB-5483-415C-81AD-530B98744E46}"/>
              </a:ext>
            </a:extLst>
          </p:cNvPr>
          <p:cNvSpPr>
            <a:spLocks xmlns:a="http://schemas.openxmlformats.org/drawingml/2006/main" noGrp="1"/>
          </p:cNvSpPr>
          <p:nvPr/>
        </p:nvSpPr>
        <p:spPr>
          <a:xfrm xmlns:a="http://schemas.openxmlformats.org/drawingml/2006/main">
            <a:off x="762000" y="3429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Apply after review</a:t>
            </a:r>
          </a:p>
        </p:txBody>
      </p:sp>
      <p:sp>
        <p:nvSpPr>
          <p:cNvPr id="10" name="command">
            <a:extLst xmlns:a="http://schemas.openxmlformats.org/drawingml/2006/main">
              <a:ext uri="{FF2B5EF4-FFF2-40B4-BE49-F238E27FC236}">
                <a16:creationId xmlns:a16="http://schemas.microsoft.com/office/drawing/2014/main" id="{4356219B-7F7A-4C05-AFA3-321BAE8007A0}"/>
              </a:ext>
            </a:extLst>
          </p:cNvPr>
          <p:cNvSpPr>
            <a:spLocks xmlns:a="http://schemas.openxmlformats.org/drawingml/2006/main" noGrp="1"/>
          </p:cNvSpPr>
          <p:nvPr/>
        </p:nvSpPr>
        <p:spPr>
          <a:xfrm xmlns:a="http://schemas.openxmlformats.org/drawingml/2006/main">
            <a:off x="762000" y="391477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python scripts/phase2_add_upstream.py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  --config local/migration.json --apply</a:t>
            </a:r>
          </a:p>
        </p:txBody>
      </p:sp>
      <p:sp>
        <p:nvSpPr>
          <p:cNvPr id="11" name="action-gate">
            <a:extLst xmlns:a="http://schemas.openxmlformats.org/drawingml/2006/main">
              <a:ext uri="{FF2B5EF4-FFF2-40B4-BE49-F238E27FC236}">
                <a16:creationId xmlns:a16="http://schemas.microsoft.com/office/drawing/2014/main" id="{FB36052B-B58C-4135-9654-39B58400B25B}"/>
              </a:ext>
            </a:extLst>
          </p:cNvPr>
          <p:cNvSpPr>
            <a:spLocks xmlns:a="http://schemas.openxmlformats.org/drawingml/2006/main" noGrp="1"/>
          </p:cNvSpPr>
          <p:nvPr/>
        </p:nvSpPr>
        <p:spPr>
          <a:xfrm xmlns:a="http://schemas.openxmlformats.org/drawingml/2006/main">
            <a:off x="762000" y="5381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6B625C"/>
                </a:solidFill>
                <a:latin typeface="Oracle Sans Tab"/>
                <a:ea typeface="Oracle Sans Tab"/>
                <a:cs typeface="Oracle Sans Tab"/>
              </a:defRPr>
            </a:defPPr>
          </a:lstStyle>
          <a:p xmlns:a="http://schemas.openxmlformats.org/drawingml/2006/main">
            <a:pPr>
              <a:defRPr sz="2000" b="0">
                <a:solidFill>
                  <a:srgbClr val="6B625C"/>
                </a:solidFill>
                <a:latin typeface="Oracle Sans Tab"/>
                <a:ea typeface="Oracle Sans Tab"/>
                <a:cs typeface="Oracle Sans Tab"/>
              </a:defRPr>
            </a:pPr>
            <a:r>
              <a:rPr sz="2000" b="0">
                <a:solidFill>
                  <a:srgbClr val="6B625C"/>
                </a:solidFill>
                <a:latin typeface="Oracle Sans Tab"/>
                <a:ea typeface="Oracle Sans Tab"/>
                <a:cs typeface="Oracle Sans Tab"/>
              </a:rPr>
              <a:t>Review the planned IP/key changes before the apply command.</a:t>
            </a:r>
          </a:p>
        </p:txBody>
      </p:sp>
    </p:spTree>
    <p:extLst>
      <p:ext uri="{BB962C8B-B14F-4D97-AF65-F5344CB8AC3E}">
        <p14:creationId xmlns:p14="http://schemas.microsoft.com/office/powerpoint/2010/main" val="253211606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Safeguards for each complete upstream list</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Phase 2: update safeguards</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B1C6C81E-38B9-7560-621D-5A151A79DF9B}" type="slidenum">
              <a:rPr sz="900">
                <a:solidFill>
                  <a:srgbClr val="8B8580"/>
                </a:solidFill>
                <a:latin typeface="Oracle Sans Tab"/>
                <a:ea typeface="Oracle Sans Tab"/>
                <a:cs typeface="Oracle Sans Tab"/>
              </a:rPr>
              <a:t>18</a:t>
            </a:fld>
            <a:endParaRPr/>
          </a:p>
        </p:txBody>
      </p:sp>
      <p:sp>
        <p:nvSpPr>
          <p:cNvPr id="7" name="label-0">
            <a:extLst xmlns:a="http://schemas.openxmlformats.org/drawingml/2006/main">
              <a:ext uri="{FF2B5EF4-FFF2-40B4-BE49-F238E27FC236}">
                <a16:creationId xmlns:a16="http://schemas.microsoft.com/office/drawing/2014/main" id="{DA65BF01-01B2-494B-A13C-8CE944F34706}"/>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Preflight</a:t>
            </a:r>
          </a:p>
        </p:txBody>
      </p:sp>
      <p:sp>
        <p:nvSpPr>
          <p:cNvPr id="8" name="body-0">
            <a:extLst xmlns:a="http://schemas.openxmlformats.org/drawingml/2006/main">
              <a:ext uri="{FF2B5EF4-FFF2-40B4-BE49-F238E27FC236}">
                <a16:creationId xmlns:a16="http://schemas.microsoft.com/office/drawing/2014/main" id="{CAF6BF96-5844-4970-8FBE-28211E3BB89C}"/>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Validate every selected zone before the first write.</a:t>
            </a:r>
          </a:p>
        </p:txBody>
      </p:sp>
      <p:sp>
        <p:nvSpPr>
          <p:cNvPr id="9" name="label-1">
            <a:extLst xmlns:a="http://schemas.openxmlformats.org/drawingml/2006/main">
              <a:ext uri="{FF2B5EF4-FFF2-40B4-BE49-F238E27FC236}">
                <a16:creationId xmlns:a16="http://schemas.microsoft.com/office/drawing/2014/main" id="{707717B6-F931-4853-AE4E-1ED91A52261D}"/>
              </a:ext>
            </a:extLst>
          </p:cNvPr>
          <p:cNvSpPr>
            <a:spLocks xmlns:a="http://schemas.openxmlformats.org/drawingml/2006/main" noGrp="1"/>
          </p:cNvSpPr>
          <p:nvPr/>
        </p:nvSpPr>
        <p:spPr>
          <a:xfrm xmlns:a="http://schemas.openxmlformats.org/drawingml/2006/main">
            <a:off x="762000" y="24955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Backup</a:t>
            </a:r>
          </a:p>
        </p:txBody>
      </p:sp>
      <p:sp>
        <p:nvSpPr>
          <p:cNvPr id="10" name="body-1">
            <a:extLst xmlns:a="http://schemas.openxmlformats.org/drawingml/2006/main">
              <a:ext uri="{FF2B5EF4-FFF2-40B4-BE49-F238E27FC236}">
                <a16:creationId xmlns:a16="http://schemas.microsoft.com/office/drawing/2014/main" id="{67246CC4-0B20-4C23-AA8B-88CCDE2F1F4E}"/>
              </a:ext>
            </a:extLst>
          </p:cNvPr>
          <p:cNvSpPr>
            <a:spLocks xmlns:a="http://schemas.openxmlformats.org/drawingml/2006/main" noGrp="1"/>
          </p:cNvSpPr>
          <p:nvPr/>
        </p:nvSpPr>
        <p:spPr>
          <a:xfrm xmlns:a="http://schemas.openxmlformats.org/drawingml/2006/main">
            <a:off x="3448050" y="249555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Save complete original upstream lists and the selection hash.</a:t>
            </a:r>
          </a:p>
        </p:txBody>
      </p:sp>
      <p:sp>
        <p:nvSpPr>
          <p:cNvPr id="11" name="label-2">
            <a:extLst xmlns:a="http://schemas.openxmlformats.org/drawingml/2006/main">
              <a:ext uri="{FF2B5EF4-FFF2-40B4-BE49-F238E27FC236}">
                <a16:creationId xmlns:a16="http://schemas.microsoft.com/office/drawing/2014/main" id="{E4AFDB2A-835F-49FB-90C2-B09B9D1D015E}"/>
              </a:ext>
            </a:extLst>
          </p:cNvPr>
          <p:cNvSpPr>
            <a:spLocks xmlns:a="http://schemas.openxmlformats.org/drawingml/2006/main" noGrp="1"/>
          </p:cNvSpPr>
          <p:nvPr/>
        </p:nvSpPr>
        <p:spPr>
          <a:xfrm xmlns:a="http://schemas.openxmlformats.org/drawingml/2006/main">
            <a:off x="762000" y="32385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Concurrency</a:t>
            </a:r>
          </a:p>
        </p:txBody>
      </p:sp>
      <p:sp>
        <p:nvSpPr>
          <p:cNvPr id="12" name="body-2">
            <a:extLst xmlns:a="http://schemas.openxmlformats.org/drawingml/2006/main">
              <a:ext uri="{FF2B5EF4-FFF2-40B4-BE49-F238E27FC236}">
                <a16:creationId xmlns:a16="http://schemas.microsoft.com/office/drawing/2014/main" id="{F65D15C4-6AFC-40E1-A573-0CBCC71E8A4D}"/>
              </a:ext>
            </a:extLst>
          </p:cNvPr>
          <p:cNvSpPr>
            <a:spLocks xmlns:a="http://schemas.openxmlformats.org/drawingml/2006/main" noGrp="1"/>
          </p:cNvSpPr>
          <p:nvPr/>
        </p:nvSpPr>
        <p:spPr>
          <a:xfrm xmlns:a="http://schemas.openxmlformats.org/drawingml/2006/main">
            <a:off x="3448050" y="32385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Re-read settings and use a fresh ETag with If-Match.</a:t>
            </a:r>
          </a:p>
        </p:txBody>
      </p:sp>
      <p:sp>
        <p:nvSpPr>
          <p:cNvPr id="13" name="label-3">
            <a:extLst xmlns:a="http://schemas.openxmlformats.org/drawingml/2006/main">
              <a:ext uri="{FF2B5EF4-FFF2-40B4-BE49-F238E27FC236}">
                <a16:creationId xmlns:a16="http://schemas.microsoft.com/office/drawing/2014/main" id="{6807F6F9-E7B5-4F6E-961B-A4754FDD13E0}"/>
              </a:ext>
            </a:extLst>
          </p:cNvPr>
          <p:cNvSpPr>
            <a:spLocks xmlns:a="http://schemas.openxmlformats.org/drawingml/2006/main" noGrp="1"/>
          </p:cNvSpPr>
          <p:nvPr/>
        </p:nvSpPr>
        <p:spPr>
          <a:xfrm xmlns:a="http://schemas.openxmlformats.org/drawingml/2006/main">
            <a:off x="762000" y="39814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Read-back</a:t>
            </a:r>
          </a:p>
        </p:txBody>
      </p:sp>
      <p:sp>
        <p:nvSpPr>
          <p:cNvPr id="14" name="body-3">
            <a:extLst xmlns:a="http://schemas.openxmlformats.org/drawingml/2006/main">
              <a:ext uri="{FF2B5EF4-FFF2-40B4-BE49-F238E27FC236}">
                <a16:creationId xmlns:a16="http://schemas.microsoft.com/office/drawing/2014/main" id="{934928F8-F934-469E-9646-674540E32AFD}"/>
              </a:ext>
            </a:extLst>
          </p:cNvPr>
          <p:cNvSpPr>
            <a:spLocks xmlns:a="http://schemas.openxmlformats.org/drawingml/2006/main" noGrp="1"/>
          </p:cNvSpPr>
          <p:nvPr/>
        </p:nvSpPr>
        <p:spPr>
          <a:xfrm xmlns:a="http://schemas.openxmlformats.org/drawingml/2006/main">
            <a:off x="3448050" y="398145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Wait for ACTIVE and confirm the requested upstream list.</a:t>
            </a:r>
          </a:p>
        </p:txBody>
      </p:sp>
      <p:sp>
        <p:nvSpPr>
          <p:cNvPr id="15" name="label-4">
            <a:extLst xmlns:a="http://schemas.openxmlformats.org/drawingml/2006/main">
              <a:ext uri="{FF2B5EF4-FFF2-40B4-BE49-F238E27FC236}">
                <a16:creationId xmlns:a16="http://schemas.microsoft.com/office/drawing/2014/main" id="{7818D3DB-5D10-4BE7-A4EB-7914D976BB78}"/>
              </a:ext>
            </a:extLst>
          </p:cNvPr>
          <p:cNvSpPr>
            <a:spLocks xmlns:a="http://schemas.openxmlformats.org/drawingml/2006/main" noGrp="1"/>
          </p:cNvSpPr>
          <p:nvPr/>
        </p:nvSpPr>
        <p:spPr>
          <a:xfrm xmlns:a="http://schemas.openxmlformats.org/drawingml/2006/main">
            <a:off x="762000" y="47244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Partial results</a:t>
            </a:r>
          </a:p>
        </p:txBody>
      </p:sp>
      <p:sp>
        <p:nvSpPr>
          <p:cNvPr id="16" name="body-4">
            <a:extLst xmlns:a="http://schemas.openxmlformats.org/drawingml/2006/main">
              <a:ext uri="{FF2B5EF4-FFF2-40B4-BE49-F238E27FC236}">
                <a16:creationId xmlns:a16="http://schemas.microsoft.com/office/drawing/2014/main" id="{0C55D973-0DD9-4CC2-8409-961209D3F096}"/>
              </a:ext>
            </a:extLst>
          </p:cNvPr>
          <p:cNvSpPr>
            <a:spLocks xmlns:a="http://schemas.openxmlformats.org/drawingml/2006/main" noGrp="1"/>
          </p:cNvSpPr>
          <p:nvPr/>
        </p:nvSpPr>
        <p:spPr>
          <a:xfrm xmlns:a="http://schemas.openxmlformats.org/drawingml/2006/main">
            <a:off x="3448050" y="47244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Stop on an error and retain results from earlier updates.</a:t>
            </a:r>
          </a:p>
        </p:txBody>
      </p:sp>
    </p:spTree>
    <p:extLst>
      <p:ext uri="{BB962C8B-B14F-4D97-AF65-F5344CB8AC3E}">
        <p14:creationId xmlns:p14="http://schemas.microsoft.com/office/powerpoint/2010/main" val="253211606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The DNS administrator publishes the new record value</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Fresh transfer verification</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CCF91274-D221-1BB4-3BF9-836E3AD31EBE}" type="slidenum">
              <a:rPr sz="900">
                <a:solidFill>
                  <a:srgbClr val="8B8580"/>
                </a:solidFill>
                <a:latin typeface="Oracle Sans Tab"/>
                <a:ea typeface="Oracle Sans Tab"/>
                <a:cs typeface="Oracle Sans Tab"/>
              </a:rPr>
              <a:t>19</a:t>
            </a:fld>
            <a:endParaRPr/>
          </a:p>
        </p:txBody>
      </p:sp>
      <p:sp>
        <p:nvSpPr>
          <p:cNvPr id="7" name="label-0">
            <a:extLst xmlns:a="http://schemas.openxmlformats.org/drawingml/2006/main">
              <a:ext uri="{FF2B5EF4-FFF2-40B4-BE49-F238E27FC236}">
                <a16:creationId xmlns:a16="http://schemas.microsoft.com/office/drawing/2014/main" id="{72946A32-440C-4D22-B2E2-95079BF21F84}"/>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Fresh marker</a:t>
            </a:r>
          </a:p>
        </p:txBody>
      </p:sp>
      <p:sp>
        <p:nvSpPr>
          <p:cNvPr id="8" name="body-0">
            <a:extLst xmlns:a="http://schemas.openxmlformats.org/drawingml/2006/main">
              <a:ext uri="{FF2B5EF4-FFF2-40B4-BE49-F238E27FC236}">
                <a16:creationId xmlns:a16="http://schemas.microsoft.com/office/drawing/2014/main" id="{A14D4BD5-3CB9-42D4-BD96-2655E4C401EA}"/>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Use a unique value at _oci-transfer-check in every selected zone.</a:t>
            </a:r>
          </a:p>
        </p:txBody>
      </p:sp>
      <p:sp>
        <p:nvSpPr>
          <p:cNvPr id="9" name="label-1">
            <a:extLst xmlns:a="http://schemas.openxmlformats.org/drawingml/2006/main">
              <a:ext uri="{FF2B5EF4-FFF2-40B4-BE49-F238E27FC236}">
                <a16:creationId xmlns:a16="http://schemas.microsoft.com/office/drawing/2014/main" id="{85CEA0DF-994C-4AF6-8720-752F18E66748}"/>
              </a:ext>
            </a:extLst>
          </p:cNvPr>
          <p:cNvSpPr>
            <a:spLocks xmlns:a="http://schemas.openxmlformats.org/drawingml/2006/main" noGrp="1"/>
          </p:cNvSpPr>
          <p:nvPr/>
        </p:nvSpPr>
        <p:spPr>
          <a:xfrm xmlns:a="http://schemas.openxmlformats.org/drawingml/2006/main">
            <a:off x="762000" y="2705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SOA serial</a:t>
            </a:r>
          </a:p>
        </p:txBody>
      </p:sp>
      <p:sp>
        <p:nvSpPr>
          <p:cNvPr id="10" name="body-1">
            <a:extLst xmlns:a="http://schemas.openxmlformats.org/drawingml/2006/main">
              <a:ext uri="{FF2B5EF4-FFF2-40B4-BE49-F238E27FC236}">
                <a16:creationId xmlns:a16="http://schemas.microsoft.com/office/drawing/2014/main" id="{3431612D-A006-46A3-9081-195DDC830B99}"/>
              </a:ext>
            </a:extLst>
          </p:cNvPr>
          <p:cNvSpPr>
            <a:spLocks xmlns:a="http://schemas.openxmlformats.org/drawingml/2006/main" noGrp="1"/>
          </p:cNvSpPr>
          <p:nvPr/>
        </p:nvSpPr>
        <p:spPr>
          <a:xfrm xmlns:a="http://schemas.openxmlformats.org/drawingml/2006/main">
            <a:off x="3448050" y="2705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Increase each zone’s current serial through the DNS process.</a:t>
            </a:r>
          </a:p>
        </p:txBody>
      </p:sp>
      <p:sp>
        <p:nvSpPr>
          <p:cNvPr id="11" name="label-2">
            <a:extLst xmlns:a="http://schemas.openxmlformats.org/drawingml/2006/main">
              <a:ext uri="{FF2B5EF4-FFF2-40B4-BE49-F238E27FC236}">
                <a16:creationId xmlns:a16="http://schemas.microsoft.com/office/drawing/2014/main" id="{5DE6EC92-BBDF-4B3C-B69B-FC9D25555B2D}"/>
              </a:ext>
            </a:extLst>
          </p:cNvPr>
          <p:cNvSpPr>
            <a:spLocks xmlns:a="http://schemas.openxmlformats.org/drawingml/2006/main" noGrp="1"/>
          </p:cNvSpPr>
          <p:nvPr/>
        </p:nvSpPr>
        <p:spPr>
          <a:xfrm xmlns:a="http://schemas.openxmlformats.org/drawingml/2006/main">
            <a:off x="762000" y="3657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Synchronization</a:t>
            </a:r>
          </a:p>
        </p:txBody>
      </p:sp>
      <p:sp>
        <p:nvSpPr>
          <p:cNvPr id="12" name="body-2">
            <a:extLst xmlns:a="http://schemas.openxmlformats.org/drawingml/2006/main">
              <a:ext uri="{FF2B5EF4-FFF2-40B4-BE49-F238E27FC236}">
                <a16:creationId xmlns:a16="http://schemas.microsoft.com/office/drawing/2014/main" id="{0B62B4D7-328D-4C3C-970D-6D14485520F2}"/>
              </a:ext>
            </a:extLst>
          </p:cNvPr>
          <p:cNvSpPr>
            <a:spLocks xmlns:a="http://schemas.openxmlformats.org/drawingml/2006/main" noGrp="1"/>
          </p:cNvSpPr>
          <p:nvPr/>
        </p:nvSpPr>
        <p:spPr>
          <a:xfrm xmlns:a="http://schemas.openxmlformats.org/drawingml/2006/main">
            <a:off x="3448050" y="3657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Wait for the target to serve the same new records.</a:t>
            </a:r>
          </a:p>
        </p:txBody>
      </p:sp>
      <p:sp>
        <p:nvSpPr>
          <p:cNvPr id="13" name="label-3">
            <a:extLst xmlns:a="http://schemas.openxmlformats.org/drawingml/2006/main">
              <a:ext uri="{FF2B5EF4-FFF2-40B4-BE49-F238E27FC236}">
                <a16:creationId xmlns:a16="http://schemas.microsoft.com/office/drawing/2014/main" id="{F7F7EEE0-6C84-4AB6-A080-2209972BFBE6}"/>
              </a:ext>
            </a:extLst>
          </p:cNvPr>
          <p:cNvSpPr>
            <a:spLocks xmlns:a="http://schemas.openxmlformats.org/drawingml/2006/main" noGrp="1"/>
          </p:cNvSpPr>
          <p:nvPr/>
        </p:nvSpPr>
        <p:spPr>
          <a:xfrm xmlns:a="http://schemas.openxmlformats.org/drawingml/2006/main">
            <a:off x="762000" y="4610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Refresh</a:t>
            </a:r>
          </a:p>
        </p:txBody>
      </p:sp>
      <p:sp>
        <p:nvSpPr>
          <p:cNvPr id="14" name="body-3">
            <a:extLst xmlns:a="http://schemas.openxmlformats.org/drawingml/2006/main">
              <a:ext uri="{FF2B5EF4-FFF2-40B4-BE49-F238E27FC236}">
                <a16:creationId xmlns:a16="http://schemas.microsoft.com/office/drawing/2014/main" id="{970E043A-202B-42ED-8CF5-E1959885C394}"/>
              </a:ext>
            </a:extLst>
          </p:cNvPr>
          <p:cNvSpPr>
            <a:spLocks xmlns:a="http://schemas.openxmlformats.org/drawingml/2006/main" noGrp="1"/>
          </p:cNvSpPr>
          <p:nvPr/>
        </p:nvSpPr>
        <p:spPr>
          <a:xfrm xmlns:a="http://schemas.openxmlformats.org/drawingml/2006/main">
            <a:off x="3448050" y="4610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Send signed NOTIFY as supported, then run verification.</a:t>
            </a:r>
          </a:p>
        </p:txBody>
      </p:sp>
    </p:spTree>
    <p:extLst>
      <p:ext uri="{BB962C8B-B14F-4D97-AF65-F5344CB8AC3E}">
        <p14:creationId xmlns:p14="http://schemas.microsoft.com/office/powerpoint/2010/main" val="253211606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Signed target transfer capability and fresh OCI answers</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Phase 2: verification command</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844E025A-983C-6D44-79C6-4612AACD43FC}" type="slidenum">
              <a:rPr sz="900">
                <a:solidFill>
                  <a:srgbClr val="8B8580"/>
                </a:solidFill>
                <a:latin typeface="Oracle Sans Tab"/>
                <a:ea typeface="Oracle Sans Tab"/>
                <a:cs typeface="Oracle Sans Tab"/>
              </a:rPr>
              <a:t>20</a:t>
            </a:fld>
            <a:endParaRPr/>
          </a:p>
        </p:txBody>
      </p:sp>
      <p:sp>
        <p:nvSpPr>
          <p:cNvPr id="7" name="command">
            <a:extLst xmlns:a="http://schemas.openxmlformats.org/drawingml/2006/main">
              <a:ext uri="{FF2B5EF4-FFF2-40B4-BE49-F238E27FC236}">
                <a16:creationId xmlns:a16="http://schemas.microsoft.com/office/drawing/2014/main" id="{15E93C18-0AC5-4D47-B70F-5774A09BA7CF}"/>
              </a:ext>
            </a:extLst>
          </p:cNvPr>
          <p:cNvSpPr>
            <a:spLocks xmlns:a="http://schemas.openxmlformats.org/drawingml/2006/main" noGrp="1"/>
          </p:cNvSpPr>
          <p:nvPr/>
        </p:nvSpPr>
        <p:spPr>
          <a:xfrm xmlns:a="http://schemas.openxmlformats.org/drawingml/2006/main">
            <a:off x="762000" y="1762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python scripts/phase2_verify_upstream.py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  --config local/migration.json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  --marker YOUR_FRESH_PHASE2_MARKER</a:t>
            </a:r>
          </a:p>
        </p:txBody>
      </p:sp>
      <p:sp>
        <p:nvSpPr>
          <p:cNvPr id="8" name="command-result">
            <a:extLst xmlns:a="http://schemas.openxmlformats.org/drawingml/2006/main">
              <a:ext uri="{FF2B5EF4-FFF2-40B4-BE49-F238E27FC236}">
                <a16:creationId xmlns:a16="http://schemas.microsoft.com/office/drawing/2014/main" id="{EF8925AE-D29B-4096-A4B6-CEE27F2E9A98}"/>
              </a:ext>
            </a:extLst>
          </p:cNvPr>
          <p:cNvSpPr>
            <a:spLocks xmlns:a="http://schemas.openxmlformats.org/drawingml/2006/main" noGrp="1"/>
          </p:cNvSpPr>
          <p:nvPr/>
        </p:nvSpPr>
        <p:spPr>
          <a:xfrm xmlns:a="http://schemas.openxmlformats.org/drawingml/2006/main">
            <a:off x="762000" y="3676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Expected data result: capability-and-data-pass</a:t>
            </a:r>
          </a:p>
        </p:txBody>
      </p:sp>
      <p:sp>
        <p:nvSpPr>
          <p:cNvPr id="9" name="label-0">
            <a:extLst xmlns:a="http://schemas.openxmlformats.org/drawingml/2006/main">
              <a:ext uri="{FF2B5EF4-FFF2-40B4-BE49-F238E27FC236}">
                <a16:creationId xmlns:a16="http://schemas.microsoft.com/office/drawing/2014/main" id="{7F77DF67-C92E-4657-80F2-223AB01D7985}"/>
              </a:ext>
            </a:extLst>
          </p:cNvPr>
          <p:cNvSpPr>
            <a:spLocks xmlns:a="http://schemas.openxmlformats.org/drawingml/2006/main" noGrp="1"/>
          </p:cNvSpPr>
          <p:nvPr/>
        </p:nvSpPr>
        <p:spPr>
          <a:xfrm xmlns:a="http://schemas.openxmlformats.org/drawingml/2006/main">
            <a:off x="762000" y="4429125"/>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Target check</a:t>
            </a:r>
          </a:p>
        </p:txBody>
      </p:sp>
      <p:sp>
        <p:nvSpPr>
          <p:cNvPr id="10" name="body-0">
            <a:extLst xmlns:a="http://schemas.openxmlformats.org/drawingml/2006/main">
              <a:ext uri="{FF2B5EF4-FFF2-40B4-BE49-F238E27FC236}">
                <a16:creationId xmlns:a16="http://schemas.microsoft.com/office/drawing/2014/main" id="{C60802CC-E31D-4511-85BA-89A92B8D6AAC}"/>
              </a:ext>
            </a:extLst>
          </p:cNvPr>
          <p:cNvSpPr>
            <a:spLocks xmlns:a="http://schemas.openxmlformats.org/drawingml/2006/main" noGrp="1"/>
          </p:cNvSpPr>
          <p:nvPr/>
        </p:nvSpPr>
        <p:spPr>
          <a:xfrm xmlns:a="http://schemas.openxmlformats.org/drawingml/2006/main">
            <a:off x="3448050" y="4429125"/>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Signed AXFR uses each zone’s OCI TSIG resource.</a:t>
            </a:r>
          </a:p>
        </p:txBody>
      </p:sp>
      <p:sp>
        <p:nvSpPr>
          <p:cNvPr id="11" name="label-1">
            <a:extLst xmlns:a="http://schemas.openxmlformats.org/drawingml/2006/main">
              <a:ext uri="{FF2B5EF4-FFF2-40B4-BE49-F238E27FC236}">
                <a16:creationId xmlns:a16="http://schemas.microsoft.com/office/drawing/2014/main" id="{3A21712A-07A5-4239-A2E3-57613A5595C8}"/>
              </a:ext>
            </a:extLst>
          </p:cNvPr>
          <p:cNvSpPr>
            <a:spLocks xmlns:a="http://schemas.openxmlformats.org/drawingml/2006/main" noGrp="1"/>
          </p:cNvSpPr>
          <p:nvPr/>
        </p:nvSpPr>
        <p:spPr>
          <a:xfrm xmlns:a="http://schemas.openxmlformats.org/drawingml/2006/main">
            <a:off x="762000" y="5267325"/>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OCI check</a:t>
            </a:r>
          </a:p>
        </p:txBody>
      </p:sp>
      <p:sp>
        <p:nvSpPr>
          <p:cNvPr id="12" name="body-1">
            <a:extLst xmlns:a="http://schemas.openxmlformats.org/drawingml/2006/main">
              <a:ext uri="{FF2B5EF4-FFF2-40B4-BE49-F238E27FC236}">
                <a16:creationId xmlns:a16="http://schemas.microsoft.com/office/drawing/2014/main" id="{E47DD1AB-5743-434B-8BC5-94827E89A544}"/>
              </a:ext>
            </a:extLst>
          </p:cNvPr>
          <p:cNvSpPr>
            <a:spLocks xmlns:a="http://schemas.openxmlformats.org/drawingml/2006/main" noGrp="1"/>
          </p:cNvSpPr>
          <p:nvPr/>
        </p:nvSpPr>
        <p:spPr>
          <a:xfrm xmlns:a="http://schemas.openxmlformats.org/drawingml/2006/main">
            <a:off x="3448050" y="5267325"/>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Every assigned nameserver must match marker and SOA.</a:t>
            </a:r>
          </a:p>
        </p:txBody>
      </p:sp>
    </p:spTree>
    <p:extLst>
      <p:ext uri="{BB962C8B-B14F-4D97-AF65-F5344CB8AC3E}">
        <p14:creationId xmlns:p14="http://schemas.microsoft.com/office/powerpoint/2010/main" val="253211606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Different checks establish different facts</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Transfer evidence</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F6DF2BE2-2DFA-1C03-677D-BDC2260D6D92}" type="slidenum">
              <a:rPr sz="900">
                <a:solidFill>
                  <a:srgbClr val="8B8580"/>
                </a:solidFill>
                <a:latin typeface="Oracle Sans Tab"/>
                <a:ea typeface="Oracle Sans Tab"/>
                <a:cs typeface="Oracle Sans Tab"/>
              </a:rPr>
              <a:t>21</a:t>
            </a:fld>
            <a:endParaRPr/>
          </a:p>
        </p:txBody>
      </p:sp>
      <p:graphicFrame>
        <p:nvGraphicFramePr>
          <p:cNvPr id="7" name="">
            <a:extLst xmlns:a="http://schemas.openxmlformats.org/drawingml/2006/main">
              <a:ext uri="{FF2B5EF4-FFF2-40B4-BE49-F238E27FC236}">
                <a16:creationId xmlns:a16="http://schemas.microsoft.com/office/drawing/2014/main" id="{C3075132-6929-4DA1-A258-C8EA77BC5EAD}"/>
              </a:ext>
            </a:extLst>
          </p:cNvPr>
          <p:cNvGraphicFramePr/>
          <p:nvPr/>
        </p:nvGraphicFramePr>
        <p:xfrm>
          <a:off xmlns:a="http://schemas.openxmlformats.org/drawingml/2006/main" x="762000" y="1714500"/>
          <a:ext xmlns:a="http://schemas.openxmlformats.org/drawingml/2006/main" cx="10668000" cy="3905250"/>
        </p:xfrm>
        <a:graphic xmlns:a="http://schemas.openxmlformats.org/drawingml/2006/main">
          <a:graphicData uri="http://schemas.openxmlformats.org/drawingml/2006/table">
            <a:tbl>
              <a:tblPr/>
              <a:tblGrid>
                <a:gridCol w="3333750"/>
                <a:gridCol w="7334250"/>
              </a:tblGrid>
              <a:tr h="781050">
                <a:tc>
                  <a:txBody>
                    <a:bodyPr>
                      <a:noAutofit/>
                    </a:bodyPr>
                    <a:lstStyle/>
                    <a:p>
                      <a:r>
                        <a:rPr sz="2000" b="1">
                          <a:solidFill>
                            <a:srgbClr val="312D2A"/>
                          </a:solidFill>
                          <a:latin typeface="Oracle Sans Tab"/>
                          <a:ea typeface="Oracle Sans Tab"/>
                          <a:cs typeface="Oracle Sans Tab"/>
                        </a:rPr>
                        <a:t>Check</a:t>
                      </a:r>
                    </a:p>
                  </a:txBody>
                  <a:tcPr marL="91440" marR="91440" marT="45720" marB="45720">
                    <a:lnL w="6668">
                      <a:solidFill>
                        <a:srgbClr val="D9D4CF"/>
                      </a:solidFill>
                      <a:prstDash val="solid"/>
                    </a:lnL>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c>
                  <a:txBody>
                    <a:bodyPr>
                      <a:noAutofit/>
                    </a:bodyPr>
                    <a:lstStyle/>
                    <a:p>
                      <a:r>
                        <a:rPr sz="2000" b="1">
                          <a:solidFill>
                            <a:srgbClr val="312D2A"/>
                          </a:solidFill>
                          <a:latin typeface="Oracle Sans Tab"/>
                          <a:ea typeface="Oracle Sans Tab"/>
                          <a:cs typeface="Oracle Sans Tab"/>
                        </a:rPr>
                        <a:t>Evidence</a:t>
                      </a:r>
                    </a:p>
                  </a:txBody>
                  <a:tcPr marL="91440" marR="91440" marT="45720" marB="45720">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r>
              <a:tr h="781050">
                <a:tc>
                  <a:txBody>
                    <a:bodyPr>
                      <a:noAutofit/>
                    </a:bodyPr>
                    <a:lstStyle/>
                    <a:p>
                      <a:r>
                        <a:rPr sz="2000" b="0">
                          <a:solidFill>
                            <a:srgbClr val="312D2A"/>
                          </a:solidFill>
                          <a:latin typeface="Oracle Sans Tab"/>
                          <a:ea typeface="Oracle Sans Tab"/>
                          <a:cs typeface="Oracle Sans Tab"/>
                        </a:rPr>
                        <a:t>OCI API read-back</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The intended upstream configuration is active</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Operator signed AXFR</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The target can serve an authenticated transfer</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Fresh SOA and TXT</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Target and OCI authoritative contents match</a:t>
                      </a:r>
                    </a:p>
                  </a:txBody>
                  <a:tcPr marL="91440" marR="91440" marT="45720" marB="45720">
                    <a:lnR w="6668">
                      <a:solidFill>
                        <a:srgbClr val="D9D4CF"/>
                      </a:solidFill>
                      <a:prstDash val="solid"/>
                    </a:lnR>
                    <a:lnB w="6668">
                      <a:solidFill>
                        <a:srgbClr val="D9D4CF"/>
                      </a:solidFill>
                      <a:prstDash val="solid"/>
                    </a:lnB>
                    <a:solidFill>
                      <a:srgbClr val="FCFBFA"/>
                    </a:solidFill>
                  </a:tcPr>
                </a:tc>
              </a:tr>
              <a:tr h="781050">
                <a:tc>
                  <a:txBody>
                    <a:bodyPr>
                      <a:noAutofit/>
                    </a:bodyPr>
                    <a:lstStyle/>
                    <a:p>
                      <a:r>
                        <a:rPr sz="2000" b="0">
                          <a:solidFill>
                            <a:srgbClr val="312D2A"/>
                          </a:solidFill>
                          <a:latin typeface="Oracle Sans Tab"/>
                          <a:ea typeface="Oracle Sans Tab"/>
                          <a:cs typeface="Oracle Sans Tab"/>
                        </a:rPr>
                        <a:t>Completed target transfer log</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2000" b="0">
                          <a:solidFill>
                            <a:srgbClr val="312D2A"/>
                          </a:solidFill>
                          <a:latin typeface="Oracle Sans Tab"/>
                          <a:ea typeface="Oracle Sans Tab"/>
                          <a:cs typeface="Oracle Sans Tab"/>
                        </a:rPr>
                        <a:t>OCI fetched that serial from the target</a:t>
                      </a:r>
                    </a:p>
                  </a:txBody>
                  <a:tcPr marL="91440" marR="91440" marT="45720" marB="45720">
                    <a:lnR w="6668">
                      <a:solidFill>
                        <a:srgbClr val="D9D4CF"/>
                      </a:solidFill>
                      <a:prstDash val="solid"/>
                    </a:lnR>
                    <a:lnB w="6668">
                      <a:solidFill>
                        <a:srgbClr val="D9D4CF"/>
                      </a:solidFill>
                      <a:prstDash val="solid"/>
                    </a:lnB>
                    <a:solidFill>
                      <a:srgbClr val="FCFBFA"/>
                    </a:solidFill>
                  </a:tcPr>
                </a:tc>
              </a:tr>
            </a:tbl>
          </a:graphicData>
        </a:graphic>
      </p:graphicFrame>
    </p:spTree>
    <p:extLst>
      <p:ext uri="{BB962C8B-B14F-4D97-AF65-F5344CB8AC3E}">
        <p14:creationId xmlns:p14="http://schemas.microsoft.com/office/powerpoint/2010/main" val="25321160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Overlap requires consistent source and target data</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OCI upstream selection</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0BB18BA8-60F4-C50D-CD9B-1BB87D3E8506}" type="slidenum">
              <a:rPr sz="900">
                <a:solidFill>
                  <a:srgbClr val="8B8580"/>
                </a:solidFill>
                <a:latin typeface="Oracle Sans Tab"/>
                <a:ea typeface="Oracle Sans Tab"/>
                <a:cs typeface="Oracle Sans Tab"/>
              </a:rPr>
              <a:t>22</a:t>
            </a:fld>
            <a:endParaRPr/>
          </a:p>
        </p:txBody>
      </p:sp>
      <p:sp>
        <p:nvSpPr>
          <p:cNvPr id="7" name="label-0">
            <a:extLst xmlns:a="http://schemas.openxmlformats.org/drawingml/2006/main">
              <a:ext uri="{FF2B5EF4-FFF2-40B4-BE49-F238E27FC236}">
                <a16:creationId xmlns:a16="http://schemas.microsoft.com/office/drawing/2014/main" id="{3E756E5E-FEAC-4C08-B31F-3BB705FE909F}"/>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Both addresses</a:t>
            </a:r>
          </a:p>
        </p:txBody>
      </p:sp>
      <p:sp>
        <p:nvSpPr>
          <p:cNvPr id="8" name="body-0">
            <a:extLst xmlns:a="http://schemas.openxmlformats.org/drawingml/2006/main">
              <a:ext uri="{FF2B5EF4-FFF2-40B4-BE49-F238E27FC236}">
                <a16:creationId xmlns:a16="http://schemas.microsoft.com/office/drawing/2014/main" id="{930A012D-EB7A-4614-BCFE-A0EC556FEB4B}"/>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Treat both configured upstreams as eligible transfer sources.</a:t>
            </a:r>
          </a:p>
        </p:txBody>
      </p:sp>
      <p:sp>
        <p:nvSpPr>
          <p:cNvPr id="9" name="label-1">
            <a:extLst xmlns:a="http://schemas.openxmlformats.org/drawingml/2006/main">
              <a:ext uri="{FF2B5EF4-FFF2-40B4-BE49-F238E27FC236}">
                <a16:creationId xmlns:a16="http://schemas.microsoft.com/office/drawing/2014/main" id="{5AC994D5-3791-4302-9A07-7F44D6A8010E}"/>
              </a:ext>
            </a:extLst>
          </p:cNvPr>
          <p:cNvSpPr>
            <a:spLocks xmlns:a="http://schemas.openxmlformats.org/drawingml/2006/main" noGrp="1"/>
          </p:cNvSpPr>
          <p:nvPr/>
        </p:nvSpPr>
        <p:spPr>
          <a:xfrm xmlns:a="http://schemas.openxmlformats.org/drawingml/2006/main">
            <a:off x="762000" y="2705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List order</a:t>
            </a:r>
          </a:p>
        </p:txBody>
      </p:sp>
      <p:sp>
        <p:nvSpPr>
          <p:cNvPr id="10" name="body-1">
            <a:extLst xmlns:a="http://schemas.openxmlformats.org/drawingml/2006/main">
              <a:ext uri="{FF2B5EF4-FFF2-40B4-BE49-F238E27FC236}">
                <a16:creationId xmlns:a16="http://schemas.microsoft.com/office/drawing/2014/main" id="{90003EF7-7EFA-42B5-ABF4-419F2550D382}"/>
              </a:ext>
            </a:extLst>
          </p:cNvPr>
          <p:cNvSpPr>
            <a:spLocks xmlns:a="http://schemas.openxmlformats.org/drawingml/2006/main" noGrp="1"/>
          </p:cNvSpPr>
          <p:nvPr/>
        </p:nvSpPr>
        <p:spPr>
          <a:xfrm xmlns:a="http://schemas.openxmlformats.org/drawingml/2006/main">
            <a:off x="3448050" y="2705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Use transfer telemetry to establish the actual selected source.</a:t>
            </a:r>
          </a:p>
        </p:txBody>
      </p:sp>
      <p:sp>
        <p:nvSpPr>
          <p:cNvPr id="11" name="label-2">
            <a:extLst xmlns:a="http://schemas.openxmlformats.org/drawingml/2006/main">
              <a:ext uri="{FF2B5EF4-FFF2-40B4-BE49-F238E27FC236}">
                <a16:creationId xmlns:a16="http://schemas.microsoft.com/office/drawing/2014/main" id="{524B19E5-525D-4FAA-A61B-A30737051B5B}"/>
              </a:ext>
            </a:extLst>
          </p:cNvPr>
          <p:cNvSpPr>
            <a:spLocks xmlns:a="http://schemas.openxmlformats.org/drawingml/2006/main" noGrp="1"/>
          </p:cNvSpPr>
          <p:nvPr/>
        </p:nvSpPr>
        <p:spPr>
          <a:xfrm xmlns:a="http://schemas.openxmlformats.org/drawingml/2006/main">
            <a:off x="762000" y="3657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NOTIFY sender</a:t>
            </a:r>
          </a:p>
        </p:txBody>
      </p:sp>
      <p:sp>
        <p:nvSpPr>
          <p:cNvPr id="12" name="body-2">
            <a:extLst xmlns:a="http://schemas.openxmlformats.org/drawingml/2006/main">
              <a:ext uri="{FF2B5EF4-FFF2-40B4-BE49-F238E27FC236}">
                <a16:creationId xmlns:a16="http://schemas.microsoft.com/office/drawing/2014/main" id="{1584AD88-9F81-4F4A-ABB8-B88DF1896B61}"/>
              </a:ext>
            </a:extLst>
          </p:cNvPr>
          <p:cNvSpPr>
            <a:spLocks xmlns:a="http://schemas.openxmlformats.org/drawingml/2006/main" noGrp="1"/>
          </p:cNvSpPr>
          <p:nvPr/>
        </p:nvSpPr>
        <p:spPr>
          <a:xfrm xmlns:a="http://schemas.openxmlformats.org/drawingml/2006/main">
            <a:off x="3448050" y="3657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A notification requests a refresh without proving target usage.</a:t>
            </a:r>
          </a:p>
        </p:txBody>
      </p:sp>
      <p:sp>
        <p:nvSpPr>
          <p:cNvPr id="13" name="label-3">
            <a:extLst xmlns:a="http://schemas.openxmlformats.org/drawingml/2006/main">
              <a:ext uri="{FF2B5EF4-FFF2-40B4-BE49-F238E27FC236}">
                <a16:creationId xmlns:a16="http://schemas.microsoft.com/office/drawing/2014/main" id="{034D4693-9160-4A38-A9C9-908270E2FF65}"/>
              </a:ext>
            </a:extLst>
          </p:cNvPr>
          <p:cNvSpPr>
            <a:spLocks xmlns:a="http://schemas.openxmlformats.org/drawingml/2006/main" noGrp="1"/>
          </p:cNvSpPr>
          <p:nvPr/>
        </p:nvSpPr>
        <p:spPr>
          <a:xfrm xmlns:a="http://schemas.openxmlformats.org/drawingml/2006/main">
            <a:off x="762000" y="4610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Target-only stage</a:t>
            </a:r>
          </a:p>
        </p:txBody>
      </p:sp>
      <p:sp>
        <p:nvSpPr>
          <p:cNvPr id="14" name="body-3">
            <a:extLst xmlns:a="http://schemas.openxmlformats.org/drawingml/2006/main">
              <a:ext uri="{FF2B5EF4-FFF2-40B4-BE49-F238E27FC236}">
                <a16:creationId xmlns:a16="http://schemas.microsoft.com/office/drawing/2014/main" id="{05419240-9CE2-4101-9C85-33244AB9FC93}"/>
              </a:ext>
            </a:extLst>
          </p:cNvPr>
          <p:cNvSpPr>
            <a:spLocks xmlns:a="http://schemas.openxmlformats.org/drawingml/2006/main" noGrp="1"/>
          </p:cNvSpPr>
          <p:nvPr/>
        </p:nvSpPr>
        <p:spPr>
          <a:xfrm xmlns:a="http://schemas.openxmlformats.org/drawingml/2006/main">
            <a:off x="3448050" y="4610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New records and target logs provide the final transfer gate.</a:t>
            </a:r>
          </a:p>
        </p:txBody>
      </p:sp>
    </p:spTree>
    <p:extLst>
      <p:ext uri="{BB962C8B-B14F-4D97-AF65-F5344CB8AC3E}">
        <p14:creationId xmlns:p14="http://schemas.microsoft.com/office/powerpoint/2010/main" val="253211606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Source removal follows the reviewed verification gate</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Phase 3: preview and apply</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A4E99CEF-AF55-BA3C-ADF8-4E52E186DD8F}" type="slidenum">
              <a:rPr sz="900">
                <a:solidFill>
                  <a:srgbClr val="8B8580"/>
                </a:solidFill>
                <a:latin typeface="Oracle Sans Tab"/>
                <a:ea typeface="Oracle Sans Tab"/>
                <a:cs typeface="Oracle Sans Tab"/>
              </a:rPr>
              <a:t>23</a:t>
            </a:fld>
            <a:endParaRPr/>
          </a:p>
        </p:txBody>
      </p:sp>
      <p:sp>
        <p:nvSpPr>
          <p:cNvPr id="7" name="preview-label">
            <a:extLst xmlns:a="http://schemas.openxmlformats.org/drawingml/2006/main">
              <a:ext uri="{FF2B5EF4-FFF2-40B4-BE49-F238E27FC236}">
                <a16:creationId xmlns:a16="http://schemas.microsoft.com/office/drawing/2014/main" id="{601274ED-B031-4A11-B09E-FA14A33B7EA7}"/>
              </a:ext>
            </a:extLst>
          </p:cNvPr>
          <p:cNvSpPr>
            <a:spLocks xmlns:a="http://schemas.openxmlformats.org/drawingml/2006/main" noGrp="1"/>
          </p:cNvSpPr>
          <p:nvPr/>
        </p:nvSpPr>
        <p:spPr>
          <a:xfrm xmlns:a="http://schemas.openxmlformats.org/drawingml/2006/main">
            <a:off x="762000" y="17240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Preview</a:t>
            </a:r>
          </a:p>
        </p:txBody>
      </p:sp>
      <p:sp>
        <p:nvSpPr>
          <p:cNvPr id="8" name="command">
            <a:extLst xmlns:a="http://schemas.openxmlformats.org/drawingml/2006/main">
              <a:ext uri="{FF2B5EF4-FFF2-40B4-BE49-F238E27FC236}">
                <a16:creationId xmlns:a16="http://schemas.microsoft.com/office/drawing/2014/main" id="{5EA72130-B0E3-4AE3-9E3B-8CACD1CC6B28}"/>
              </a:ext>
            </a:extLst>
          </p:cNvPr>
          <p:cNvSpPr>
            <a:spLocks xmlns:a="http://schemas.openxmlformats.org/drawingml/2006/main" noGrp="1"/>
          </p:cNvSpPr>
          <p:nvPr/>
        </p:nvSpPr>
        <p:spPr>
          <a:xfrm xmlns:a="http://schemas.openxmlformats.org/drawingml/2006/main">
            <a:off x="762000" y="22098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python scripts/phase3_remove_upstream.py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  --config local/migration.json</a:t>
            </a:r>
          </a:p>
        </p:txBody>
      </p:sp>
      <p:sp>
        <p:nvSpPr>
          <p:cNvPr id="9" name="apply-label">
            <a:extLst xmlns:a="http://schemas.openxmlformats.org/drawingml/2006/main">
              <a:ext uri="{FF2B5EF4-FFF2-40B4-BE49-F238E27FC236}">
                <a16:creationId xmlns:a16="http://schemas.microsoft.com/office/drawing/2014/main" id="{5319507B-E53F-45B4-89E4-E15AD9839165}"/>
              </a:ext>
            </a:extLst>
          </p:cNvPr>
          <p:cNvSpPr>
            <a:spLocks xmlns:a="http://schemas.openxmlformats.org/drawingml/2006/main" noGrp="1"/>
          </p:cNvSpPr>
          <p:nvPr/>
        </p:nvSpPr>
        <p:spPr>
          <a:xfrm xmlns:a="http://schemas.openxmlformats.org/drawingml/2006/main">
            <a:off x="762000" y="3429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Apply after review</a:t>
            </a:r>
          </a:p>
        </p:txBody>
      </p:sp>
      <p:sp>
        <p:nvSpPr>
          <p:cNvPr id="10" name="command">
            <a:extLst xmlns:a="http://schemas.openxmlformats.org/drawingml/2006/main">
              <a:ext uri="{FF2B5EF4-FFF2-40B4-BE49-F238E27FC236}">
                <a16:creationId xmlns:a16="http://schemas.microsoft.com/office/drawing/2014/main" id="{DE247D78-C5DF-4B0A-8D6E-788DB36DB277}"/>
              </a:ext>
            </a:extLst>
          </p:cNvPr>
          <p:cNvSpPr>
            <a:spLocks xmlns:a="http://schemas.openxmlformats.org/drawingml/2006/main" noGrp="1"/>
          </p:cNvSpPr>
          <p:nvPr/>
        </p:nvSpPr>
        <p:spPr>
          <a:xfrm xmlns:a="http://schemas.openxmlformats.org/drawingml/2006/main">
            <a:off x="762000" y="391477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python scripts/phase3_remove_upstream.py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  --config local/migration.json --apply</a:t>
            </a:r>
          </a:p>
        </p:txBody>
      </p:sp>
      <p:sp>
        <p:nvSpPr>
          <p:cNvPr id="11" name="action-gate">
            <a:extLst xmlns:a="http://schemas.openxmlformats.org/drawingml/2006/main">
              <a:ext uri="{FF2B5EF4-FFF2-40B4-BE49-F238E27FC236}">
                <a16:creationId xmlns:a16="http://schemas.microsoft.com/office/drawing/2014/main" id="{735B1D9A-5468-495D-BFC0-127FB455B707}"/>
              </a:ext>
            </a:extLst>
          </p:cNvPr>
          <p:cNvSpPr>
            <a:spLocks xmlns:a="http://schemas.openxmlformats.org/drawingml/2006/main" noGrp="1"/>
          </p:cNvSpPr>
          <p:nvPr/>
        </p:nvSpPr>
        <p:spPr>
          <a:xfrm xmlns:a="http://schemas.openxmlformats.org/drawingml/2006/main">
            <a:off x="762000" y="5381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6B625C"/>
                </a:solidFill>
                <a:latin typeface="Oracle Sans Tab"/>
                <a:ea typeface="Oracle Sans Tab"/>
                <a:cs typeface="Oracle Sans Tab"/>
              </a:defRPr>
            </a:defPPr>
          </a:lstStyle>
          <a:p xmlns:a="http://schemas.openxmlformats.org/drawingml/2006/main">
            <a:pPr>
              <a:defRPr sz="2000" b="0">
                <a:solidFill>
                  <a:srgbClr val="6B625C"/>
                </a:solidFill>
                <a:latin typeface="Oracle Sans Tab"/>
                <a:ea typeface="Oracle Sans Tab"/>
                <a:cs typeface="Oracle Sans Tab"/>
              </a:defRPr>
            </a:pPr>
            <a:r>
              <a:rPr sz="2000" b="0">
                <a:solidFill>
                  <a:srgbClr val="6B625C"/>
                </a:solidFill>
                <a:latin typeface="Oracle Sans Tab"/>
                <a:ea typeface="Oracle Sans Tab"/>
                <a:cs typeface="Oracle Sans Tab"/>
              </a:rPr>
              <a:t>The target and unrelated upstream entries remain.</a:t>
            </a:r>
          </a:p>
        </p:txBody>
      </p:sp>
    </p:spTree>
    <p:extLst>
      <p:ext uri="{BB962C8B-B14F-4D97-AF65-F5344CB8AC3E}">
        <p14:creationId xmlns:p14="http://schemas.microsoft.com/office/powerpoint/2010/main" val="253211606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A second unique marker confirms the post-removal state</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Phase 3: fresh verification</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4A59AF09-D197-0193-A7DE-FAAF0B691058}" type="slidenum">
              <a:rPr sz="900">
                <a:solidFill>
                  <a:srgbClr val="8B8580"/>
                </a:solidFill>
                <a:latin typeface="Oracle Sans Tab"/>
                <a:ea typeface="Oracle Sans Tab"/>
                <a:cs typeface="Oracle Sans Tab"/>
              </a:rPr>
              <a:t>24</a:t>
            </a:fld>
            <a:endParaRPr/>
          </a:p>
        </p:txBody>
      </p:sp>
      <p:sp>
        <p:nvSpPr>
          <p:cNvPr id="7" name="command">
            <a:extLst xmlns:a="http://schemas.openxmlformats.org/drawingml/2006/main">
              <a:ext uri="{FF2B5EF4-FFF2-40B4-BE49-F238E27FC236}">
                <a16:creationId xmlns:a16="http://schemas.microsoft.com/office/drawing/2014/main" id="{0D440F60-835C-4166-9225-DBB7DF77FCA7}"/>
              </a:ext>
            </a:extLst>
          </p:cNvPr>
          <p:cNvSpPr>
            <a:spLocks xmlns:a="http://schemas.openxmlformats.org/drawingml/2006/main" noGrp="1"/>
          </p:cNvSpPr>
          <p:nvPr/>
        </p:nvSpPr>
        <p:spPr>
          <a:xfrm xmlns:a="http://schemas.openxmlformats.org/drawingml/2006/main">
            <a:off x="762000" y="1762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python scripts/phase3_verify_target.py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  --config local/migration.json \</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  --marker YOUR_FRESH_PHASE3_MARKER</a:t>
            </a:r>
          </a:p>
        </p:txBody>
      </p:sp>
      <p:sp>
        <p:nvSpPr>
          <p:cNvPr id="8" name="command-result">
            <a:extLst xmlns:a="http://schemas.openxmlformats.org/drawingml/2006/main">
              <a:ext uri="{FF2B5EF4-FFF2-40B4-BE49-F238E27FC236}">
                <a16:creationId xmlns:a16="http://schemas.microsoft.com/office/drawing/2014/main" id="{B544EE4D-51E4-453D-8245-083D379E4A5D}"/>
              </a:ext>
            </a:extLst>
          </p:cNvPr>
          <p:cNvSpPr>
            <a:spLocks xmlns:a="http://schemas.openxmlformats.org/drawingml/2006/main" noGrp="1"/>
          </p:cNvSpPr>
          <p:nvPr/>
        </p:nvSpPr>
        <p:spPr>
          <a:xfrm xmlns:a="http://schemas.openxmlformats.org/drawingml/2006/main">
            <a:off x="762000" y="3676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Default requirement: source absent and target as sole upstream.</a:t>
            </a:r>
          </a:p>
        </p:txBody>
      </p:sp>
      <p:sp>
        <p:nvSpPr>
          <p:cNvPr id="9" name="label-0">
            <a:extLst xmlns:a="http://schemas.openxmlformats.org/drawingml/2006/main">
              <a:ext uri="{FF2B5EF4-FFF2-40B4-BE49-F238E27FC236}">
                <a16:creationId xmlns:a16="http://schemas.microsoft.com/office/drawing/2014/main" id="{7B2CE5F3-BFBD-4C8E-AC28-C92BB8441EEA}"/>
              </a:ext>
            </a:extLst>
          </p:cNvPr>
          <p:cNvSpPr>
            <a:spLocks xmlns:a="http://schemas.openxmlformats.org/drawingml/2006/main" noGrp="1"/>
          </p:cNvSpPr>
          <p:nvPr/>
        </p:nvSpPr>
        <p:spPr>
          <a:xfrm xmlns:a="http://schemas.openxmlformats.org/drawingml/2006/main">
            <a:off x="762000" y="4429125"/>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New data</a:t>
            </a:r>
          </a:p>
        </p:txBody>
      </p:sp>
      <p:sp>
        <p:nvSpPr>
          <p:cNvPr id="10" name="body-0">
            <a:extLst xmlns:a="http://schemas.openxmlformats.org/drawingml/2006/main">
              <a:ext uri="{FF2B5EF4-FFF2-40B4-BE49-F238E27FC236}">
                <a16:creationId xmlns:a16="http://schemas.microsoft.com/office/drawing/2014/main" id="{4A7F4D18-0140-4F83-A54D-E69B420837CC}"/>
              </a:ext>
            </a:extLst>
          </p:cNvPr>
          <p:cNvSpPr>
            <a:spLocks xmlns:a="http://schemas.openxmlformats.org/drawingml/2006/main" noGrp="1"/>
          </p:cNvSpPr>
          <p:nvPr/>
        </p:nvSpPr>
        <p:spPr>
          <a:xfrm xmlns:a="http://schemas.openxmlformats.org/drawingml/2006/main">
            <a:off x="3448050" y="4429125"/>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Publish another marker and higher serial before this check.</a:t>
            </a:r>
          </a:p>
        </p:txBody>
      </p:sp>
      <p:sp>
        <p:nvSpPr>
          <p:cNvPr id="11" name="label-1">
            <a:extLst xmlns:a="http://schemas.openxmlformats.org/drawingml/2006/main">
              <a:ext uri="{FF2B5EF4-FFF2-40B4-BE49-F238E27FC236}">
                <a16:creationId xmlns:a16="http://schemas.microsoft.com/office/drawing/2014/main" id="{0E57BCF6-BE7B-47A0-8648-D38A9AD8C1C4}"/>
              </a:ext>
            </a:extLst>
          </p:cNvPr>
          <p:cNvSpPr>
            <a:spLocks xmlns:a="http://schemas.openxmlformats.org/drawingml/2006/main" noGrp="1"/>
          </p:cNvSpPr>
          <p:nvPr/>
        </p:nvSpPr>
        <p:spPr>
          <a:xfrm xmlns:a="http://schemas.openxmlformats.org/drawingml/2006/main">
            <a:off x="762000" y="5267325"/>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Transfer proof</a:t>
            </a:r>
          </a:p>
        </p:txBody>
      </p:sp>
      <p:sp>
        <p:nvSpPr>
          <p:cNvPr id="12" name="body-1">
            <a:extLst xmlns:a="http://schemas.openxmlformats.org/drawingml/2006/main">
              <a:ext uri="{FF2B5EF4-FFF2-40B4-BE49-F238E27FC236}">
                <a16:creationId xmlns:a16="http://schemas.microsoft.com/office/drawing/2014/main" id="{BBBA3871-CE89-4589-9151-DC8B6129A851}"/>
              </a:ext>
            </a:extLst>
          </p:cNvPr>
          <p:cNvSpPr>
            <a:spLocks xmlns:a="http://schemas.openxmlformats.org/drawingml/2006/main" noGrp="1"/>
          </p:cNvSpPr>
          <p:nvPr/>
        </p:nvSpPr>
        <p:spPr>
          <a:xfrm xmlns:a="http://schemas.openxmlformats.org/drawingml/2006/main">
            <a:off x="3448050" y="5267325"/>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Add target logs for data-and-transfer-pass.</a:t>
            </a:r>
          </a:p>
        </p:txBody>
      </p:sp>
    </p:spTree>
    <p:extLst>
      <p:ext uri="{BB962C8B-B14F-4D97-AF65-F5344CB8AC3E}">
        <p14:creationId xmlns:p14="http://schemas.microsoft.com/office/powerpoint/2010/main" val="25321160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The detailed sequence is in docs/MAC_TERMINAL.md</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Mac terminal rehearsal</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F3AE1AE4-D79E-94D6-E825-3FC6C21A77D2}" type="slidenum">
              <a:rPr sz="900">
                <a:solidFill>
                  <a:srgbClr val="8B8580"/>
                </a:solidFill>
                <a:latin typeface="Oracle Sans Tab"/>
                <a:ea typeface="Oracle Sans Tab"/>
                <a:cs typeface="Oracle Sans Tab"/>
              </a:rPr>
              <a:t>25</a:t>
            </a:fld>
            <a:endParaRPr/>
          </a:p>
        </p:txBody>
      </p:sp>
      <p:sp>
        <p:nvSpPr>
          <p:cNvPr id="7" name="command">
            <a:extLst xmlns:a="http://schemas.openxmlformats.org/drawingml/2006/main">
              <a:ext uri="{FF2B5EF4-FFF2-40B4-BE49-F238E27FC236}">
                <a16:creationId xmlns:a16="http://schemas.microsoft.com/office/drawing/2014/main" id="{31363565-E448-4533-8D5C-F92D0645158C}"/>
              </a:ext>
            </a:extLst>
          </p:cNvPr>
          <p:cNvSpPr>
            <a:spLocks xmlns:a="http://schemas.openxmlformats.org/drawingml/2006/main" noGrp="1"/>
          </p:cNvSpPr>
          <p:nvPr/>
        </p:nvSpPr>
        <p:spPr>
          <a:xfrm xmlns:a="http://schemas.openxmlformats.org/drawingml/2006/main">
            <a:off x="762000" y="1762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cd /path/to/oci-dns-bulk-upstreams</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source .venv/bin/activate</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python -m unittest discover -s tests -v</a:t>
            </a:r>
          </a:p>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nc -vz -G 5 TARGET_IP 53</a:t>
            </a:r>
          </a:p>
        </p:txBody>
      </p:sp>
      <p:sp>
        <p:nvSpPr>
          <p:cNvPr id="8" name="command-result">
            <a:extLst xmlns:a="http://schemas.openxmlformats.org/drawingml/2006/main">
              <a:ext uri="{FF2B5EF4-FFF2-40B4-BE49-F238E27FC236}">
                <a16:creationId xmlns:a16="http://schemas.microsoft.com/office/drawing/2014/main" id="{97D06F11-C58E-4CF5-B726-B7E7B1F5DC5B}"/>
              </a:ext>
            </a:extLst>
          </p:cNvPr>
          <p:cNvSpPr>
            <a:spLocks xmlns:a="http://schemas.openxmlformats.org/drawingml/2006/main" noGrp="1"/>
          </p:cNvSpPr>
          <p:nvPr/>
        </p:nvSpPr>
        <p:spPr>
          <a:xfrm xmlns:a="http://schemas.openxmlformats.org/drawingml/2006/main">
            <a:off x="762000" y="3676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Use a private customer configuration and review each preview.</a:t>
            </a:r>
          </a:p>
        </p:txBody>
      </p:sp>
      <p:sp>
        <p:nvSpPr>
          <p:cNvPr id="9" name="label-0">
            <a:extLst xmlns:a="http://schemas.openxmlformats.org/drawingml/2006/main">
              <a:ext uri="{FF2B5EF4-FFF2-40B4-BE49-F238E27FC236}">
                <a16:creationId xmlns:a16="http://schemas.microsoft.com/office/drawing/2014/main" id="{73FB2897-83B8-417B-A6B0-8512518F5D09}"/>
              </a:ext>
            </a:extLst>
          </p:cNvPr>
          <p:cNvSpPr>
            <a:spLocks xmlns:a="http://schemas.openxmlformats.org/drawingml/2006/main" noGrp="1"/>
          </p:cNvSpPr>
          <p:nvPr/>
        </p:nvSpPr>
        <p:spPr>
          <a:xfrm xmlns:a="http://schemas.openxmlformats.org/drawingml/2006/main">
            <a:off x="762000" y="4429125"/>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Configuration</a:t>
            </a:r>
          </a:p>
        </p:txBody>
      </p:sp>
      <p:sp>
        <p:nvSpPr>
          <p:cNvPr id="10" name="body-0">
            <a:extLst xmlns:a="http://schemas.openxmlformats.org/drawingml/2006/main">
              <a:ext uri="{FF2B5EF4-FFF2-40B4-BE49-F238E27FC236}">
                <a16:creationId xmlns:a16="http://schemas.microsoft.com/office/drawing/2014/main" id="{7F2F7F2A-17A2-4775-B95A-F8C39AC1279B}"/>
              </a:ext>
            </a:extLst>
          </p:cNvPr>
          <p:cNvSpPr>
            <a:spLocks xmlns:a="http://schemas.openxmlformats.org/drawingml/2006/main" noGrp="1"/>
          </p:cNvSpPr>
          <p:nvPr/>
        </p:nvSpPr>
        <p:spPr>
          <a:xfrm xmlns:a="http://schemas.openxmlformats.org/drawingml/2006/main">
            <a:off x="3448050" y="4429125"/>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Compartment, region, profile, IPs and selection are customer inputs.</a:t>
            </a:r>
          </a:p>
        </p:txBody>
      </p:sp>
      <p:sp>
        <p:nvSpPr>
          <p:cNvPr id="11" name="label-1">
            <a:extLst xmlns:a="http://schemas.openxmlformats.org/drawingml/2006/main">
              <a:ext uri="{FF2B5EF4-FFF2-40B4-BE49-F238E27FC236}">
                <a16:creationId xmlns:a16="http://schemas.microsoft.com/office/drawing/2014/main" id="{D5E80BAE-E29C-4152-B290-E46250754D12}"/>
              </a:ext>
            </a:extLst>
          </p:cNvPr>
          <p:cNvSpPr>
            <a:spLocks xmlns:a="http://schemas.openxmlformats.org/drawingml/2006/main" noGrp="1"/>
          </p:cNvSpPr>
          <p:nvPr/>
        </p:nvSpPr>
        <p:spPr>
          <a:xfrm xmlns:a="http://schemas.openxmlformats.org/drawingml/2006/main">
            <a:off x="762000" y="5267325"/>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Connectivity</a:t>
            </a:r>
          </a:p>
        </p:txBody>
      </p:sp>
      <p:sp>
        <p:nvSpPr>
          <p:cNvPr id="12" name="body-1">
            <a:extLst xmlns:a="http://schemas.openxmlformats.org/drawingml/2006/main">
              <a:ext uri="{FF2B5EF4-FFF2-40B4-BE49-F238E27FC236}">
                <a16:creationId xmlns:a16="http://schemas.microsoft.com/office/drawing/2014/main" id="{B37B79B2-35E7-4493-92FF-B5C121800FEE}"/>
              </a:ext>
            </a:extLst>
          </p:cNvPr>
          <p:cNvSpPr>
            <a:spLocks xmlns:a="http://schemas.openxmlformats.org/drawingml/2006/main" noGrp="1"/>
          </p:cNvSpPr>
          <p:nvPr/>
        </p:nvSpPr>
        <p:spPr>
          <a:xfrm xmlns:a="http://schemas.openxmlformats.org/drawingml/2006/main">
            <a:off x="3448050" y="5267325"/>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Allow the Mac’s actual outbound address for signed target AXFR.</a:t>
            </a:r>
          </a:p>
        </p:txBody>
      </p:sp>
    </p:spTree>
    <p:extLst>
      <p:ext uri="{BB962C8B-B14F-4D97-AF65-F5344CB8AC3E}">
        <p14:creationId xmlns:p14="http://schemas.microsoft.com/office/powerpoint/2010/main" val="253211606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The report status and proof level guide the next action</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Results and recovery</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5AB55966-FA28-BC73-EA9E-53DF014DF033}" type="slidenum">
              <a:rPr sz="900">
                <a:solidFill>
                  <a:srgbClr val="8B8580"/>
                </a:solidFill>
                <a:latin typeface="Oracle Sans Tab"/>
                <a:ea typeface="Oracle Sans Tab"/>
                <a:cs typeface="Oracle Sans Tab"/>
              </a:rPr>
              <a:t>26</a:t>
            </a:fld>
            <a:endParaRPr/>
          </a:p>
        </p:txBody>
      </p:sp>
      <p:graphicFrame>
        <p:nvGraphicFramePr>
          <p:cNvPr id="7" name="">
            <a:extLst xmlns:a="http://schemas.openxmlformats.org/drawingml/2006/main">
              <a:ext uri="{FF2B5EF4-FFF2-40B4-BE49-F238E27FC236}">
                <a16:creationId xmlns:a16="http://schemas.microsoft.com/office/drawing/2014/main" id="{3CDF3AE7-AEAB-4D60-B784-A2B662A95ED5}"/>
              </a:ext>
            </a:extLst>
          </p:cNvPr>
          <p:cNvGraphicFramePr/>
          <p:nvPr/>
        </p:nvGraphicFramePr>
        <p:xfrm>
          <a:off xmlns:a="http://schemas.openxmlformats.org/drawingml/2006/main" x="762000" y="1714500"/>
          <a:ext xmlns:a="http://schemas.openxmlformats.org/drawingml/2006/main" cx="10668000" cy="4000500"/>
        </p:xfrm>
        <a:graphic xmlns:a="http://schemas.openxmlformats.org/drawingml/2006/main">
          <a:graphicData uri="http://schemas.openxmlformats.org/drawingml/2006/table">
            <a:tbl>
              <a:tblPr/>
              <a:tblGrid>
                <a:gridCol w="3429000"/>
                <a:gridCol w="7239000"/>
              </a:tblGrid>
              <a:tr h="666750">
                <a:tc>
                  <a:txBody>
                    <a:bodyPr>
                      <a:noAutofit/>
                    </a:bodyPr>
                    <a:lstStyle/>
                    <a:p>
                      <a:r>
                        <a:rPr sz="1800" b="1">
                          <a:solidFill>
                            <a:srgbClr val="312D2A"/>
                          </a:solidFill>
                          <a:latin typeface="Oracle Sans Tab"/>
                          <a:ea typeface="Oracle Sans Tab"/>
                          <a:cs typeface="Oracle Sans Tab"/>
                        </a:rPr>
                        <a:t>Output or status</a:t>
                      </a:r>
                    </a:p>
                  </a:txBody>
                  <a:tcPr marL="91440" marR="91440" marT="45720" marB="45720">
                    <a:lnL w="6668">
                      <a:solidFill>
                        <a:srgbClr val="D9D4CF"/>
                      </a:solidFill>
                      <a:prstDash val="solid"/>
                    </a:lnL>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c>
                  <a:txBody>
                    <a:bodyPr>
                      <a:noAutofit/>
                    </a:bodyPr>
                    <a:lstStyle/>
                    <a:p>
                      <a:r>
                        <a:rPr sz="1800" b="1">
                          <a:solidFill>
                            <a:srgbClr val="312D2A"/>
                          </a:solidFill>
                          <a:latin typeface="Oracle Sans Tab"/>
                          <a:ea typeface="Oracle Sans Tab"/>
                          <a:cs typeface="Oracle Sans Tab"/>
                        </a:rPr>
                        <a:t>Meaning</a:t>
                      </a:r>
                    </a:p>
                  </a:txBody>
                  <a:tcPr marL="91440" marR="91440" marT="45720" marB="45720">
                    <a:lnR w="6668">
                      <a:solidFill>
                        <a:srgbClr val="D9D4CF"/>
                      </a:solidFill>
                      <a:prstDash val="solid"/>
                    </a:lnR>
                    <a:lnT w="6668">
                      <a:solidFill>
                        <a:srgbClr val="D9D4CF"/>
                      </a:solidFill>
                      <a:prstDash val="solid"/>
                    </a:lnT>
                    <a:lnB w="6668">
                      <a:solidFill>
                        <a:srgbClr val="D9D4CF"/>
                      </a:solidFill>
                      <a:prstDash val="solid"/>
                    </a:lnB>
                    <a:solidFill>
                      <a:srgbClr val="CBE9D6"/>
                    </a:solidFill>
                  </a:tcPr>
                </a:tc>
              </a:tr>
              <a:tr h="666750">
                <a:tc>
                  <a:txBody>
                    <a:bodyPr>
                      <a:noAutofit/>
                    </a:bodyPr>
                    <a:lstStyle/>
                    <a:p>
                      <a:r>
                        <a:rPr sz="1800" b="0">
                          <a:solidFill>
                            <a:srgbClr val="312D2A"/>
                          </a:solidFill>
                          <a:latin typeface="Oracle Sans Tab"/>
                          <a:ea typeface="Oracle Sans Tab"/>
                          <a:cs typeface="Oracle Sans Tab"/>
                        </a:rPr>
                        <a:t>before.jsonl</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Complete upstream lists before this invocation</a:t>
                      </a:r>
                    </a:p>
                  </a:txBody>
                  <a:tcPr marL="91440" marR="91440" marT="45720" marB="45720">
                    <a:lnR w="6668">
                      <a:solidFill>
                        <a:srgbClr val="D9D4CF"/>
                      </a:solidFill>
                      <a:prstDash val="solid"/>
                    </a:lnR>
                    <a:lnB w="6668">
                      <a:solidFill>
                        <a:srgbClr val="D9D4CF"/>
                      </a:solidFill>
                      <a:prstDash val="solid"/>
                    </a:lnB>
                    <a:solidFill>
                      <a:srgbClr val="FCFBFA"/>
                    </a:solidFill>
                  </a:tcPr>
                </a:tc>
              </a:tr>
              <a:tr h="666750">
                <a:tc>
                  <a:txBody>
                    <a:bodyPr>
                      <a:noAutofit/>
                    </a:bodyPr>
                    <a:lstStyle/>
                    <a:p>
                      <a:r>
                        <a:rPr sz="1800" b="0">
                          <a:solidFill>
                            <a:srgbClr val="312D2A"/>
                          </a:solidFill>
                          <a:latin typeface="Oracle Sans Tab"/>
                          <a:ea typeface="Oracle Sans Tab"/>
                          <a:cs typeface="Oracle Sans Tab"/>
                        </a:rPr>
                        <a:t>results.jsonl and summary.csv</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Per-zone preview, updated, unchanged or error</a:t>
                      </a:r>
                    </a:p>
                  </a:txBody>
                  <a:tcPr marL="91440" marR="91440" marT="45720" marB="45720">
                    <a:lnR w="6668">
                      <a:solidFill>
                        <a:srgbClr val="D9D4CF"/>
                      </a:solidFill>
                      <a:prstDash val="solid"/>
                    </a:lnR>
                    <a:lnB w="6668">
                      <a:solidFill>
                        <a:srgbClr val="D9D4CF"/>
                      </a:solidFill>
                      <a:prstDash val="solid"/>
                    </a:lnB>
                    <a:solidFill>
                      <a:srgbClr val="FCFBFA"/>
                    </a:solidFill>
                  </a:tcPr>
                </a:tc>
              </a:tr>
              <a:tr h="666750">
                <a:tc>
                  <a:txBody>
                    <a:bodyPr>
                      <a:noAutofit/>
                    </a:bodyPr>
                    <a:lstStyle/>
                    <a:p>
                      <a:r>
                        <a:rPr sz="1800" b="0">
                          <a:solidFill>
                            <a:srgbClr val="312D2A"/>
                          </a:solidFill>
                          <a:latin typeface="Oracle Sans Tab"/>
                          <a:ea typeface="Oracle Sans Tab"/>
                          <a:cs typeface="Oracle Sans Tab"/>
                        </a:rPr>
                        <a:t>Verification JSON</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SOA/TXT results and optional transfer evidence</a:t>
                      </a:r>
                    </a:p>
                  </a:txBody>
                  <a:tcPr marL="91440" marR="91440" marT="45720" marB="45720">
                    <a:lnR w="6668">
                      <a:solidFill>
                        <a:srgbClr val="D9D4CF"/>
                      </a:solidFill>
                      <a:prstDash val="solid"/>
                    </a:lnR>
                    <a:lnB w="6668">
                      <a:solidFill>
                        <a:srgbClr val="D9D4CF"/>
                      </a:solidFill>
                      <a:prstDash val="solid"/>
                    </a:lnB>
                    <a:solidFill>
                      <a:srgbClr val="FCFBFA"/>
                    </a:solidFill>
                  </a:tcPr>
                </a:tc>
              </a:tr>
              <a:tr h="666750">
                <a:tc>
                  <a:txBody>
                    <a:bodyPr>
                      <a:noAutofit/>
                    </a:bodyPr>
                    <a:lstStyle/>
                    <a:p>
                      <a:r>
                        <a:rPr sz="1800" b="0">
                          <a:solidFill>
                            <a:srgbClr val="312D2A"/>
                          </a:solidFill>
                          <a:latin typeface="Oracle Sans Tab"/>
                          <a:ea typeface="Oracle Sans Tab"/>
                          <a:cs typeface="Oracle Sans Tab"/>
                        </a:rPr>
                        <a:t>Exit 1</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Inspect failure and current state before retrying</a:t>
                      </a:r>
                    </a:p>
                  </a:txBody>
                  <a:tcPr marL="91440" marR="91440" marT="45720" marB="45720">
                    <a:lnR w="6668">
                      <a:solidFill>
                        <a:srgbClr val="D9D4CF"/>
                      </a:solidFill>
                      <a:prstDash val="solid"/>
                    </a:lnR>
                    <a:lnB w="6668">
                      <a:solidFill>
                        <a:srgbClr val="D9D4CF"/>
                      </a:solidFill>
                      <a:prstDash val="solid"/>
                    </a:lnB>
                    <a:solidFill>
                      <a:srgbClr val="FCFBFA"/>
                    </a:solidFill>
                  </a:tcPr>
                </a:tc>
              </a:tr>
              <a:tr h="666750">
                <a:tc>
                  <a:txBody>
                    <a:bodyPr>
                      <a:noAutofit/>
                    </a:bodyPr>
                    <a:lstStyle/>
                    <a:p>
                      <a:r>
                        <a:rPr sz="1800" b="0">
                          <a:solidFill>
                            <a:srgbClr val="312D2A"/>
                          </a:solidFill>
                          <a:latin typeface="Oracle Sans Tab"/>
                          <a:ea typeface="Oracle Sans Tab"/>
                          <a:cs typeface="Oracle Sans Tab"/>
                        </a:rPr>
                        <a:t>Verification exit 2</a:t>
                      </a:r>
                    </a:p>
                  </a:txBody>
                  <a:tcPr marL="91440" marR="91440" marT="45720" marB="45720">
                    <a:lnL w="6668">
                      <a:solidFill>
                        <a:srgbClr val="D9D4CF"/>
                      </a:solidFill>
                      <a:prstDash val="solid"/>
                    </a:lnL>
                    <a:lnR w="6668">
                      <a:solidFill>
                        <a:srgbClr val="D9D4CF"/>
                      </a:solidFill>
                      <a:prstDash val="solid"/>
                    </a:lnR>
                    <a:lnB w="6668">
                      <a:solidFill>
                        <a:srgbClr val="D9D4CF"/>
                      </a:solidFill>
                      <a:prstDash val="solid"/>
                    </a:lnB>
                    <a:solidFill>
                      <a:srgbClr val="FCFBFA"/>
                    </a:solidFill>
                  </a:tcPr>
                </a:tc>
                <a:tc>
                  <a:txBody>
                    <a:bodyPr>
                      <a:noAutofit/>
                    </a:bodyPr>
                    <a:lstStyle/>
                    <a:p>
                      <a:r>
                        <a:rPr sz="1800" b="0">
                          <a:solidFill>
                            <a:srgbClr val="312D2A"/>
                          </a:solidFill>
                          <a:latin typeface="Oracle Sans Tab"/>
                          <a:ea typeface="Oracle Sans Tab"/>
                          <a:cs typeface="Oracle Sans Tab"/>
                        </a:rPr>
                        <a:t>Fresh data passed, target transfer proof is incomplete</a:t>
                      </a:r>
                    </a:p>
                  </a:txBody>
                  <a:tcPr marL="91440" marR="91440" marT="45720" marB="45720">
                    <a:lnR w="6668">
                      <a:solidFill>
                        <a:srgbClr val="D9D4CF"/>
                      </a:solidFill>
                      <a:prstDash val="solid"/>
                    </a:lnR>
                    <a:lnB w="6668">
                      <a:solidFill>
                        <a:srgbClr val="D9D4CF"/>
                      </a:solidFill>
                      <a:prstDash val="solid"/>
                    </a:lnB>
                    <a:solidFill>
                      <a:srgbClr val="FCFBFA"/>
                    </a:solidFill>
                  </a:tcPr>
                </a:tc>
              </a:tr>
            </a:tbl>
          </a:graphicData>
        </a:graphic>
      </p:graphicFrame>
    </p:spTree>
    <p:extLst>
      <p:ext uri="{BB962C8B-B14F-4D97-AF65-F5344CB8AC3E}">
        <p14:creationId xmlns:p14="http://schemas.microsoft.com/office/powerpoint/2010/main" val="253211606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Recovery uses current state and the relevant complete backup</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Rollback process</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02F15020-66A7-620A-7B7A-C05C4312DEAE}" type="slidenum">
              <a:rPr sz="900">
                <a:solidFill>
                  <a:srgbClr val="8B8580"/>
                </a:solidFill>
                <a:latin typeface="Oracle Sans Tab"/>
                <a:ea typeface="Oracle Sans Tab"/>
                <a:cs typeface="Oracle Sans Tab"/>
              </a:rPr>
              <a:t>27</a:t>
            </a:fld>
            <a:endParaRPr/>
          </a:p>
        </p:txBody>
      </p:sp>
      <p:sp>
        <p:nvSpPr>
          <p:cNvPr id="7" name="label-0">
            <a:extLst xmlns:a="http://schemas.openxmlformats.org/drawingml/2006/main">
              <a:ext uri="{FF2B5EF4-FFF2-40B4-BE49-F238E27FC236}">
                <a16:creationId xmlns:a16="http://schemas.microsoft.com/office/drawing/2014/main" id="{2690D833-F31A-4408-9796-858A1EA7D67A}"/>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Inspect</a:t>
            </a:r>
          </a:p>
        </p:txBody>
      </p:sp>
      <p:sp>
        <p:nvSpPr>
          <p:cNvPr id="8" name="body-0">
            <a:extLst xmlns:a="http://schemas.openxmlformats.org/drawingml/2006/main">
              <a:ext uri="{FF2B5EF4-FFF2-40B4-BE49-F238E27FC236}">
                <a16:creationId xmlns:a16="http://schemas.microsoft.com/office/drawing/2014/main" id="{48665C56-A324-4F58-9252-7F43BB3C4CA8}"/>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Compare current settings with results and the applicable backup.</a:t>
            </a:r>
          </a:p>
        </p:txBody>
      </p:sp>
      <p:sp>
        <p:nvSpPr>
          <p:cNvPr id="9" name="label-1">
            <a:extLst xmlns:a="http://schemas.openxmlformats.org/drawingml/2006/main">
              <a:ext uri="{FF2B5EF4-FFF2-40B4-BE49-F238E27FC236}">
                <a16:creationId xmlns:a16="http://schemas.microsoft.com/office/drawing/2014/main" id="{D54C0B69-42D3-4A36-83B2-8BB1716F6D37}"/>
              </a:ext>
            </a:extLst>
          </p:cNvPr>
          <p:cNvSpPr>
            <a:spLocks xmlns:a="http://schemas.openxmlformats.org/drawingml/2006/main" noGrp="1"/>
          </p:cNvSpPr>
          <p:nvPr/>
        </p:nvSpPr>
        <p:spPr>
          <a:xfrm xmlns:a="http://schemas.openxmlformats.org/drawingml/2006/main">
            <a:off x="762000" y="2705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Reconcile</a:t>
            </a:r>
          </a:p>
        </p:txBody>
      </p:sp>
      <p:sp>
        <p:nvSpPr>
          <p:cNvPr id="10" name="body-1">
            <a:extLst xmlns:a="http://schemas.openxmlformats.org/drawingml/2006/main">
              <a:ext uri="{FF2B5EF4-FFF2-40B4-BE49-F238E27FC236}">
                <a16:creationId xmlns:a16="http://schemas.microsoft.com/office/drawing/2014/main" id="{50079F28-0534-4194-A6DC-86444743BE37}"/>
              </a:ext>
            </a:extLst>
          </p:cNvPr>
          <p:cNvSpPr>
            <a:spLocks xmlns:a="http://schemas.openxmlformats.org/drawingml/2006/main" noGrp="1"/>
          </p:cNvSpPr>
          <p:nvPr/>
        </p:nvSpPr>
        <p:spPr>
          <a:xfrm xmlns:a="http://schemas.openxmlformats.org/drawingml/2006/main">
            <a:off x="3448050" y="2705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Review any concurrent edits before choosing the restored list.</a:t>
            </a:r>
          </a:p>
        </p:txBody>
      </p:sp>
      <p:sp>
        <p:nvSpPr>
          <p:cNvPr id="11" name="label-2">
            <a:extLst xmlns:a="http://schemas.openxmlformats.org/drawingml/2006/main">
              <a:ext uri="{FF2B5EF4-FFF2-40B4-BE49-F238E27FC236}">
                <a16:creationId xmlns:a16="http://schemas.microsoft.com/office/drawing/2014/main" id="{95B7CC14-3772-4CEF-ABF7-905454B3550C}"/>
              </a:ext>
            </a:extLst>
          </p:cNvPr>
          <p:cNvSpPr>
            <a:spLocks xmlns:a="http://schemas.openxmlformats.org/drawingml/2006/main" noGrp="1"/>
          </p:cNvSpPr>
          <p:nvPr/>
        </p:nvSpPr>
        <p:spPr>
          <a:xfrm xmlns:a="http://schemas.openxmlformats.org/drawingml/2006/main">
            <a:off x="762000" y="3657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Restore</a:t>
            </a:r>
          </a:p>
        </p:txBody>
      </p:sp>
      <p:sp>
        <p:nvSpPr>
          <p:cNvPr id="12" name="body-2">
            <a:extLst xmlns:a="http://schemas.openxmlformats.org/drawingml/2006/main">
              <a:ext uri="{FF2B5EF4-FFF2-40B4-BE49-F238E27FC236}">
                <a16:creationId xmlns:a16="http://schemas.microsoft.com/office/drawing/2014/main" id="{20174039-5545-4A80-A384-FF10117AAE68}"/>
              </a:ext>
            </a:extLst>
          </p:cNvPr>
          <p:cNvSpPr>
            <a:spLocks xmlns:a="http://schemas.openxmlformats.org/drawingml/2006/main" noGrp="1"/>
          </p:cNvSpPr>
          <p:nvPr/>
        </p:nvSpPr>
        <p:spPr>
          <a:xfrm xmlns:a="http://schemas.openxmlformats.org/drawingml/2006/main">
            <a:off x="3448050" y="3657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Submit the complete intended list using a current ETag.</a:t>
            </a:r>
          </a:p>
        </p:txBody>
      </p:sp>
      <p:sp>
        <p:nvSpPr>
          <p:cNvPr id="13" name="label-3">
            <a:extLst xmlns:a="http://schemas.openxmlformats.org/drawingml/2006/main">
              <a:ext uri="{FF2B5EF4-FFF2-40B4-BE49-F238E27FC236}">
                <a16:creationId xmlns:a16="http://schemas.microsoft.com/office/drawing/2014/main" id="{2CF9FFBA-A136-4FF6-AD7D-4A136A22B28A}"/>
              </a:ext>
            </a:extLst>
          </p:cNvPr>
          <p:cNvSpPr>
            <a:spLocks xmlns:a="http://schemas.openxmlformats.org/drawingml/2006/main" noGrp="1"/>
          </p:cNvSpPr>
          <p:nvPr/>
        </p:nvSpPr>
        <p:spPr>
          <a:xfrm xmlns:a="http://schemas.openxmlformats.org/drawingml/2006/main">
            <a:off x="762000" y="4610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Verify</a:t>
            </a:r>
          </a:p>
        </p:txBody>
      </p:sp>
      <p:sp>
        <p:nvSpPr>
          <p:cNvPr id="14" name="body-3">
            <a:extLst xmlns:a="http://schemas.openxmlformats.org/drawingml/2006/main">
              <a:ext uri="{FF2B5EF4-FFF2-40B4-BE49-F238E27FC236}">
                <a16:creationId xmlns:a16="http://schemas.microsoft.com/office/drawing/2014/main" id="{9D7A4119-09AC-46A0-8A74-F369B95A2339}"/>
              </a:ext>
            </a:extLst>
          </p:cNvPr>
          <p:cNvSpPr>
            <a:spLocks xmlns:a="http://schemas.openxmlformats.org/drawingml/2006/main" noGrp="1"/>
          </p:cNvSpPr>
          <p:nvPr/>
        </p:nvSpPr>
        <p:spPr>
          <a:xfrm xmlns:a="http://schemas.openxmlformats.org/drawingml/2006/main">
            <a:off x="3448050" y="4610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Check healthy upstreams and another fresh record update.</a:t>
            </a:r>
          </a:p>
        </p:txBody>
      </p:sp>
    </p:spTree>
    <p:extLst>
      <p:ext uri="{BB962C8B-B14F-4D97-AF65-F5344CB8AC3E}">
        <p14:creationId xmlns:p14="http://schemas.microsoft.com/office/powerpoint/2010/main" val="25321160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A controlled zone rehearsal precedes wider customer rollout</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Deployment acceptance</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68AD4375-9F50-F53A-6F9F-DD8473067C05}" type="slidenum">
              <a:rPr sz="900">
                <a:solidFill>
                  <a:srgbClr val="8B8580"/>
                </a:solidFill>
                <a:latin typeface="Oracle Sans Tab"/>
                <a:ea typeface="Oracle Sans Tab"/>
                <a:cs typeface="Oracle Sans Tab"/>
              </a:rPr>
              <a:t>28</a:t>
            </a:fld>
            <a:endParaRPr/>
          </a:p>
        </p:txBody>
      </p:sp>
      <p:sp>
        <p:nvSpPr>
          <p:cNvPr id="7" name="label-0">
            <a:extLst xmlns:a="http://schemas.openxmlformats.org/drawingml/2006/main">
              <a:ext uri="{FF2B5EF4-FFF2-40B4-BE49-F238E27FC236}">
                <a16:creationId xmlns:a16="http://schemas.microsoft.com/office/drawing/2014/main" id="{D8EB6C01-B02E-4801-BB15-37B8B9C02760}"/>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Initial rehearsal</a:t>
            </a:r>
          </a:p>
        </p:txBody>
      </p:sp>
      <p:sp>
        <p:nvSpPr>
          <p:cNvPr id="8" name="body-0">
            <a:extLst xmlns:a="http://schemas.openxmlformats.org/drawingml/2006/main">
              <a:ext uri="{FF2B5EF4-FFF2-40B4-BE49-F238E27FC236}">
                <a16:creationId xmlns:a16="http://schemas.microsoft.com/office/drawing/2014/main" id="{279E8D73-BE72-4303-83BF-321C70C97D6A}"/>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Validate one selected zone, then a small reviewed batch.</a:t>
            </a:r>
          </a:p>
        </p:txBody>
      </p:sp>
      <p:sp>
        <p:nvSpPr>
          <p:cNvPr id="9" name="label-1">
            <a:extLst xmlns:a="http://schemas.openxmlformats.org/drawingml/2006/main">
              <a:ext uri="{FF2B5EF4-FFF2-40B4-BE49-F238E27FC236}">
                <a16:creationId xmlns:a16="http://schemas.microsoft.com/office/drawing/2014/main" id="{C9BE75DF-B9DB-4C4F-A6C1-8F206C15D6E1}"/>
              </a:ext>
            </a:extLst>
          </p:cNvPr>
          <p:cNvSpPr>
            <a:spLocks xmlns:a="http://schemas.openxmlformats.org/drawingml/2006/main" noGrp="1"/>
          </p:cNvSpPr>
          <p:nvPr/>
        </p:nvSpPr>
        <p:spPr>
          <a:xfrm xmlns:a="http://schemas.openxmlformats.org/drawingml/2006/main">
            <a:off x="762000" y="2705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Change gates</a:t>
            </a:r>
          </a:p>
        </p:txBody>
      </p:sp>
      <p:sp>
        <p:nvSpPr>
          <p:cNvPr id="10" name="body-1">
            <a:extLst xmlns:a="http://schemas.openxmlformats.org/drawingml/2006/main">
              <a:ext uri="{FF2B5EF4-FFF2-40B4-BE49-F238E27FC236}">
                <a16:creationId xmlns:a16="http://schemas.microsoft.com/office/drawing/2014/main" id="{A4581A96-4BAC-4746-90ED-C2243FFBC9CF}"/>
              </a:ext>
            </a:extLst>
          </p:cNvPr>
          <p:cNvSpPr>
            <a:spLocks xmlns:a="http://schemas.openxmlformats.org/drawingml/2006/main" noGrp="1"/>
          </p:cNvSpPr>
          <p:nvPr/>
        </p:nvSpPr>
        <p:spPr>
          <a:xfrm xmlns:a="http://schemas.openxmlformats.org/drawingml/2006/main">
            <a:off x="3448050" y="2705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Require successful read-back and fresh authoritative records.</a:t>
            </a:r>
          </a:p>
        </p:txBody>
      </p:sp>
      <p:sp>
        <p:nvSpPr>
          <p:cNvPr id="11" name="label-2">
            <a:extLst xmlns:a="http://schemas.openxmlformats.org/drawingml/2006/main">
              <a:ext uri="{FF2B5EF4-FFF2-40B4-BE49-F238E27FC236}">
                <a16:creationId xmlns:a16="http://schemas.microsoft.com/office/drawing/2014/main" id="{4CD7BAD9-5406-4FC6-AB0E-F1A1A2489105}"/>
              </a:ext>
            </a:extLst>
          </p:cNvPr>
          <p:cNvSpPr>
            <a:spLocks xmlns:a="http://schemas.openxmlformats.org/drawingml/2006/main" noGrp="1"/>
          </p:cNvSpPr>
          <p:nvPr/>
        </p:nvSpPr>
        <p:spPr>
          <a:xfrm xmlns:a="http://schemas.openxmlformats.org/drawingml/2006/main">
            <a:off x="762000" y="3657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Operational review</a:t>
            </a:r>
          </a:p>
        </p:txBody>
      </p:sp>
      <p:sp>
        <p:nvSpPr>
          <p:cNvPr id="12" name="body-2">
            <a:extLst xmlns:a="http://schemas.openxmlformats.org/drawingml/2006/main">
              <a:ext uri="{FF2B5EF4-FFF2-40B4-BE49-F238E27FC236}">
                <a16:creationId xmlns:a16="http://schemas.microsoft.com/office/drawing/2014/main" id="{9215A524-0B9F-4185-ABBA-23E13D9BB81F}"/>
              </a:ext>
            </a:extLst>
          </p:cNvPr>
          <p:cNvSpPr>
            <a:spLocks xmlns:a="http://schemas.openxmlformats.org/drawingml/2006/main" noGrp="1"/>
          </p:cNvSpPr>
          <p:nvPr/>
        </p:nvSpPr>
        <p:spPr>
          <a:xfrm xmlns:a="http://schemas.openxmlformats.org/drawingml/2006/main">
            <a:off x="3448050" y="3657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Inspect transfer failures and zone expiry alongside server logs.</a:t>
            </a:r>
          </a:p>
        </p:txBody>
      </p:sp>
      <p:sp>
        <p:nvSpPr>
          <p:cNvPr id="13" name="label-3">
            <a:extLst xmlns:a="http://schemas.openxmlformats.org/drawingml/2006/main">
              <a:ext uri="{FF2B5EF4-FFF2-40B4-BE49-F238E27FC236}">
                <a16:creationId xmlns:a16="http://schemas.microsoft.com/office/drawing/2014/main" id="{55CCDA7B-A50C-4FD6-B40B-6A8DE27E8259}"/>
              </a:ext>
            </a:extLst>
          </p:cNvPr>
          <p:cNvSpPr>
            <a:spLocks xmlns:a="http://schemas.openxmlformats.org/drawingml/2006/main" noGrp="1"/>
          </p:cNvSpPr>
          <p:nvPr/>
        </p:nvSpPr>
        <p:spPr>
          <a:xfrm xmlns:a="http://schemas.openxmlformats.org/drawingml/2006/main">
            <a:off x="762000" y="4610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Execution evidence</a:t>
            </a:r>
          </a:p>
        </p:txBody>
      </p:sp>
      <p:sp>
        <p:nvSpPr>
          <p:cNvPr id="14" name="body-3">
            <a:extLst xmlns:a="http://schemas.openxmlformats.org/drawingml/2006/main">
              <a:ext uri="{FF2B5EF4-FFF2-40B4-BE49-F238E27FC236}">
                <a16:creationId xmlns:a16="http://schemas.microsoft.com/office/drawing/2014/main" id="{447F97A8-24D8-44B6-917C-E8EEE502E92B}"/>
              </a:ext>
            </a:extLst>
          </p:cNvPr>
          <p:cNvSpPr>
            <a:spLocks xmlns:a="http://schemas.openxmlformats.org/drawingml/2006/main" noGrp="1"/>
          </p:cNvSpPr>
          <p:nvPr/>
        </p:nvSpPr>
        <p:spPr>
          <a:xfrm xmlns:a="http://schemas.openxmlformats.org/drawingml/2006/main">
            <a:off x="3448050" y="4610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Record the customer environment and acceptance outcomes.</a:t>
            </a:r>
          </a:p>
        </p:txBody>
      </p:sp>
    </p:spTree>
    <p:extLst>
      <p:ext uri="{BB962C8B-B14F-4D97-AF65-F5344CB8AC3E}">
        <p14:creationId xmlns:p14="http://schemas.microsoft.com/office/powerpoint/2010/main" val="253211606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Repository content supports implementation and operation</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Customer handover</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41680313-6E64-04FF-399A-57B7CADE95A9}" type="slidenum">
              <a:rPr sz="900">
                <a:solidFill>
                  <a:srgbClr val="8B8580"/>
                </a:solidFill>
                <a:latin typeface="Oracle Sans Tab"/>
                <a:ea typeface="Oracle Sans Tab"/>
                <a:cs typeface="Oracle Sans Tab"/>
              </a:rPr>
              <a:t>29</a:t>
            </a:fld>
            <a:endParaRPr/>
          </a:p>
        </p:txBody>
      </p:sp>
      <p:sp>
        <p:nvSpPr>
          <p:cNvPr id="7" name="label-0">
            <a:extLst xmlns:a="http://schemas.openxmlformats.org/drawingml/2006/main">
              <a:ext uri="{FF2B5EF4-FFF2-40B4-BE49-F238E27FC236}">
                <a16:creationId xmlns:a16="http://schemas.microsoft.com/office/drawing/2014/main" id="{2696E5BA-34C7-48B6-9782-E2C810DFFACE}"/>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Main guide</a:t>
            </a:r>
          </a:p>
        </p:txBody>
      </p:sp>
      <p:sp>
        <p:nvSpPr>
          <p:cNvPr id="8" name="body-0">
            <a:extLst xmlns:a="http://schemas.openxmlformats.org/drawingml/2006/main">
              <a:ext uri="{FF2B5EF4-FFF2-40B4-BE49-F238E27FC236}">
                <a16:creationId xmlns:a16="http://schemas.microsoft.com/office/drawing/2014/main" id="{040E6011-A92E-45A6-94B7-4FCB5746EA8D}"/>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README.md: prerequisites, inputs and phase commands</a:t>
            </a:r>
          </a:p>
        </p:txBody>
      </p:sp>
      <p:sp>
        <p:nvSpPr>
          <p:cNvPr id="9" name="label-1">
            <a:extLst xmlns:a="http://schemas.openxmlformats.org/drawingml/2006/main">
              <a:ext uri="{FF2B5EF4-FFF2-40B4-BE49-F238E27FC236}">
                <a16:creationId xmlns:a16="http://schemas.microsoft.com/office/drawing/2014/main" id="{74A7E2B4-F5BD-46B9-B567-A99223F7E60A}"/>
              </a:ext>
            </a:extLst>
          </p:cNvPr>
          <p:cNvSpPr>
            <a:spLocks xmlns:a="http://schemas.openxmlformats.org/drawingml/2006/main" noGrp="1"/>
          </p:cNvSpPr>
          <p:nvPr/>
        </p:nvSpPr>
        <p:spPr>
          <a:xfrm xmlns:a="http://schemas.openxmlformats.org/drawingml/2006/main">
            <a:off x="762000" y="24955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Code reference</a:t>
            </a:r>
          </a:p>
        </p:txBody>
      </p:sp>
      <p:sp>
        <p:nvSpPr>
          <p:cNvPr id="10" name="body-1">
            <a:extLst xmlns:a="http://schemas.openxmlformats.org/drawingml/2006/main">
              <a:ext uri="{FF2B5EF4-FFF2-40B4-BE49-F238E27FC236}">
                <a16:creationId xmlns:a16="http://schemas.microsoft.com/office/drawing/2014/main" id="{B6588AEF-7AE1-45F0-99AF-A21E9E282D92}"/>
              </a:ext>
            </a:extLst>
          </p:cNvPr>
          <p:cNvSpPr>
            <a:spLocks xmlns:a="http://schemas.openxmlformats.org/drawingml/2006/main" noGrp="1"/>
          </p:cNvSpPr>
          <p:nvPr/>
        </p:nvSpPr>
        <p:spPr>
          <a:xfrm xmlns:a="http://schemas.openxmlformats.org/drawingml/2006/main">
            <a:off x="3448050" y="249555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CODE_EXPLANATION.md: functions and safeguards</a:t>
            </a:r>
          </a:p>
        </p:txBody>
      </p:sp>
      <p:sp>
        <p:nvSpPr>
          <p:cNvPr id="11" name="label-2">
            <a:extLst xmlns:a="http://schemas.openxmlformats.org/drawingml/2006/main">
              <a:ext uri="{FF2B5EF4-FFF2-40B4-BE49-F238E27FC236}">
                <a16:creationId xmlns:a16="http://schemas.microsoft.com/office/drawing/2014/main" id="{FB663537-A40C-473D-9B67-FEF1CD9B9B5D}"/>
              </a:ext>
            </a:extLst>
          </p:cNvPr>
          <p:cNvSpPr>
            <a:spLocks xmlns:a="http://schemas.openxmlformats.org/drawingml/2006/main" noGrp="1"/>
          </p:cNvSpPr>
          <p:nvPr/>
        </p:nvSpPr>
        <p:spPr>
          <a:xfrm xmlns:a="http://schemas.openxmlformats.org/drawingml/2006/main">
            <a:off x="762000" y="32385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Mac walkthrough</a:t>
            </a:r>
          </a:p>
        </p:txBody>
      </p:sp>
      <p:sp>
        <p:nvSpPr>
          <p:cNvPr id="12" name="body-2">
            <a:extLst xmlns:a="http://schemas.openxmlformats.org/drawingml/2006/main">
              <a:ext uri="{FF2B5EF4-FFF2-40B4-BE49-F238E27FC236}">
                <a16:creationId xmlns:a16="http://schemas.microsoft.com/office/drawing/2014/main" id="{E93795A8-3638-4DF3-B7C6-4DC370CBBB71}"/>
              </a:ext>
            </a:extLst>
          </p:cNvPr>
          <p:cNvSpPr>
            <a:spLocks xmlns:a="http://schemas.openxmlformats.org/drawingml/2006/main" noGrp="1"/>
          </p:cNvSpPr>
          <p:nvPr/>
        </p:nvSpPr>
        <p:spPr>
          <a:xfrm xmlns:a="http://schemas.openxmlformats.org/drawingml/2006/main">
            <a:off x="3448050" y="32385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MAC_TERMINAL.md: local setup and phase rehearsal</a:t>
            </a:r>
          </a:p>
        </p:txBody>
      </p:sp>
      <p:sp>
        <p:nvSpPr>
          <p:cNvPr id="13" name="label-3">
            <a:extLst xmlns:a="http://schemas.openxmlformats.org/drawingml/2006/main">
              <a:ext uri="{FF2B5EF4-FFF2-40B4-BE49-F238E27FC236}">
                <a16:creationId xmlns:a16="http://schemas.microsoft.com/office/drawing/2014/main" id="{29155738-7F80-4BA9-BEFE-593AA819A0F9}"/>
              </a:ext>
            </a:extLst>
          </p:cNvPr>
          <p:cNvSpPr>
            <a:spLocks xmlns:a="http://schemas.openxmlformats.org/drawingml/2006/main" noGrp="1"/>
          </p:cNvSpPr>
          <p:nvPr/>
        </p:nvSpPr>
        <p:spPr>
          <a:xfrm xmlns:a="http://schemas.openxmlformats.org/drawingml/2006/main">
            <a:off x="762000" y="39814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Verification</a:t>
            </a:r>
          </a:p>
        </p:txBody>
      </p:sp>
      <p:sp>
        <p:nvSpPr>
          <p:cNvPr id="14" name="body-3">
            <a:extLst xmlns:a="http://schemas.openxmlformats.org/drawingml/2006/main">
              <a:ext uri="{FF2B5EF4-FFF2-40B4-BE49-F238E27FC236}">
                <a16:creationId xmlns:a16="http://schemas.microsoft.com/office/drawing/2014/main" id="{7C55C2E3-3E0A-4D01-923D-773720EA5C5E}"/>
              </a:ext>
            </a:extLst>
          </p:cNvPr>
          <p:cNvSpPr>
            <a:spLocks xmlns:a="http://schemas.openxmlformats.org/drawingml/2006/main" noGrp="1"/>
          </p:cNvSpPr>
          <p:nvPr/>
        </p:nvSpPr>
        <p:spPr>
          <a:xfrm xmlns:a="http://schemas.openxmlformats.org/drawingml/2006/main">
            <a:off x="3448050" y="398145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GENERIC_VERIFICATION.md: signed transfers and evidence</a:t>
            </a:r>
          </a:p>
        </p:txBody>
      </p:sp>
      <p:sp>
        <p:nvSpPr>
          <p:cNvPr id="15" name="label-4">
            <a:extLst xmlns:a="http://schemas.openxmlformats.org/drawingml/2006/main">
              <a:ext uri="{FF2B5EF4-FFF2-40B4-BE49-F238E27FC236}">
                <a16:creationId xmlns:a16="http://schemas.microsoft.com/office/drawing/2014/main" id="{3F24CF4B-9DEE-4FCA-B13A-655132D0CF29}"/>
              </a:ext>
            </a:extLst>
          </p:cNvPr>
          <p:cNvSpPr>
            <a:spLocks xmlns:a="http://schemas.openxmlformats.org/drawingml/2006/main" noGrp="1"/>
          </p:cNvSpPr>
          <p:nvPr/>
        </p:nvSpPr>
        <p:spPr>
          <a:xfrm xmlns:a="http://schemas.openxmlformats.org/drawingml/2006/main">
            <a:off x="762000" y="47244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Recovery</a:t>
            </a:r>
          </a:p>
        </p:txBody>
      </p:sp>
      <p:sp>
        <p:nvSpPr>
          <p:cNvPr id="16" name="body-4">
            <a:extLst xmlns:a="http://schemas.openxmlformats.org/drawingml/2006/main">
              <a:ext uri="{FF2B5EF4-FFF2-40B4-BE49-F238E27FC236}">
                <a16:creationId xmlns:a16="http://schemas.microsoft.com/office/drawing/2014/main" id="{25FCC06F-D710-4984-BDD6-D3F61E27FB8A}"/>
              </a:ext>
            </a:extLst>
          </p:cNvPr>
          <p:cNvSpPr>
            <a:spLocks xmlns:a="http://schemas.openxmlformats.org/drawingml/2006/main" noGrp="1"/>
          </p:cNvSpPr>
          <p:nvPr/>
        </p:nvSpPr>
        <p:spPr>
          <a:xfrm xmlns:a="http://schemas.openxmlformats.org/drawingml/2006/main">
            <a:off x="3448050" y="47244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VERIFY_AND_ROLLBACK.md: partial runs and restoration</a:t>
            </a:r>
          </a:p>
        </p:txBody>
      </p:sp>
    </p:spTree>
    <p:extLst>
      <p:ext uri="{BB962C8B-B14F-4D97-AF65-F5344CB8AC3E}">
        <p14:creationId xmlns:p14="http://schemas.microsoft.com/office/powerpoint/2010/main" val="25321160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7DCC20AB-A861-EF0B-716D-B516488480DE}"/>
              </a:ext>
            </a:extLst>
          </p:cNvPr>
          <p:cNvSpPr>
            <a:spLocks xmlns:a="http://schemas.openxmlformats.org/drawingml/2006/main" noGrp="1"/>
          </p:cNvSpPr>
          <p:nvPr>
            <p:ph type="body" idx="11"/>
          </p:nvPr>
        </p:nvSpPr>
        <p:spPr/>
        <p:txBody>
          <a:bodyPr xmlns:a="http://schemas.openxmlformats.org/drawingml/2006/main" lIns="0" tIns="0" rIns="0" bIns="0">
            <a:noAutofit/>
          </a:bodyPr>
          <a:lstStyle xmlns:a="http://schemas.openxmlformats.org/drawingml/2006/main">
            <a:defPPr>
              <a:defRPr sz="2000">
                <a:solidFill>
                  <a:srgbClr val="312D2A"/>
                </a:solidFill>
                <a:latin typeface="Oracle Sans Tab"/>
                <a:ea typeface="Oracle Sans Tab"/>
                <a:cs typeface="Oracle Sans Tab"/>
              </a:defRPr>
            </a:defPPr>
          </a:lstStyle>
          <a:p xmlns:a="http://schemas.openxmlformats.org/drawingml/2006/main">
            <a:pPr>
              <a:defRPr sz="2000">
                <a:solidFill>
                  <a:srgbClr val="312D2A"/>
                </a:solidFill>
                <a:latin typeface="Oracle Sans Tab"/>
                <a:ea typeface="Oracle Sans Tab"/>
                <a:cs typeface="Oracle Sans Tab"/>
              </a:defRPr>
            </a:pPr>
            <a:r>
              <a:rPr sz="2000">
                <a:solidFill>
                  <a:srgbClr val="312D2A"/>
                </a:solidFill>
                <a:latin typeface="Oracle Sans Tab"/>
                <a:ea typeface="Oracle Sans Tab"/>
                <a:cs typeface="Oracle Sans Tab"/>
              </a:rPr>
              <a:t>Technical sources and implementation detail</a:t>
            </a:r>
            <a:endParaRPr/>
          </a:p>
        </p:txBody>
      </p:sp>
      <p:sp>
        <p:nvSpPr>
          <p:cNvPr id="5" name="Title 4">
            <a:extLst xmlns:a="http://schemas.openxmlformats.org/drawingml/2006/main">
              <a:ext uri="{FF2B5EF4-FFF2-40B4-BE49-F238E27FC236}">
                <a16:creationId xmlns:a16="http://schemas.microsoft.com/office/drawing/2014/main" id="{0A0188C5-9A9C-7F7C-D38B-8623022BA8A4}"/>
              </a:ext>
            </a:extLst>
          </p:cNvPr>
          <p:cNvSpPr>
            <a:spLocks xmlns:a="http://schemas.openxmlformats.org/drawingml/2006/main" noGrp="1"/>
          </p:cNvSpPr>
          <p:nvPr>
            <p:ph type="title" idx="0"/>
          </p:nvPr>
        </p:nvSpPr>
        <p:spPr/>
        <p:txBody>
          <a:bodyPr xmlns:a="http://schemas.openxmlformats.org/drawingml/2006/main" lIns="0" tIns="0" rIns="0" bIns="0" anchor="b">
            <a:noAutofit/>
          </a:bodyPr>
          <a:lstStyle xmlns:a="http://schemas.openxmlformats.org/drawingml/2006/main">
            <a:defPPr>
              <a:defRPr sz="2400" b="1">
                <a:solidFill>
                  <a:srgbClr val="312D2A"/>
                </a:solidFill>
                <a:latin typeface="Oracle Sans Tab"/>
                <a:ea typeface="Oracle Sans Tab"/>
                <a:cs typeface="Oracle Sans Tab"/>
              </a:defRPr>
            </a:defPPr>
          </a:lstStyle>
          <a:p xmlns:a="http://schemas.openxmlformats.org/drawingml/2006/main">
            <a:pPr>
              <a:defRPr sz="2400" b="1">
                <a:solidFill>
                  <a:srgbClr val="312D2A"/>
                </a:solidFill>
                <a:latin typeface="Oracle Sans Tab"/>
                <a:ea typeface="Oracle Sans Tab"/>
                <a:cs typeface="Oracle Sans Tab"/>
              </a:defRPr>
            </a:pPr>
            <a:r>
              <a:rPr sz="2400" b="1">
                <a:solidFill>
                  <a:srgbClr val="312D2A"/>
                </a:solidFill>
                <a:latin typeface="Oracle Sans Tab"/>
                <a:ea typeface="Oracle Sans Tab"/>
                <a:cs typeface="Oracle Sans Tab"/>
              </a:rPr>
              <a:t>Reference documentation</a:t>
            </a:r>
            <a:endParaRPr/>
          </a:p>
        </p:txBody>
      </p:sp>
      <p:sp>
        <p:nvSpPr>
          <p:cNvPr id="3" name="Footer Placeholder 2">
            <a:extLst xmlns:a="http://schemas.openxmlformats.org/drawingml/2006/main">
              <a:ext uri="{FF2B5EF4-FFF2-40B4-BE49-F238E27FC236}">
                <a16:creationId xmlns:a16="http://schemas.microsoft.com/office/drawing/2014/main" id="{4C70B9F6-B0F3-9ED9-FECE-444AC2468B27}"/>
              </a:ext>
            </a:extLst>
          </p:cNvPr>
          <p:cNvSpPr>
            <a:spLocks xmlns:a="http://schemas.openxmlformats.org/drawingml/2006/main" noGrp="1"/>
          </p:cNvSpPr>
          <p:nvPr>
            <p:ph type="ftr" idx="13"/>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r>
              <a:rPr sz="900">
                <a:solidFill>
                  <a:srgbClr val="8B8580"/>
                </a:solidFill>
                <a:latin typeface="Oracle Sans Tab"/>
                <a:ea typeface="Oracle Sans Tab"/>
                <a:cs typeface="Oracle Sans Tab"/>
              </a:rPr>
              <a:t>Copyright © 2025, Oracle and/or its affiliates</a:t>
            </a:r>
            <a:endParaRPr/>
          </a:p>
        </p:txBody>
      </p:sp>
      <p:sp>
        <p:nvSpPr>
          <p:cNvPr id="4" name="Slide Number Placeholder 3">
            <a:extLst xmlns:a="http://schemas.openxmlformats.org/drawingml/2006/main">
              <a:ext uri="{FF2B5EF4-FFF2-40B4-BE49-F238E27FC236}">
                <a16:creationId xmlns:a16="http://schemas.microsoft.com/office/drawing/2014/main" id="{D6084088-C3B5-30CC-7C65-6B1C87B1C5BF}"/>
              </a:ext>
            </a:extLst>
          </p:cNvPr>
          <p:cNvSpPr>
            <a:spLocks xmlns:a="http://schemas.openxmlformats.org/drawingml/2006/main" noGrp="1"/>
          </p:cNvSpPr>
          <p:nvPr>
            <p:ph type="sldNum" idx="14"/>
          </p:nvPr>
        </p:nvSpPr>
        <p:spPr/>
        <p:txBody>
          <a:bodyPr xmlns:a="http://schemas.openxmlformats.org/drawingml/2006/main" lIns="0" tIns="0" rIns="0" bIns="0" anchor="ctr"/>
          <a:lstStyle xmlns:a="http://schemas.openxmlformats.org/drawingml/2006/main">
            <a:defPPr>
              <a:defRPr sz="900">
                <a:solidFill>
                  <a:srgbClr val="8B8580"/>
                </a:solidFill>
                <a:latin typeface="Oracle Sans Tab"/>
                <a:ea typeface="Oracle Sans Tab"/>
                <a:cs typeface="Oracle Sans Tab"/>
              </a:defRPr>
            </a:defPPr>
          </a:lstStyle>
          <a:p xmlns:a="http://schemas.openxmlformats.org/drawingml/2006/main">
            <a:pPr>
              <a:defRPr sz="900">
                <a:solidFill>
                  <a:srgbClr val="8B8580"/>
                </a:solidFill>
                <a:latin typeface="Oracle Sans Tab"/>
                <a:ea typeface="Oracle Sans Tab"/>
                <a:cs typeface="Oracle Sans Tab"/>
              </a:defRPr>
            </a:pPr>
            <a:fld id="{5FEBBBCE-9E16-527A-0EE3-E5839422D847}" type="slidenum">
              <a:rPr sz="900">
                <a:solidFill>
                  <a:srgbClr val="8B8580"/>
                </a:solidFill>
                <a:latin typeface="Oracle Sans Tab"/>
                <a:ea typeface="Oracle Sans Tab"/>
                <a:cs typeface="Oracle Sans Tab"/>
              </a:rPr>
              <a:t>30</a:t>
            </a:fld>
            <a:endParaRPr/>
          </a:p>
        </p:txBody>
      </p:sp>
      <p:sp>
        <p:nvSpPr>
          <p:cNvPr id="7" name="label-0">
            <a:extLst xmlns:a="http://schemas.openxmlformats.org/drawingml/2006/main">
              <a:ext uri="{FF2B5EF4-FFF2-40B4-BE49-F238E27FC236}">
                <a16:creationId xmlns:a16="http://schemas.microsoft.com/office/drawing/2014/main" id="{58D4BFC1-EAD4-4900-AAA3-D33142AA9229}"/>
              </a:ext>
            </a:extLst>
          </p:cNvPr>
          <p:cNvSpPr>
            <a:spLocks xmlns:a="http://schemas.openxmlformats.org/drawingml/2006/main" noGrp="1"/>
          </p:cNvSpPr>
          <p:nvPr/>
        </p:nvSpPr>
        <p:spPr>
          <a:xfrm xmlns:a="http://schemas.openxmlformats.org/drawingml/2006/main">
            <a:off x="762000" y="1752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OCI secondary DNS</a:t>
            </a:r>
          </a:p>
        </p:txBody>
      </p:sp>
      <p:sp>
        <p:nvSpPr>
          <p:cNvPr id="8" name="body-0">
            <a:extLst xmlns:a="http://schemas.openxmlformats.org/drawingml/2006/main">
              <a:ext uri="{FF2B5EF4-FFF2-40B4-BE49-F238E27FC236}">
                <a16:creationId xmlns:a16="http://schemas.microsoft.com/office/drawing/2014/main" id="{A2EDCBFD-1753-4F12-BA51-38BACF6EB74C}"/>
              </a:ext>
            </a:extLst>
          </p:cNvPr>
          <p:cNvSpPr>
            <a:spLocks xmlns:a="http://schemas.openxmlformats.org/drawingml/2006/main" noGrp="1"/>
          </p:cNvSpPr>
          <p:nvPr/>
        </p:nvSpPr>
        <p:spPr>
          <a:xfrm xmlns:a="http://schemas.openxmlformats.org/drawingml/2006/main">
            <a:off x="3448050" y="1752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Transfer roles, TSIG and secondary operation</a:t>
            </a:r>
          </a:p>
        </p:txBody>
      </p:sp>
      <p:sp>
        <p:nvSpPr>
          <p:cNvPr id="9" name="label-1">
            <a:extLst xmlns:a="http://schemas.openxmlformats.org/drawingml/2006/main">
              <a:ext uri="{FF2B5EF4-FFF2-40B4-BE49-F238E27FC236}">
                <a16:creationId xmlns:a16="http://schemas.microsoft.com/office/drawing/2014/main" id="{8ABA6FFE-C22A-4CFF-AD1D-AD442FCF3615}"/>
              </a:ext>
            </a:extLst>
          </p:cNvPr>
          <p:cNvSpPr>
            <a:spLocks xmlns:a="http://schemas.openxmlformats.org/drawingml/2006/main" noGrp="1"/>
          </p:cNvSpPr>
          <p:nvPr/>
        </p:nvSpPr>
        <p:spPr>
          <a:xfrm xmlns:a="http://schemas.openxmlformats.org/drawingml/2006/main">
            <a:off x="762000" y="2705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Upstream updates</a:t>
            </a:r>
          </a:p>
        </p:txBody>
      </p:sp>
      <p:sp>
        <p:nvSpPr>
          <p:cNvPr id="10" name="body-1">
            <a:extLst xmlns:a="http://schemas.openxmlformats.org/drawingml/2006/main">
              <a:ext uri="{FF2B5EF4-FFF2-40B4-BE49-F238E27FC236}">
                <a16:creationId xmlns:a16="http://schemas.microsoft.com/office/drawing/2014/main" id="{77ED9A50-5E04-4CFA-B47C-6542213C11FC}"/>
              </a:ext>
            </a:extLst>
          </p:cNvPr>
          <p:cNvSpPr>
            <a:spLocks xmlns:a="http://schemas.openxmlformats.org/drawingml/2006/main" noGrp="1"/>
          </p:cNvSpPr>
          <p:nvPr/>
        </p:nvSpPr>
        <p:spPr>
          <a:xfrm xmlns:a="http://schemas.openxmlformats.org/drawingml/2006/main">
            <a:off x="3448050" y="2705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Per-zone Console, CLI and API update workflow</a:t>
            </a:r>
          </a:p>
        </p:txBody>
      </p:sp>
      <p:sp>
        <p:nvSpPr>
          <p:cNvPr id="11" name="label-2">
            <a:extLst xmlns:a="http://schemas.openxmlformats.org/drawingml/2006/main">
              <a:ext uri="{FF2B5EF4-FFF2-40B4-BE49-F238E27FC236}">
                <a16:creationId xmlns:a16="http://schemas.microsoft.com/office/drawing/2014/main" id="{12856B0B-ED79-4A57-ACBF-D1781AA663DB}"/>
              </a:ext>
            </a:extLst>
          </p:cNvPr>
          <p:cNvSpPr>
            <a:spLocks xmlns:a="http://schemas.openxmlformats.org/drawingml/2006/main" noGrp="1"/>
          </p:cNvSpPr>
          <p:nvPr/>
        </p:nvSpPr>
        <p:spPr>
          <a:xfrm xmlns:a="http://schemas.openxmlformats.org/drawingml/2006/main">
            <a:off x="762000" y="36576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ExternalMaster model</a:t>
            </a:r>
          </a:p>
        </p:txBody>
      </p:sp>
      <p:sp>
        <p:nvSpPr>
          <p:cNvPr id="12" name="body-2">
            <a:extLst xmlns:a="http://schemas.openxmlformats.org/drawingml/2006/main">
              <a:ext uri="{FF2B5EF4-FFF2-40B4-BE49-F238E27FC236}">
                <a16:creationId xmlns:a16="http://schemas.microsoft.com/office/drawing/2014/main" id="{E3744322-0173-4A3E-9138-C269B01B349A}"/>
              </a:ext>
            </a:extLst>
          </p:cNvPr>
          <p:cNvSpPr>
            <a:spLocks xmlns:a="http://schemas.openxmlformats.org/drawingml/2006/main" noGrp="1"/>
          </p:cNvSpPr>
          <p:nvPr/>
        </p:nvSpPr>
        <p:spPr>
          <a:xfrm xmlns:a="http://schemas.openxmlformats.org/drawingml/2006/main">
            <a:off x="3448050" y="36576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IPv4/IPv6 address, port 53 and TSIG reference</a:t>
            </a:r>
          </a:p>
        </p:txBody>
      </p:sp>
      <p:sp>
        <p:nvSpPr>
          <p:cNvPr id="13" name="label-3">
            <a:extLst xmlns:a="http://schemas.openxmlformats.org/drawingml/2006/main">
              <a:ext uri="{FF2B5EF4-FFF2-40B4-BE49-F238E27FC236}">
                <a16:creationId xmlns:a16="http://schemas.microsoft.com/office/drawing/2014/main" id="{37C0619F-D67C-404C-B64D-5483615B9978}"/>
              </a:ext>
            </a:extLst>
          </p:cNvPr>
          <p:cNvSpPr>
            <a:spLocks xmlns:a="http://schemas.openxmlformats.org/drawingml/2006/main" noGrp="1"/>
          </p:cNvSpPr>
          <p:nvPr/>
        </p:nvSpPr>
        <p:spPr>
          <a:xfrm xmlns:a="http://schemas.openxmlformats.org/drawingml/2006/main">
            <a:off x="762000" y="461010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1">
                <a:solidFill>
                  <a:srgbClr val="33553C"/>
                </a:solidFill>
                <a:latin typeface="Oracle Sans Tab"/>
                <a:ea typeface="Oracle Sans Tab"/>
                <a:cs typeface="Oracle Sans Tab"/>
              </a:defRPr>
            </a:defPPr>
          </a:lstStyle>
          <a:p xmlns:a="http://schemas.openxmlformats.org/drawingml/2006/main">
            <a:pPr>
              <a:defRPr sz="2000" b="1">
                <a:solidFill>
                  <a:srgbClr val="33553C"/>
                </a:solidFill>
                <a:latin typeface="Oracle Sans Tab"/>
                <a:ea typeface="Oracle Sans Tab"/>
                <a:cs typeface="Oracle Sans Tab"/>
              </a:defRPr>
            </a:pPr>
            <a:r>
              <a:rPr sz="2000" b="1">
                <a:solidFill>
                  <a:srgbClr val="33553C"/>
                </a:solidFill>
                <a:latin typeface="Oracle Sans Tab"/>
                <a:ea typeface="Oracle Sans Tab"/>
                <a:cs typeface="Oracle Sans Tab"/>
              </a:rPr>
              <a:t>Access and monitoring</a:t>
            </a:r>
          </a:p>
        </p:txBody>
      </p:sp>
      <p:sp>
        <p:nvSpPr>
          <p:cNvPr id="14" name="body-3">
            <a:extLst xmlns:a="http://schemas.openxmlformats.org/drawingml/2006/main">
              <a:ext uri="{FF2B5EF4-FFF2-40B4-BE49-F238E27FC236}">
                <a16:creationId xmlns:a16="http://schemas.microsoft.com/office/drawing/2014/main" id="{B3D015BB-6D67-4351-BD34-5251F4B3B3A9}"/>
              </a:ext>
            </a:extLst>
          </p:cNvPr>
          <p:cNvSpPr>
            <a:spLocks xmlns:a="http://schemas.openxmlformats.org/drawingml/2006/main" noGrp="1"/>
          </p:cNvSpPr>
          <p:nvPr/>
        </p:nvSpPr>
        <p:spPr>
          <a:xfrm xmlns:a="http://schemas.openxmlformats.org/drawingml/2006/main">
            <a:off x="3448050" y="4610100"/>
            <a:ext cx="7981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0" b="0">
                <a:solidFill>
                  <a:srgbClr val="312D2A"/>
                </a:solidFill>
                <a:latin typeface="Oracle Sans Tab"/>
                <a:ea typeface="Oracle Sans Tab"/>
                <a:cs typeface="Oracle Sans Tab"/>
              </a:defRPr>
            </a:defPPr>
          </a:lstStyle>
          <a:p xmlns:a="http://schemas.openxmlformats.org/drawingml/2006/main">
            <a:pPr>
              <a:defRPr sz="2000" b="0">
                <a:solidFill>
                  <a:srgbClr val="312D2A"/>
                </a:solidFill>
                <a:latin typeface="Oracle Sans Tab"/>
                <a:ea typeface="Oracle Sans Tab"/>
                <a:cs typeface="Oracle Sans Tab"/>
              </a:defRPr>
            </a:pPr>
            <a:r>
              <a:rPr sz="2000" b="0">
                <a:solidFill>
                  <a:srgbClr val="312D2A"/>
                </a:solidFill>
                <a:latin typeface="Oracle Sans Tab"/>
                <a:ea typeface="Oracle Sans Tab"/>
                <a:cs typeface="Oracle Sans Tab"/>
              </a:rPr>
              <a:t>API signing keys, DNS policies and transfer metrics</a:t>
            </a:r>
          </a:p>
        </p:txBody>
      </p:sp>
    </p:spTree>
    <p:extLst>
      <p:ext uri="{BB962C8B-B14F-4D97-AF65-F5344CB8AC3E}">
        <p14:creationId xmlns:p14="http://schemas.microsoft.com/office/powerpoint/2010/main" val="2532116061"/>
      </p:ext>
    </p:extLst>
  </p:cSld>
</p:sld>
</file>

<file path=ppt/theme/theme1.xml><?xml version="1.0" encoding="utf-8"?>
<a:theme xmlns:a="http://schemas.openxmlformats.org/drawingml/2006/main" name="Parent Master Pillars">
  <a:themeElements>
    <a:clrScheme name="Oracle Pine 10.21.1">
      <a:dk1>
        <a:srgbClr val="312D2A"/>
      </a:dk1>
      <a:lt1>
        <a:srgbClr val="FCFBFA"/>
      </a:lt1>
      <a:dk2>
        <a:srgbClr val="312D2A"/>
      </a:dk2>
      <a:lt2>
        <a:srgbClr val="FCFBFA"/>
      </a:lt2>
      <a:accent1>
        <a:srgbClr val="E9F9EE"/>
      </a:accent1>
      <a:accent2>
        <a:srgbClr val="CBE9D6"/>
      </a:accent2>
      <a:accent3>
        <a:srgbClr val="99C2A6"/>
      </a:accent3>
      <a:accent4>
        <a:srgbClr val="74A683"/>
      </a:accent4>
      <a:accent5>
        <a:srgbClr val="467553"/>
      </a:accent5>
      <a:accent6>
        <a:srgbClr val="33553C"/>
      </a:accent6>
      <a:hlink>
        <a:srgbClr val="2C5967"/>
      </a:hlink>
      <a:folHlink>
        <a:srgbClr val="2C5967"/>
      </a:folHlink>
    </a:clrScheme>
    <a:fontScheme name="Oracle Pillars">
      <a:majorFont>
        <a:latin typeface="Georgia"/>
        <a:ea typeface=""/>
        <a:cs typeface=""/>
      </a:majorFont>
      <a:minorFont>
        <a:latin typeface="Oracle Sans Tab"/>
        <a:ea typeface=""/>
        <a:cs typeface=""/>
      </a:minorFont>
    </a:fontScheme>
    <a:fmtScheme name="Oracle Pine 10.21.1">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2026-10-15T08:14:19.4430000Z</dcterms:created>
  <dcterms:modified xsi:type="dcterms:W3CDTF">2026-10-15T08:14:19.4430000Z</dcterms:modified>
</coreProperties>
</file>